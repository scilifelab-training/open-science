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71" r:id="rId5"/>
    <p:sldId id="277" r:id="rId6"/>
    <p:sldId id="280" r:id="rId7"/>
    <p:sldId id="497" r:id="rId8"/>
    <p:sldId id="279" r:id="rId9"/>
    <p:sldId id="281" r:id="rId10"/>
    <p:sldId id="282" r:id="rId11"/>
    <p:sldId id="283" r:id="rId12"/>
    <p:sldId id="284" r:id="rId13"/>
    <p:sldId id="288" r:id="rId14"/>
    <p:sldId id="487" r:id="rId15"/>
    <p:sldId id="488" r:id="rId16"/>
    <p:sldId id="285" r:id="rId17"/>
    <p:sldId id="286" r:id="rId18"/>
    <p:sldId id="287" r:id="rId19"/>
    <p:sldId id="496" r:id="rId2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 Ekman" initials="SE" lastIdx="10" clrIdx="0">
    <p:extLst>
      <p:ext uri="{19B8F6BF-5375-455C-9EA6-DF929625EA0E}">
        <p15:presenceInfo xmlns:p15="http://schemas.microsoft.com/office/powerpoint/2012/main" userId="386846bc0c1f0ac6" providerId="Windows Live"/>
      </p:ext>
    </p:extLst>
  </p:cmAuthor>
  <p:cmAuthor id="2" name="Lisa Isaksson" initials="LI" lastIdx="31" clrIdx="1">
    <p:extLst>
      <p:ext uri="{19B8F6BF-5375-455C-9EA6-DF929625EA0E}">
        <p15:presenceInfo xmlns:p15="http://schemas.microsoft.com/office/powerpoint/2012/main" userId="S-1-5-21-160167045-2846394043-461898096-3252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1131" autoAdjust="0"/>
  </p:normalViewPr>
  <p:slideViewPr>
    <p:cSldViewPr snapToGrid="0">
      <p:cViewPr varScale="1">
        <p:scale>
          <a:sx n="71" d="100"/>
          <a:sy n="71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DA93B-1801-4704-9BAE-5140CB99CF9C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48E66-1EEF-44E1-B40D-D53211669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957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baseline="0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566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örsta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1" y="0"/>
            <a:ext cx="9596581" cy="3661258"/>
          </a:xfrm>
          <a:prstGeom prst="rect">
            <a:avLst/>
          </a:prstGeom>
          <a:solidFill>
            <a:srgbClr val="1E3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ktangel 7"/>
          <p:cNvSpPr/>
          <p:nvPr userDrawn="1"/>
        </p:nvSpPr>
        <p:spPr>
          <a:xfrm>
            <a:off x="9596582" y="0"/>
            <a:ext cx="2595418" cy="6297283"/>
          </a:xfrm>
          <a:prstGeom prst="rect">
            <a:avLst/>
          </a:prstGeom>
          <a:solidFill>
            <a:srgbClr val="498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ktangel 8"/>
          <p:cNvSpPr/>
          <p:nvPr userDrawn="1"/>
        </p:nvSpPr>
        <p:spPr>
          <a:xfrm>
            <a:off x="4978400" y="3661258"/>
            <a:ext cx="4618182" cy="711109"/>
          </a:xfrm>
          <a:prstGeom prst="rect">
            <a:avLst/>
          </a:prstGeom>
          <a:solidFill>
            <a:srgbClr val="C6D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10" name="Grupp 9"/>
          <p:cNvGrpSpPr/>
          <p:nvPr userDrawn="1"/>
        </p:nvGrpSpPr>
        <p:grpSpPr>
          <a:xfrm>
            <a:off x="256941" y="6150634"/>
            <a:ext cx="11710591" cy="563905"/>
            <a:chOff x="256941" y="6150634"/>
            <a:chExt cx="11710591" cy="563905"/>
          </a:xfrm>
        </p:grpSpPr>
        <p:sp>
          <p:nvSpPr>
            <p:cNvPr id="11" name="Rektangel 10"/>
            <p:cNvSpPr/>
            <p:nvPr/>
          </p:nvSpPr>
          <p:spPr>
            <a:xfrm>
              <a:off x="2406768" y="6478577"/>
              <a:ext cx="9560764" cy="2359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|    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Göteborgs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universitet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Karolinska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institutet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Lunds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universitet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Umeå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universitet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Stockholms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universitet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Sveriges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lantbruksuniversitet</a:t>
              </a:r>
              <a:r>
                <a:rPr lang="en-GB" sz="140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Uppsala </a:t>
              </a:r>
              <a:r>
                <a:rPr lang="en-GB" sz="140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universitet</a:t>
              </a:r>
              <a:endPara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Bildobjekt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941" y="6150634"/>
              <a:ext cx="2121726" cy="543523"/>
            </a:xfrm>
            <a:prstGeom prst="rect">
              <a:avLst/>
            </a:prstGeom>
          </p:spPr>
        </p:pic>
      </p:grpSp>
      <p:sp>
        <p:nvSpPr>
          <p:cNvPr id="13" name="Likbent triangel 12"/>
          <p:cNvSpPr/>
          <p:nvPr userDrawn="1"/>
        </p:nvSpPr>
        <p:spPr>
          <a:xfrm rot="5400000">
            <a:off x="-97371" y="604590"/>
            <a:ext cx="1238452" cy="1043708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1162050" y="847726"/>
            <a:ext cx="7753350" cy="1114424"/>
          </a:xfrm>
        </p:spPr>
        <p:txBody>
          <a:bodyPr anchor="t">
            <a:normAutofit/>
          </a:bodyPr>
          <a:lstStyle>
            <a:lvl1pPr algn="l">
              <a:defRPr sz="40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sv-SE" dirty="0"/>
              <a:t>Huvudrubrik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162050" y="2010418"/>
            <a:ext cx="5124450" cy="75183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Skapare, 0000-00-00</a:t>
            </a:r>
          </a:p>
        </p:txBody>
      </p:sp>
    </p:spTree>
    <p:extLst>
      <p:ext uri="{BB962C8B-B14F-4D97-AF65-F5344CB8AC3E}">
        <p14:creationId xmlns:p14="http://schemas.microsoft.com/office/powerpoint/2010/main" val="35204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838200" y="1825624"/>
            <a:ext cx="10515600" cy="456565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dirty="0"/>
              <a:t>Innehåll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0602">
            <a:off x="8112740" y="3248145"/>
            <a:ext cx="6754382" cy="6254509"/>
          </a:xfrm>
          <a:prstGeom prst="rect">
            <a:avLst/>
          </a:prstGeom>
        </p:spPr>
      </p:pic>
      <p:sp>
        <p:nvSpPr>
          <p:cNvPr id="8" name="Likbent triangel 7"/>
          <p:cNvSpPr/>
          <p:nvPr userDrawn="1"/>
        </p:nvSpPr>
        <p:spPr>
          <a:xfrm rot="5400000">
            <a:off x="-61739" y="636039"/>
            <a:ext cx="785251" cy="661772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789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utan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kbent triangel 2"/>
          <p:cNvSpPr/>
          <p:nvPr userDrawn="1"/>
        </p:nvSpPr>
        <p:spPr>
          <a:xfrm rot="5400000">
            <a:off x="-61739" y="636039"/>
            <a:ext cx="785251" cy="661772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47850"/>
            <a:ext cx="10515600" cy="45529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dirty="0"/>
              <a:t>Innehåll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Rubrik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Sidrubrik</a:t>
            </a:r>
          </a:p>
        </p:txBody>
      </p:sp>
    </p:spTree>
    <p:extLst>
      <p:ext uri="{BB962C8B-B14F-4D97-AF65-F5344CB8AC3E}">
        <p14:creationId xmlns:p14="http://schemas.microsoft.com/office/powerpoint/2010/main" val="372485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slide med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0602">
            <a:off x="8112740" y="3248145"/>
            <a:ext cx="6754382" cy="625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5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 userDrawn="1"/>
        </p:nvSpPr>
        <p:spPr>
          <a:xfrm>
            <a:off x="0" y="0"/>
            <a:ext cx="12192000" cy="1828801"/>
          </a:xfrm>
          <a:prstGeom prst="rect">
            <a:avLst/>
          </a:prstGeom>
          <a:solidFill>
            <a:srgbClr val="498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ktangel 3"/>
          <p:cNvSpPr/>
          <p:nvPr userDrawn="1"/>
        </p:nvSpPr>
        <p:spPr>
          <a:xfrm>
            <a:off x="6362998" y="1828799"/>
            <a:ext cx="5829001" cy="4390845"/>
          </a:xfrm>
          <a:prstGeom prst="rect">
            <a:avLst/>
          </a:prstGeom>
          <a:solidFill>
            <a:srgbClr val="1E3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Likbent triangel 4"/>
          <p:cNvSpPr/>
          <p:nvPr userDrawn="1"/>
        </p:nvSpPr>
        <p:spPr>
          <a:xfrm rot="5400000" flipV="1">
            <a:off x="11030019" y="2676980"/>
            <a:ext cx="1261137" cy="1062826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/>
          <p:cNvSpPr/>
          <p:nvPr userDrawn="1"/>
        </p:nvSpPr>
        <p:spPr>
          <a:xfrm>
            <a:off x="4087369" y="1828800"/>
            <a:ext cx="2275630" cy="2816352"/>
          </a:xfrm>
          <a:prstGeom prst="rect">
            <a:avLst/>
          </a:prstGeom>
          <a:solidFill>
            <a:srgbClr val="C6D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61" y="6119860"/>
            <a:ext cx="2121726" cy="543523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2468312" y="6443405"/>
            <a:ext cx="9560764" cy="23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|    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Göteborgs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universitet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Karolinska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institutet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Lunds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universitet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Umeå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universitet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Stockholms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universitet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Sveriges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lantbruksuniversitet</a:t>
            </a:r>
            <a:r>
              <a:rPr lang="en-GB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Uppsala </a:t>
            </a:r>
            <a:r>
              <a:rPr lang="en-GB" sz="14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universitet</a:t>
            </a:r>
            <a:endParaRPr lang="en-GB" sz="1400" baseline="30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9486899" y="2867025"/>
            <a:ext cx="1556549" cy="714376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sv-SE" dirty="0"/>
              <a:t>Tack.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9486900" y="3762375"/>
            <a:ext cx="2066925" cy="73314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 algn="l">
              <a:buNone/>
              <a:defRPr/>
            </a:lvl2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9486899" y="4714591"/>
            <a:ext cx="2066925" cy="438434"/>
          </a:xfrm>
        </p:spPr>
        <p:txBody>
          <a:bodyPr>
            <a:normAutofit/>
          </a:bodyPr>
          <a:lstStyle>
            <a:lvl1pPr marL="0" indent="0">
              <a:buNone/>
              <a:defRPr sz="1050" i="1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sv-SE" dirty="0"/>
              <a:t>E-post</a:t>
            </a:r>
          </a:p>
        </p:txBody>
      </p:sp>
      <p:sp>
        <p:nvSpPr>
          <p:cNvPr id="15" name="Platshållare för text 14"/>
          <p:cNvSpPr>
            <a:spLocks noGrp="1"/>
          </p:cNvSpPr>
          <p:nvPr>
            <p:ph type="body" sz="quarter" idx="12" hasCustomPrompt="1"/>
          </p:nvPr>
        </p:nvSpPr>
        <p:spPr>
          <a:xfrm>
            <a:off x="9486900" y="5200650"/>
            <a:ext cx="2066925" cy="352425"/>
          </a:xfrm>
        </p:spPr>
        <p:txBody>
          <a:bodyPr>
            <a:noAutofit/>
          </a:bodyPr>
          <a:lstStyle>
            <a:lvl1pPr marL="0" indent="0">
              <a:buNone/>
              <a:defRPr sz="1050" i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sv-SE" dirty="0"/>
              <a:t>Hemsida</a:t>
            </a:r>
          </a:p>
        </p:txBody>
      </p:sp>
    </p:spTree>
    <p:extLst>
      <p:ext uri="{BB962C8B-B14F-4D97-AF65-F5344CB8AC3E}">
        <p14:creationId xmlns:p14="http://schemas.microsoft.com/office/powerpoint/2010/main" val="21984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29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8126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476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489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789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0895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6585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1821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044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35149"/>
            <a:ext cx="10515600" cy="4546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3"/>
          </p:nvPr>
        </p:nvSpPr>
        <p:spPr>
          <a:xfrm>
            <a:off x="838200" y="6400799"/>
            <a:ext cx="10515600" cy="327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6474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75" r:id="rId4"/>
    <p:sldLayoutId id="214748367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tabLst>
          <a:tab pos="714375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90600" indent="-1809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1809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-brain-consent.readthedocs.io/en/mast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12677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02/osp4.473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162049" y="847726"/>
            <a:ext cx="8115301" cy="1666874"/>
          </a:xfrm>
        </p:spPr>
        <p:txBody>
          <a:bodyPr>
            <a:normAutofit fontScale="90000"/>
          </a:bodyPr>
          <a:lstStyle/>
          <a:p>
            <a:r>
              <a:rPr lang="sv-SE" dirty="0"/>
              <a:t>Research with Sensitive Quantitative Data</a:t>
            </a:r>
            <a:br>
              <a:rPr lang="sv-SE" b="0" dirty="0"/>
            </a:br>
            <a:br>
              <a:rPr lang="sv-SE" dirty="0">
                <a:cs typeface="Calibri" panose="020F0502020204030204" pitchFamily="34" charset="0"/>
              </a:rPr>
            </a:br>
            <a:br>
              <a:rPr lang="sv-SE" dirty="0">
                <a:cs typeface="Calibri" panose="020F0502020204030204" pitchFamily="34" charset="0"/>
              </a:rPr>
            </a:br>
            <a:r>
              <a:rPr lang="sv-SE" sz="2200" b="0" dirty="0">
                <a:cs typeface="Calibri" panose="020F0502020204030204" pitchFamily="34" charset="0"/>
              </a:rPr>
              <a:t>Gustav Nilsonne, 2026-05-06</a:t>
            </a:r>
          </a:p>
        </p:txBody>
      </p:sp>
    </p:spTree>
    <p:extLst>
      <p:ext uri="{BB962C8B-B14F-4D97-AF65-F5344CB8AC3E}">
        <p14:creationId xmlns:p14="http://schemas.microsoft.com/office/powerpoint/2010/main" val="235370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kbent triangel 3"/>
          <p:cNvSpPr/>
          <p:nvPr/>
        </p:nvSpPr>
        <p:spPr>
          <a:xfrm>
            <a:off x="5403851" y="3676650"/>
            <a:ext cx="933451" cy="1377951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400"/>
          </a:p>
        </p:txBody>
      </p:sp>
      <p:cxnSp>
        <p:nvCxnSpPr>
          <p:cNvPr id="6" name="Rak 5"/>
          <p:cNvCxnSpPr/>
          <p:nvPr/>
        </p:nvCxnSpPr>
        <p:spPr>
          <a:xfrm flipV="1">
            <a:off x="3009900" y="3607595"/>
            <a:ext cx="5957888" cy="71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ruta 6"/>
          <p:cNvSpPr txBox="1"/>
          <p:nvPr/>
        </p:nvSpPr>
        <p:spPr>
          <a:xfrm>
            <a:off x="2861412" y="3060371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 err="1"/>
              <a:t>Benefits</a:t>
            </a:r>
            <a:endParaRPr lang="sv-SE" sz="2000" b="1" dirty="0"/>
          </a:p>
        </p:txBody>
      </p:sp>
      <p:sp>
        <p:nvSpPr>
          <p:cNvPr id="8" name="textruta 7"/>
          <p:cNvSpPr txBox="1"/>
          <p:nvPr/>
        </p:nvSpPr>
        <p:spPr>
          <a:xfrm>
            <a:off x="7935787" y="2906852"/>
            <a:ext cx="14165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Risks and</a:t>
            </a:r>
          </a:p>
          <a:p>
            <a:pPr algn="ctr"/>
            <a:r>
              <a:rPr lang="sv-SE" sz="2000" b="1" dirty="0"/>
              <a:t>harms</a:t>
            </a:r>
          </a:p>
        </p:txBody>
      </p:sp>
    </p:spTree>
    <p:extLst>
      <p:ext uri="{BB962C8B-B14F-4D97-AF65-F5344CB8AC3E}">
        <p14:creationId xmlns:p14="http://schemas.microsoft.com/office/powerpoint/2010/main" val="177473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GDPR (General Data Protection Regulation)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988842"/>
            <a:ext cx="9201151" cy="3874751"/>
          </a:xfrm>
        </p:spPr>
        <p:txBody>
          <a:bodyPr>
            <a:normAutofit/>
          </a:bodyPr>
          <a:lstStyle/>
          <a:p>
            <a:r>
              <a:rPr lang="sv-SE" dirty="0"/>
              <a:t>Personal data are data that can be attributed to a living natural person by means reasonably likely to be used</a:t>
            </a:r>
          </a:p>
          <a:p>
            <a:r>
              <a:rPr lang="sv-SE" dirty="0"/>
              <a:t>Processing of personal data must have a legal basis</a:t>
            </a:r>
          </a:p>
          <a:p>
            <a:pPr lvl="1"/>
            <a:r>
              <a:rPr lang="sv-SE" dirty="0"/>
              <a:t>Research in the public interest is recommended basis</a:t>
            </a:r>
          </a:p>
          <a:p>
            <a:r>
              <a:rPr lang="sv-SE" dirty="0"/>
              <a:t>Processing of sensitive personal data requires ethics approval</a:t>
            </a:r>
          </a:p>
          <a:p>
            <a:r>
              <a:rPr lang="en-GB" dirty="0"/>
              <a:t>Definition of sensitive personal data concerning health is broad and covers clinical data, information derived from the testing or examination of a body part or bodily substance, including from genetic data and biological samples, etc.</a:t>
            </a:r>
          </a:p>
        </p:txBody>
      </p:sp>
    </p:spTree>
    <p:extLst>
      <p:ext uri="{BB962C8B-B14F-4D97-AF65-F5344CB8AC3E}">
        <p14:creationId xmlns:p14="http://schemas.microsoft.com/office/powerpoint/2010/main" val="273231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Sharing data from humans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Anonymized data can be shared fully openly</a:t>
            </a:r>
          </a:p>
          <a:p>
            <a:r>
              <a:rPr lang="sv-SE" dirty="0"/>
              <a:t>Non-anonymized data can be shared through a controlled access model</a:t>
            </a:r>
          </a:p>
          <a:p>
            <a:pPr lvl="1"/>
            <a:r>
              <a:rPr lang="sv-SE" dirty="0"/>
              <a:t>Offered under ”SND 2.0”</a:t>
            </a:r>
          </a:p>
          <a:p>
            <a:r>
              <a:rPr lang="sv-SE" dirty="0"/>
              <a:t>Other options for data that have not been anonymized</a:t>
            </a:r>
          </a:p>
          <a:p>
            <a:pPr lvl="1"/>
            <a:r>
              <a:rPr lang="sv-SE" dirty="0"/>
              <a:t>Share summary statistics, distributions etc.</a:t>
            </a:r>
          </a:p>
          <a:p>
            <a:pPr lvl="1"/>
            <a:r>
              <a:rPr lang="sv-SE" dirty="0"/>
              <a:t>Share correlation matrices</a:t>
            </a:r>
          </a:p>
        </p:txBody>
      </p:sp>
    </p:spTree>
    <p:extLst>
      <p:ext uri="{BB962C8B-B14F-4D97-AF65-F5344CB8AC3E}">
        <p14:creationId xmlns:p14="http://schemas.microsoft.com/office/powerpoint/2010/main" val="45505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19403" y="644691"/>
            <a:ext cx="10363200" cy="1143000"/>
          </a:xfrm>
        </p:spPr>
        <p:txBody>
          <a:bodyPr>
            <a:normAutofit fontScale="90000"/>
          </a:bodyPr>
          <a:lstStyle/>
          <a:p>
            <a:r>
              <a:rPr lang="sv-SE" dirty="0"/>
              <a:t>Recommendations for consent forms when collecting primary data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2276872"/>
            <a:ext cx="10515600" cy="45068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v-SE" sz="2000" b="1" dirty="0" err="1"/>
              <a:t>Consider</a:t>
            </a:r>
            <a:r>
              <a:rPr lang="sv-SE" sz="2000" b="1" dirty="0"/>
              <a:t> </a:t>
            </a:r>
            <a:r>
              <a:rPr lang="sv-SE" sz="2000" b="1" dirty="0" err="1"/>
              <a:t>phrases</a:t>
            </a:r>
            <a:r>
              <a:rPr lang="sv-SE" sz="2000" b="1" dirty="0"/>
              <a:t> like:</a:t>
            </a:r>
          </a:p>
          <a:p>
            <a:r>
              <a:rPr lang="sv-SE" sz="2000" dirty="0"/>
              <a:t>”Data will be published openly in the XX repository [link]”</a:t>
            </a:r>
          </a:p>
          <a:p>
            <a:r>
              <a:rPr lang="sv-SE" sz="2000" dirty="0"/>
              <a:t>”We will remove all data we think could be used to identify you in the published data set, for example name and date of participation”</a:t>
            </a:r>
          </a:p>
          <a:p>
            <a:pPr marL="0" indent="0">
              <a:buNone/>
            </a:pPr>
            <a:r>
              <a:rPr lang="sv-SE" sz="2000" b="1" dirty="0" err="1"/>
              <a:t>Avoid</a:t>
            </a:r>
            <a:r>
              <a:rPr lang="sv-SE" sz="2000" b="1" dirty="0"/>
              <a:t> </a:t>
            </a:r>
            <a:r>
              <a:rPr lang="sv-SE" sz="2000" b="1" dirty="0" err="1"/>
              <a:t>phrases</a:t>
            </a:r>
            <a:r>
              <a:rPr lang="sv-SE" sz="2000" b="1" dirty="0"/>
              <a:t> like:</a:t>
            </a:r>
          </a:p>
          <a:p>
            <a:r>
              <a:rPr lang="sv-SE" sz="2000" dirty="0"/>
              <a:t>”No-</a:t>
            </a:r>
            <a:r>
              <a:rPr lang="sv-SE" sz="2000" dirty="0" err="1"/>
              <a:t>one</a:t>
            </a:r>
            <a:r>
              <a:rPr lang="sv-SE" sz="2000" dirty="0"/>
              <a:t> </a:t>
            </a:r>
            <a:r>
              <a:rPr lang="sv-SE" sz="2000" dirty="0" err="1"/>
              <a:t>outside</a:t>
            </a:r>
            <a:r>
              <a:rPr lang="sv-SE" sz="2000" dirty="0"/>
              <a:t> the research </a:t>
            </a:r>
            <a:r>
              <a:rPr lang="sv-SE" sz="2000" dirty="0" err="1"/>
              <a:t>group</a:t>
            </a:r>
            <a:r>
              <a:rPr lang="sv-SE" sz="2000" dirty="0"/>
              <a:t> </a:t>
            </a:r>
            <a:r>
              <a:rPr lang="sv-SE" sz="2000" dirty="0" err="1"/>
              <a:t>will</a:t>
            </a:r>
            <a:r>
              <a:rPr lang="sv-SE" sz="2000" dirty="0"/>
              <a:t> </a:t>
            </a:r>
            <a:r>
              <a:rPr lang="sv-SE" sz="2000" dirty="0" err="1"/>
              <a:t>have</a:t>
            </a:r>
            <a:r>
              <a:rPr lang="sv-SE" sz="2000" dirty="0"/>
              <a:t> access to </a:t>
            </a:r>
            <a:r>
              <a:rPr lang="sv-SE" sz="2000" dirty="0" err="1"/>
              <a:t>your</a:t>
            </a:r>
            <a:r>
              <a:rPr lang="sv-SE" sz="2000" dirty="0"/>
              <a:t> data”</a:t>
            </a:r>
          </a:p>
          <a:p>
            <a:r>
              <a:rPr lang="sv-SE" sz="2000" dirty="0"/>
              <a:t>”</a:t>
            </a:r>
            <a:r>
              <a:rPr lang="sv-SE" sz="2000" dirty="0" err="1"/>
              <a:t>Results</a:t>
            </a:r>
            <a:r>
              <a:rPr lang="sv-SE" sz="2000" dirty="0"/>
              <a:t> </a:t>
            </a:r>
            <a:r>
              <a:rPr lang="sv-SE" sz="2000" dirty="0" err="1"/>
              <a:t>will</a:t>
            </a:r>
            <a:r>
              <a:rPr lang="sv-SE" sz="2000" dirty="0"/>
              <a:t> be </a:t>
            </a:r>
            <a:r>
              <a:rPr lang="sv-SE" sz="2000" dirty="0" err="1"/>
              <a:t>published</a:t>
            </a:r>
            <a:r>
              <a:rPr lang="sv-SE" sz="2000" dirty="0"/>
              <a:t> </a:t>
            </a:r>
            <a:r>
              <a:rPr lang="sv-SE" sz="2000" dirty="0" err="1"/>
              <a:t>only</a:t>
            </a:r>
            <a:r>
              <a:rPr lang="sv-SE" sz="2000" dirty="0"/>
              <a:t> as </a:t>
            </a:r>
            <a:r>
              <a:rPr lang="sv-SE" sz="2000" dirty="0" err="1"/>
              <a:t>statistical</a:t>
            </a:r>
            <a:r>
              <a:rPr lang="sv-SE" sz="2000" dirty="0"/>
              <a:t> </a:t>
            </a:r>
            <a:r>
              <a:rPr lang="sv-SE" sz="2000" dirty="0" err="1"/>
              <a:t>averages</a:t>
            </a:r>
            <a:r>
              <a:rPr lang="sv-SE" sz="2000" dirty="0"/>
              <a:t>”</a:t>
            </a:r>
          </a:p>
          <a:p>
            <a:r>
              <a:rPr lang="sv-SE" sz="2000" dirty="0"/>
              <a:t>”Your data will be stored for ten years”</a:t>
            </a:r>
            <a:br>
              <a:rPr lang="sv-SE" sz="2000" dirty="0"/>
            </a:br>
            <a:endParaRPr lang="sv-SE" sz="2000" dirty="0"/>
          </a:p>
          <a:p>
            <a:r>
              <a:rPr lang="sv-SE" sz="2000" dirty="0"/>
              <a:t>Example language in English available e.g. at </a:t>
            </a:r>
            <a:r>
              <a:rPr lang="sv-SE" sz="2000" dirty="0">
                <a:hlinkClick r:id="rId2"/>
              </a:rPr>
              <a:t>https://open-brain-consent.readthedocs.io/en/master/#</a:t>
            </a:r>
            <a:r>
              <a:rPr lang="sv-SE" sz="2000" dirty="0"/>
              <a:t> </a:t>
            </a:r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217158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What is re-identification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An </a:t>
            </a:r>
            <a:r>
              <a:rPr lang="sv-SE" b="1" dirty="0"/>
              <a:t>attacker</a:t>
            </a:r>
            <a:r>
              <a:rPr lang="sv-SE" dirty="0"/>
              <a:t> combines </a:t>
            </a:r>
            <a:r>
              <a:rPr lang="sv-SE" b="1" dirty="0"/>
              <a:t>target data </a:t>
            </a:r>
            <a:r>
              <a:rPr lang="sv-SE" dirty="0"/>
              <a:t>with </a:t>
            </a:r>
            <a:r>
              <a:rPr lang="sv-SE" b="1" dirty="0"/>
              <a:t>reference</a:t>
            </a:r>
            <a:r>
              <a:rPr lang="sv-SE" dirty="0"/>
              <a:t> data and achieves </a:t>
            </a:r>
            <a:r>
              <a:rPr lang="sv-SE" b="1" dirty="0"/>
              <a:t>matching</a:t>
            </a:r>
            <a:r>
              <a:rPr lang="sv-SE" dirty="0"/>
              <a:t>; data about individuals can then be inferred</a:t>
            </a:r>
          </a:p>
          <a:p>
            <a:r>
              <a:rPr lang="sv-SE" dirty="0"/>
              <a:t>Can be </a:t>
            </a:r>
            <a:r>
              <a:rPr lang="sv-SE" b="1" dirty="0"/>
              <a:t>deterministic</a:t>
            </a:r>
            <a:r>
              <a:rPr lang="sv-SE" dirty="0"/>
              <a:t> or </a:t>
            </a:r>
            <a:r>
              <a:rPr lang="sv-SE" b="1" dirty="0"/>
              <a:t>probabilistic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1818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403835"/>
            <a:ext cx="10363200" cy="1143000"/>
          </a:xfrm>
        </p:spPr>
        <p:txBody>
          <a:bodyPr>
            <a:normAutofit fontScale="90000"/>
          </a:bodyPr>
          <a:lstStyle/>
          <a:p>
            <a:r>
              <a:rPr lang="sv-SE" dirty="0"/>
              <a:t>A systematic review on reidentification attacks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4105671" cy="4565651"/>
          </a:xfrm>
        </p:spPr>
        <p:txBody>
          <a:bodyPr/>
          <a:lstStyle/>
          <a:p>
            <a:r>
              <a:rPr lang="sv-SE" dirty="0"/>
              <a:t>Known reidentification attacks on health data at the time (2011) were mainly academic</a:t>
            </a:r>
          </a:p>
          <a:p>
            <a:r>
              <a:rPr lang="sv-SE" dirty="0"/>
              <a:t>Success rates were very low in data that were anonymized propely</a:t>
            </a:r>
            <a:endParaRPr lang="en-GB" dirty="0"/>
          </a:p>
        </p:txBody>
      </p:sp>
      <p:pic>
        <p:nvPicPr>
          <p:cNvPr id="1026" name="Picture 2" descr="https://journals.plos.org/plosone/article/figure/image?size=large&amp;id=10.1371/journal.pone.0028071.t00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239" y="1539691"/>
            <a:ext cx="6370271" cy="513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55942" y="5529502"/>
            <a:ext cx="37727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hlinkClick r:id="rId3"/>
              </a:rPr>
              <a:t>https://doi.org/10.1371/journal.pone.0126772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2277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19667" y="591965"/>
            <a:ext cx="10363200" cy="1143000"/>
          </a:xfrm>
        </p:spPr>
        <p:txBody>
          <a:bodyPr/>
          <a:lstStyle/>
          <a:p>
            <a:r>
              <a:rPr lang="sv-SE" dirty="0"/>
              <a:t>Assessing risk of reidentification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719667" y="1508522"/>
            <a:ext cx="10363200" cy="3766805"/>
          </a:xfrm>
        </p:spPr>
        <p:txBody>
          <a:bodyPr/>
          <a:lstStyle/>
          <a:p>
            <a:r>
              <a:rPr lang="sv-SE" dirty="0"/>
              <a:t>Risk </a:t>
            </a:r>
            <a:r>
              <a:rPr lang="sv-SE" dirty="0" err="1"/>
              <a:t>depends</a:t>
            </a:r>
            <a:r>
              <a:rPr lang="sv-SE" dirty="0"/>
              <a:t> on </a:t>
            </a:r>
            <a:r>
              <a:rPr lang="sv-SE" b="1" dirty="0" err="1"/>
              <a:t>likelihood</a:t>
            </a:r>
            <a:r>
              <a:rPr lang="sv-SE" b="1" dirty="0"/>
              <a:t> </a:t>
            </a:r>
            <a:r>
              <a:rPr lang="sv-SE" b="1" dirty="0" err="1"/>
              <a:t>of</a:t>
            </a:r>
            <a:r>
              <a:rPr lang="sv-SE" b="1" dirty="0"/>
              <a:t> </a:t>
            </a:r>
            <a:r>
              <a:rPr lang="sv-SE" b="1" dirty="0" err="1"/>
              <a:t>reidentification</a:t>
            </a:r>
            <a:r>
              <a:rPr lang="sv-SE" b="1" dirty="0"/>
              <a:t> </a:t>
            </a:r>
            <a:r>
              <a:rPr lang="sv-SE" dirty="0"/>
              <a:t>and </a:t>
            </a:r>
            <a:r>
              <a:rPr lang="sv-SE" b="1" dirty="0" err="1"/>
              <a:t>sensitivity</a:t>
            </a:r>
            <a:r>
              <a:rPr lang="sv-SE" b="1" dirty="0"/>
              <a:t> </a:t>
            </a:r>
            <a:r>
              <a:rPr lang="sv-SE" b="1" dirty="0" err="1"/>
              <a:t>of</a:t>
            </a:r>
            <a:r>
              <a:rPr lang="sv-SE" b="1" dirty="0"/>
              <a:t> data</a:t>
            </a:r>
          </a:p>
          <a:p>
            <a:r>
              <a:rPr lang="sv-SE" dirty="0" err="1"/>
              <a:t>Threat</a:t>
            </a:r>
            <a:r>
              <a:rPr lang="sv-SE" dirty="0"/>
              <a:t> </a:t>
            </a:r>
            <a:r>
              <a:rPr lang="sv-SE" dirty="0" err="1"/>
              <a:t>models</a:t>
            </a:r>
            <a:endParaRPr lang="sv-SE" dirty="0"/>
          </a:p>
          <a:p>
            <a:pPr lvl="1"/>
            <a:r>
              <a:rPr lang="sv-SE" dirty="0"/>
              <a:t>Self-</a:t>
            </a:r>
            <a:r>
              <a:rPr lang="sv-SE" dirty="0" err="1"/>
              <a:t>identification</a:t>
            </a:r>
            <a:r>
              <a:rPr lang="sv-SE" dirty="0"/>
              <a:t> by </a:t>
            </a:r>
            <a:r>
              <a:rPr lang="sv-SE" dirty="0" err="1"/>
              <a:t>participant</a:t>
            </a:r>
            <a:endParaRPr lang="sv-SE" dirty="0"/>
          </a:p>
          <a:p>
            <a:pPr lvl="1"/>
            <a:r>
              <a:rPr lang="sv-SE" dirty="0" err="1"/>
              <a:t>Targeted</a:t>
            </a:r>
            <a:r>
              <a:rPr lang="sv-SE" dirty="0"/>
              <a:t> </a:t>
            </a:r>
            <a:r>
              <a:rPr lang="sv-SE" dirty="0" err="1"/>
              <a:t>reidentification</a:t>
            </a:r>
            <a:endParaRPr lang="sv-SE" dirty="0"/>
          </a:p>
          <a:p>
            <a:pPr lvl="1"/>
            <a:r>
              <a:rPr lang="sv-SE" dirty="0" err="1"/>
              <a:t>Mass</a:t>
            </a:r>
            <a:r>
              <a:rPr lang="sv-SE" dirty="0"/>
              <a:t> </a:t>
            </a:r>
            <a:r>
              <a:rPr lang="sv-SE" dirty="0" err="1"/>
              <a:t>reidentification</a:t>
            </a:r>
            <a:endParaRPr lang="sv-SE" dirty="0"/>
          </a:p>
          <a:p>
            <a:r>
              <a:rPr lang="sv-SE" dirty="0"/>
              <a:t>Data uniqueness: can a participant be singled out?</a:t>
            </a:r>
          </a:p>
          <a:p>
            <a:r>
              <a:rPr lang="sv-SE" dirty="0"/>
              <a:t>Is there a reference dataset to which data could be matched?</a:t>
            </a:r>
          </a:p>
        </p:txBody>
      </p:sp>
      <p:sp>
        <p:nvSpPr>
          <p:cNvPr id="4" name="textruta 3"/>
          <p:cNvSpPr txBox="1"/>
          <p:nvPr/>
        </p:nvSpPr>
        <p:spPr>
          <a:xfrm>
            <a:off x="2351585" y="5275327"/>
            <a:ext cx="198064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v-SE" sz="2400" dirty="0"/>
              <a:t>Target population</a:t>
            </a:r>
          </a:p>
          <a:p>
            <a:endParaRPr lang="sv-SE" sz="2400" dirty="0"/>
          </a:p>
        </p:txBody>
      </p:sp>
      <p:sp>
        <p:nvSpPr>
          <p:cNvPr id="5" name="textruta 4"/>
          <p:cNvSpPr txBox="1"/>
          <p:nvPr/>
        </p:nvSpPr>
        <p:spPr>
          <a:xfrm>
            <a:off x="5225201" y="5275327"/>
            <a:ext cx="174307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v-SE" sz="2400" dirty="0"/>
              <a:t>Reference population</a:t>
            </a:r>
          </a:p>
          <a:p>
            <a:endParaRPr lang="sv-SE" sz="2400" dirty="0"/>
          </a:p>
        </p:txBody>
      </p:sp>
      <p:cxnSp>
        <p:nvCxnSpPr>
          <p:cNvPr id="7" name="Rak pil 6"/>
          <p:cNvCxnSpPr>
            <a:stCxn id="4" idx="3"/>
            <a:endCxn id="5" idx="1"/>
          </p:cNvCxnSpPr>
          <p:nvPr/>
        </p:nvCxnSpPr>
        <p:spPr>
          <a:xfrm>
            <a:off x="4332234" y="5875492"/>
            <a:ext cx="8929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005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Actions on variables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Aggregation/categorization/binning</a:t>
            </a:r>
          </a:p>
          <a:p>
            <a:pPr lvl="1"/>
            <a:r>
              <a:rPr lang="en-GB" dirty="0"/>
              <a:t>Continuous variables can be binned, </a:t>
            </a:r>
            <a:r>
              <a:rPr lang="en-GB" dirty="0" err="1"/>
              <a:t>eg</a:t>
            </a:r>
            <a:r>
              <a:rPr lang="en-GB" dirty="0"/>
              <a:t> age 21-30 years. May require differently sized bins at top or bottom, </a:t>
            </a:r>
            <a:r>
              <a:rPr lang="en-GB" dirty="0" err="1"/>
              <a:t>eg</a:t>
            </a:r>
            <a:r>
              <a:rPr lang="en-GB" dirty="0"/>
              <a:t> age 81-</a:t>
            </a:r>
          </a:p>
          <a:p>
            <a:pPr lvl="1"/>
            <a:r>
              <a:rPr lang="en-GB" dirty="0"/>
              <a:t>For hierarchical variables, lower levels can be dropped, </a:t>
            </a:r>
            <a:r>
              <a:rPr lang="en-GB" dirty="0" err="1"/>
              <a:t>eg</a:t>
            </a:r>
            <a:r>
              <a:rPr lang="en-GB" dirty="0"/>
              <a:t> municipality in county</a:t>
            </a:r>
          </a:p>
          <a:p>
            <a:pPr lvl="0"/>
            <a:r>
              <a:rPr lang="en-GB" dirty="0"/>
              <a:t>Transformation</a:t>
            </a:r>
          </a:p>
          <a:p>
            <a:pPr lvl="1"/>
            <a:r>
              <a:rPr lang="en-GB" dirty="0"/>
              <a:t>Preserves internal relations, </a:t>
            </a:r>
            <a:r>
              <a:rPr lang="en-GB" dirty="0" err="1"/>
              <a:t>eg</a:t>
            </a:r>
            <a:r>
              <a:rPr lang="en-GB" dirty="0"/>
              <a:t> by subtracting a constant</a:t>
            </a:r>
          </a:p>
          <a:p>
            <a:pPr lvl="0"/>
            <a:r>
              <a:rPr lang="en-GB" dirty="0"/>
              <a:t>Combination</a:t>
            </a:r>
          </a:p>
          <a:p>
            <a:pPr lvl="1"/>
            <a:r>
              <a:rPr lang="en-GB" dirty="0"/>
              <a:t>Two or more variables can be replaced by a combination of the variables, </a:t>
            </a:r>
            <a:r>
              <a:rPr lang="en-GB" dirty="0" err="1"/>
              <a:t>eg</a:t>
            </a:r>
            <a:r>
              <a:rPr lang="en-GB" dirty="0"/>
              <a:t> height and weight by BMI</a:t>
            </a:r>
          </a:p>
          <a:p>
            <a:pPr lvl="0"/>
            <a:r>
              <a:rPr lang="sv-SE" dirty="0"/>
              <a:t>Censoring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21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Example: unlinked variable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71" y="1892829"/>
            <a:ext cx="8298591" cy="44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94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97" y="549083"/>
            <a:ext cx="10363200" cy="1143000"/>
          </a:xfrm>
        </p:spPr>
        <p:txBody>
          <a:bodyPr>
            <a:normAutofit/>
          </a:bodyPr>
          <a:lstStyle/>
          <a:p>
            <a:r>
              <a:rPr lang="sv-SE" dirty="0"/>
              <a:t>Example: Sharing a correlation matrix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5F563-BDAB-1995-7EE2-A050E4253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926" y="2276872"/>
            <a:ext cx="6240693" cy="3936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C277A-5E28-1976-AE9C-ECF87E4C3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71" y="2756925"/>
            <a:ext cx="4723231" cy="1798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C41D00-CA67-C5EC-DC8C-F7750636691D}"/>
              </a:ext>
            </a:extLst>
          </p:cNvPr>
          <p:cNvSpPr txBox="1"/>
          <p:nvPr/>
        </p:nvSpPr>
        <p:spPr>
          <a:xfrm>
            <a:off x="700813" y="4871020"/>
            <a:ext cx="4265634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dirty="0"/>
              <a:t>Dunkel et al. 2023, intelligence in children and “maternal supportiveness”</a:t>
            </a:r>
            <a:endParaRPr lang="LID4096" sz="2133" dirty="0"/>
          </a:p>
        </p:txBody>
      </p:sp>
    </p:spTree>
    <p:extLst>
      <p:ext uri="{BB962C8B-B14F-4D97-AF65-F5344CB8AC3E}">
        <p14:creationId xmlns:p14="http://schemas.microsoft.com/office/powerpoint/2010/main" val="348192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549083"/>
            <a:ext cx="10363200" cy="1143000"/>
          </a:xfrm>
        </p:spPr>
        <p:txBody>
          <a:bodyPr/>
          <a:lstStyle/>
          <a:p>
            <a:r>
              <a:rPr lang="sv-SE" dirty="0"/>
              <a:t>Reanalyses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02BF6-448B-3151-6C8B-9C0AA9D1C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078" y="0"/>
            <a:ext cx="458384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7E2920-F36F-8DEB-A539-4CA882D63A08}"/>
              </a:ext>
            </a:extLst>
          </p:cNvPr>
          <p:cNvSpPr txBox="1"/>
          <p:nvPr/>
        </p:nvSpPr>
        <p:spPr>
          <a:xfrm>
            <a:off x="8880309" y="5892333"/>
            <a:ext cx="263245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dirty="0" err="1"/>
              <a:t>Sorjonen</a:t>
            </a:r>
            <a:r>
              <a:rPr lang="en-US" sz="2133" dirty="0"/>
              <a:t> et al. 2024</a:t>
            </a:r>
            <a:endParaRPr lang="LID4096" sz="2133" dirty="0"/>
          </a:p>
        </p:txBody>
      </p:sp>
    </p:spTree>
    <p:extLst>
      <p:ext uri="{BB962C8B-B14F-4D97-AF65-F5344CB8AC3E}">
        <p14:creationId xmlns:p14="http://schemas.microsoft.com/office/powerpoint/2010/main" val="113100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Example: singling out in a bivariate distribution</a:t>
            </a:r>
            <a:endParaRPr lang="en-GB" dirty="0"/>
          </a:p>
        </p:txBody>
      </p:sp>
      <p:pic>
        <p:nvPicPr>
          <p:cNvPr id="4" name="Picture 3" descr="https://lh4.googleusercontent.com/NQqXdLO0pw43bc8f9D0G07RC2Cuc1VhBH-oVPV9ugU6mBK1zo7NPdDExVxBuuqBe0PiobVtUFhPSxabsMKO4LloZoDQKT0R4wL2t8bCDj9DOVbQuQGMGFoOhUQjs4srNKV_XRxt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008" y="2781671"/>
            <a:ext cx="8133529" cy="316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814131" y="6132448"/>
            <a:ext cx="4649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Sorjonen et al. 2021, </a:t>
            </a:r>
            <a:r>
              <a:rPr lang="sv-SE" sz="1400" dirty="0">
                <a:hlinkClick r:id="rId3"/>
              </a:rPr>
              <a:t>http://dx.doi.org/10.1002/osp4.473</a:t>
            </a:r>
            <a:r>
              <a:rPr lang="sv-SE" sz="1400" dirty="0"/>
              <a:t> </a:t>
            </a:r>
            <a:endParaRPr lang="en-GB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2848936" y="2412340"/>
            <a:ext cx="2000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 dirty="0"/>
              <a:t>Decomposed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814131" y="2412340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 dirty="0"/>
              <a:t>BMI</a:t>
            </a:r>
            <a:endParaRPr lang="en-GB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328182" y="2412340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 dirty="0"/>
              <a:t>Ratio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87056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Example: risk mitigation of biometric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Defacing of MRI images of the head</a:t>
            </a:r>
            <a:endParaRPr lang="en-GB" dirty="0"/>
          </a:p>
        </p:txBody>
      </p:sp>
      <p:pic>
        <p:nvPicPr>
          <p:cNvPr id="4" name="Platshållare för innehåll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94" t="33433" r="37447" b="50221"/>
          <a:stretch/>
        </p:blipFill>
        <p:spPr bwMode="auto">
          <a:xfrm>
            <a:off x="3983766" y="3140969"/>
            <a:ext cx="3538109" cy="3454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2851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Example: genetic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1825625"/>
            <a:ext cx="6774951" cy="4351339"/>
          </a:xfrm>
        </p:spPr>
        <p:txBody>
          <a:bodyPr/>
          <a:lstStyle/>
          <a:p>
            <a:r>
              <a:rPr lang="sv-SE" dirty="0"/>
              <a:t>Should be assessed case-by-case</a:t>
            </a:r>
          </a:p>
          <a:p>
            <a:r>
              <a:rPr lang="sv-SE" dirty="0"/>
              <a:t>Combination of allele frequencies identifying?</a:t>
            </a:r>
          </a:p>
          <a:p>
            <a:r>
              <a:rPr lang="sv-SE" dirty="0"/>
              <a:t>Information about health?</a:t>
            </a:r>
          </a:p>
          <a:p>
            <a:pPr lvl="1"/>
            <a:r>
              <a:rPr lang="sv-SE" dirty="0"/>
              <a:t>APOE genotype – prognostic information not communicated to participants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175" y="2079553"/>
            <a:ext cx="3495675" cy="291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8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AF4225-B5E1-DA63-D1DB-8064B1A3F1AF}"/>
              </a:ext>
            </a:extLst>
          </p:cNvPr>
          <p:cNvSpPr/>
          <p:nvPr/>
        </p:nvSpPr>
        <p:spPr bwMode="auto">
          <a:xfrm>
            <a:off x="4240840" y="4820562"/>
            <a:ext cx="1845504" cy="192021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LID4096" sz="3200">
              <a:latin typeface="Time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F0DB1-6FE2-F04D-3FFE-9EFD768717B0}"/>
              </a:ext>
            </a:extLst>
          </p:cNvPr>
          <p:cNvSpPr/>
          <p:nvPr/>
        </p:nvSpPr>
        <p:spPr bwMode="auto">
          <a:xfrm>
            <a:off x="243979" y="5012356"/>
            <a:ext cx="1632181" cy="139037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LID4096" sz="3200">
              <a:latin typeface="Time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B247DD-0392-DA2D-10B3-A82954EA026E}"/>
              </a:ext>
            </a:extLst>
          </p:cNvPr>
          <p:cNvSpPr/>
          <p:nvPr/>
        </p:nvSpPr>
        <p:spPr bwMode="auto">
          <a:xfrm>
            <a:off x="10242777" y="4220495"/>
            <a:ext cx="1590448" cy="144016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LID4096" sz="3200">
              <a:latin typeface="Time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24EE87-1317-15A1-7D9E-706BC67E6235}"/>
              </a:ext>
            </a:extLst>
          </p:cNvPr>
          <p:cNvSpPr/>
          <p:nvPr/>
        </p:nvSpPr>
        <p:spPr bwMode="auto">
          <a:xfrm>
            <a:off x="6213373" y="4385911"/>
            <a:ext cx="1226777" cy="99207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LID4096" sz="3200">
              <a:latin typeface="Times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16ACAE0-E19C-2113-C4AF-0920DDE89912}"/>
              </a:ext>
            </a:extLst>
          </p:cNvPr>
          <p:cNvSpPr/>
          <p:nvPr/>
        </p:nvSpPr>
        <p:spPr>
          <a:xfrm>
            <a:off x="2915920" y="2509520"/>
            <a:ext cx="5842000" cy="21336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Thank you!</a:t>
            </a:r>
            <a:endParaRPr lang="LID4096" sz="7200" dirty="0"/>
          </a:p>
        </p:txBody>
      </p:sp>
    </p:spTree>
    <p:extLst>
      <p:ext uri="{BB962C8B-B14F-4D97-AF65-F5344CB8AC3E}">
        <p14:creationId xmlns:p14="http://schemas.microsoft.com/office/powerpoint/2010/main" val="3736776544"/>
      </p:ext>
    </p:extLst>
  </p:cSld>
  <p:clrMapOvr>
    <a:masterClrMapping/>
  </p:clrMapOvr>
</p:sld>
</file>

<file path=ppt/theme/theme1.xml><?xml version="1.0" encoding="utf-8"?>
<a:theme xmlns:a="http://schemas.openxmlformats.org/drawingml/2006/main" name="SND_theme">
  <a:themeElements>
    <a:clrScheme name="SND">
      <a:dk1>
        <a:srgbClr val="262626"/>
      </a:dk1>
      <a:lt1>
        <a:sysClr val="window" lastClr="FFFFFF"/>
      </a:lt1>
      <a:dk2>
        <a:srgbClr val="3F3F3F"/>
      </a:dk2>
      <a:lt2>
        <a:srgbClr val="E7E6E6"/>
      </a:lt2>
      <a:accent1>
        <a:srgbClr val="1E3962"/>
      </a:accent1>
      <a:accent2>
        <a:srgbClr val="659DD2"/>
      </a:accent2>
      <a:accent3>
        <a:srgbClr val="E4472B"/>
      </a:accent3>
      <a:accent4>
        <a:srgbClr val="C7D9E5"/>
      </a:accent4>
      <a:accent5>
        <a:srgbClr val="F0F0F0"/>
      </a:accent5>
      <a:accent6>
        <a:srgbClr val="FFFFFF"/>
      </a:accent6>
      <a:hlink>
        <a:srgbClr val="659DD2"/>
      </a:hlink>
      <a:folHlink>
        <a:srgbClr val="954F72"/>
      </a:folHlink>
    </a:clrScheme>
    <a:fontScheme name="SND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vad_gör_SND_sv.potx" id="{BD4307F7-0D89-41B8-B5EF-BE9A4D71CBE2}" vid="{898CD677-E714-4AA8-BF74-A00E8921D9B3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5F1365C6AD4CD47A3102D2D6EEF34B6" ma:contentTypeVersion="1" ma:contentTypeDescription="Skapa ett nytt dokument." ma:contentTypeScope="" ma:versionID="44e8826c0060e83d17bac1b7678cb4b6">
  <xsd:schema xmlns:xsd="http://www.w3.org/2001/XMLSchema" xmlns:xs="http://www.w3.org/2001/XMLSchema" xmlns:p="http://schemas.microsoft.com/office/2006/metadata/properties" xmlns:ns2="90c24222-2d5f-4a8e-b6fe-7a6376a8b7d6" targetNamespace="http://schemas.microsoft.com/office/2006/metadata/properties" ma:root="true" ma:fieldsID="356a6e31727d7820b4e04c89adc2ad7b" ns2:_="">
    <xsd:import namespace="90c24222-2d5f-4a8e-b6fe-7a6376a8b7d6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c24222-2d5f-4a8e-b6fe-7a6376a8b7d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at med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673229-6DD4-4738-BBF2-2054EE832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c24222-2d5f-4a8e-b6fe-7a6376a8b7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23DD33-B78E-4559-9B0B-6F285DFC50E7}">
  <ds:schemaRefs>
    <ds:schemaRef ds:uri="http://schemas.openxmlformats.org/package/2006/metadata/core-properties"/>
    <ds:schemaRef ds:uri="http://www.w3.org/XML/1998/namespace"/>
    <ds:schemaRef ds:uri="90c24222-2d5f-4a8e-b6fe-7a6376a8b7d6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5A085B8-FC27-4883-B2D8-A2203C7A1F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Powerpoint_vad_gör_SND_sv</Template>
  <TotalTime>2906</TotalTime>
  <Words>568</Words>
  <Application>Microsoft Office PowerPoint</Application>
  <PresentationFormat>Widescreen</PresentationFormat>
  <Paragraphs>71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</vt:lpstr>
      <vt:lpstr>SND_theme</vt:lpstr>
      <vt:lpstr>Research with Sensitive Quantitative Data   Gustav Nilsonne, 2026-05-06</vt:lpstr>
      <vt:lpstr>PowerPoint Presentation</vt:lpstr>
      <vt:lpstr>GDPR (General Data Protection Regulation)</vt:lpstr>
      <vt:lpstr>Sharing data from humans</vt:lpstr>
      <vt:lpstr>Recommendations for consent forms when collecting primary data</vt:lpstr>
      <vt:lpstr>What is re-identification</vt:lpstr>
      <vt:lpstr>A systematic review on reidentification attacks</vt:lpstr>
      <vt:lpstr>Assessing risk of reidentification</vt:lpstr>
      <vt:lpstr>Actions on variables</vt:lpstr>
      <vt:lpstr>Example: unlinked variable</vt:lpstr>
      <vt:lpstr>Example: Sharing a correlation matrix</vt:lpstr>
      <vt:lpstr>Reanalyses</vt:lpstr>
      <vt:lpstr>Example: singling out in a bivariate distribution</vt:lpstr>
      <vt:lpstr>Example: risk mitigation of biometric data</vt:lpstr>
      <vt:lpstr>Example: genetic data</vt:lpstr>
      <vt:lpstr>PowerPoint Presentation</vt:lpstr>
    </vt:vector>
  </TitlesOfParts>
  <Company>University of Gothenburg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Eira Brandby</dc:creator>
  <cp:lastModifiedBy>gustav.nilsonne@gmail.com</cp:lastModifiedBy>
  <cp:revision>208</cp:revision>
  <dcterms:created xsi:type="dcterms:W3CDTF">2019-01-28T12:29:00Z</dcterms:created>
  <dcterms:modified xsi:type="dcterms:W3CDTF">2026-05-06T17:01:07Z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0x010100E5F1365C6AD4CD47A3102D2D6EEF34B6</vt:lpwstr>
  </property>
</Properties>
</file>