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notesMasterIdLst>
    <p:notesMasterId r:id="rId30"/>
  </p:notesMasterIdLst>
  <p:sldIdLst>
    <p:sldId id="256" r:id="rId6"/>
    <p:sldId id="282" r:id="rId7"/>
    <p:sldId id="264" r:id="rId8"/>
    <p:sldId id="257" r:id="rId9"/>
    <p:sldId id="283" r:id="rId10"/>
    <p:sldId id="284" r:id="rId11"/>
    <p:sldId id="285" r:id="rId12"/>
    <p:sldId id="267" r:id="rId13"/>
    <p:sldId id="275" r:id="rId14"/>
    <p:sldId id="272" r:id="rId15"/>
    <p:sldId id="262" r:id="rId16"/>
    <p:sldId id="274" r:id="rId17"/>
    <p:sldId id="273" r:id="rId18"/>
    <p:sldId id="266" r:id="rId19"/>
    <p:sldId id="265" r:id="rId20"/>
    <p:sldId id="277" r:id="rId21"/>
    <p:sldId id="286" r:id="rId22"/>
    <p:sldId id="261" r:id="rId23"/>
    <p:sldId id="270" r:id="rId24"/>
    <p:sldId id="287" r:id="rId25"/>
    <p:sldId id="276" r:id="rId26"/>
    <p:sldId id="280" r:id="rId27"/>
    <p:sldId id="288" r:id="rId28"/>
    <p:sldId id="281" r:id="rId29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91" autoAdjust="0"/>
    <p:restoredTop sz="96115"/>
  </p:normalViewPr>
  <p:slideViewPr>
    <p:cSldViewPr snapToGrid="0">
      <p:cViewPr varScale="1">
        <p:scale>
          <a:sx n="80" d="100"/>
          <a:sy n="80" d="100"/>
        </p:scale>
        <p:origin x="120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A5C0AB-CBE3-49D7-A85A-A56EDB50D53C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95C3668E-E705-417B-8C46-BDB04968D222}">
      <dgm:prSet/>
      <dgm:spPr/>
      <dgm:t>
        <a:bodyPr/>
        <a:lstStyle/>
        <a:p>
          <a:r>
            <a:rPr lang="en-US"/>
            <a:t>15:00 – 15:10	Welcome</a:t>
          </a:r>
        </a:p>
      </dgm:t>
    </dgm:pt>
    <dgm:pt modelId="{83C057D1-E1EE-4CEF-8397-3A39B7096BFC}" type="parTrans" cxnId="{019F5E37-F4ED-4E9E-85BF-8728EAE4DAE7}">
      <dgm:prSet/>
      <dgm:spPr/>
      <dgm:t>
        <a:bodyPr/>
        <a:lstStyle/>
        <a:p>
          <a:endParaRPr lang="en-US"/>
        </a:p>
      </dgm:t>
    </dgm:pt>
    <dgm:pt modelId="{D5C29DD5-52DB-4B9D-A6BC-590CEFA2A65C}" type="sibTrans" cxnId="{019F5E37-F4ED-4E9E-85BF-8728EAE4DAE7}">
      <dgm:prSet/>
      <dgm:spPr/>
      <dgm:t>
        <a:bodyPr/>
        <a:lstStyle/>
        <a:p>
          <a:endParaRPr lang="en-US"/>
        </a:p>
      </dgm:t>
    </dgm:pt>
    <dgm:pt modelId="{458E67C9-F7BB-4DAF-9064-539A4C2F6E86}">
      <dgm:prSet/>
      <dgm:spPr/>
      <dgm:t>
        <a:bodyPr/>
        <a:lstStyle/>
        <a:p>
          <a:r>
            <a:rPr lang="en-US"/>
            <a:t>15:10 – 15:40	Presentation</a:t>
          </a:r>
        </a:p>
      </dgm:t>
    </dgm:pt>
    <dgm:pt modelId="{8B8CE660-9BFD-4A2C-81B6-B23159A4548B}" type="parTrans" cxnId="{5195D9A1-4607-4013-817C-B45F1F73AB48}">
      <dgm:prSet/>
      <dgm:spPr/>
      <dgm:t>
        <a:bodyPr/>
        <a:lstStyle/>
        <a:p>
          <a:endParaRPr lang="en-US"/>
        </a:p>
      </dgm:t>
    </dgm:pt>
    <dgm:pt modelId="{33A53473-F0C0-4A90-9E76-2838A5704147}" type="sibTrans" cxnId="{5195D9A1-4607-4013-817C-B45F1F73AB48}">
      <dgm:prSet/>
      <dgm:spPr/>
      <dgm:t>
        <a:bodyPr/>
        <a:lstStyle/>
        <a:p>
          <a:endParaRPr lang="en-US"/>
        </a:p>
      </dgm:t>
    </dgm:pt>
    <dgm:pt modelId="{976C3FBC-79CF-4682-96CF-8E3FA7D8E811}">
      <dgm:prSet/>
      <dgm:spPr/>
      <dgm:t>
        <a:bodyPr/>
        <a:lstStyle/>
        <a:p>
          <a:r>
            <a:rPr lang="en-US"/>
            <a:t>15:45 – 15:50	Activity 1</a:t>
          </a:r>
        </a:p>
      </dgm:t>
    </dgm:pt>
    <dgm:pt modelId="{4E3BF038-9DF8-4CEF-954B-885399F86FDF}" type="parTrans" cxnId="{5600684D-F7D1-4E1F-BB6F-DD0FBCBD5717}">
      <dgm:prSet/>
      <dgm:spPr/>
      <dgm:t>
        <a:bodyPr/>
        <a:lstStyle/>
        <a:p>
          <a:endParaRPr lang="en-US"/>
        </a:p>
      </dgm:t>
    </dgm:pt>
    <dgm:pt modelId="{8523AF59-B060-49C7-A2E1-097CE81B7262}" type="sibTrans" cxnId="{5600684D-F7D1-4E1F-BB6F-DD0FBCBD5717}">
      <dgm:prSet/>
      <dgm:spPr/>
      <dgm:t>
        <a:bodyPr/>
        <a:lstStyle/>
        <a:p>
          <a:endParaRPr lang="en-US"/>
        </a:p>
      </dgm:t>
    </dgm:pt>
    <dgm:pt modelId="{48A8D561-BF2C-42A8-9755-CB8C87928476}">
      <dgm:prSet/>
      <dgm:spPr/>
      <dgm:t>
        <a:bodyPr/>
        <a:lstStyle/>
        <a:p>
          <a:r>
            <a:rPr lang="en-US"/>
            <a:t>15:50 – 16:00	Presentation continues</a:t>
          </a:r>
        </a:p>
      </dgm:t>
    </dgm:pt>
    <dgm:pt modelId="{E13CF00E-6F19-40CB-97C3-810432EBB734}" type="parTrans" cxnId="{199A0FC2-05AB-4048-831D-574AFA9B173A}">
      <dgm:prSet/>
      <dgm:spPr/>
      <dgm:t>
        <a:bodyPr/>
        <a:lstStyle/>
        <a:p>
          <a:endParaRPr lang="en-US"/>
        </a:p>
      </dgm:t>
    </dgm:pt>
    <dgm:pt modelId="{328C24A2-2CD0-451F-A364-866758139FD5}" type="sibTrans" cxnId="{199A0FC2-05AB-4048-831D-574AFA9B173A}">
      <dgm:prSet/>
      <dgm:spPr/>
      <dgm:t>
        <a:bodyPr/>
        <a:lstStyle/>
        <a:p>
          <a:endParaRPr lang="en-US"/>
        </a:p>
      </dgm:t>
    </dgm:pt>
    <dgm:pt modelId="{9004B793-11A7-4816-BD4E-74F4CCAD0945}">
      <dgm:prSet/>
      <dgm:spPr/>
      <dgm:t>
        <a:bodyPr/>
        <a:lstStyle/>
        <a:p>
          <a:r>
            <a:rPr lang="en-US"/>
            <a:t>16:00 – 16:10	Activity 2</a:t>
          </a:r>
        </a:p>
      </dgm:t>
    </dgm:pt>
    <dgm:pt modelId="{1CB46320-2206-40F8-B782-DC8B07C238F9}" type="parTrans" cxnId="{1FE16122-D315-404C-BDE4-768EC0D376A1}">
      <dgm:prSet/>
      <dgm:spPr/>
      <dgm:t>
        <a:bodyPr/>
        <a:lstStyle/>
        <a:p>
          <a:endParaRPr lang="en-US"/>
        </a:p>
      </dgm:t>
    </dgm:pt>
    <dgm:pt modelId="{F1D3667B-64B1-4C6F-8105-30D79294AC99}" type="sibTrans" cxnId="{1FE16122-D315-404C-BDE4-768EC0D376A1}">
      <dgm:prSet/>
      <dgm:spPr/>
      <dgm:t>
        <a:bodyPr/>
        <a:lstStyle/>
        <a:p>
          <a:endParaRPr lang="en-US"/>
        </a:p>
      </dgm:t>
    </dgm:pt>
    <dgm:pt modelId="{CDCA300C-D809-4972-BBF7-9583855CA94C}">
      <dgm:prSet/>
      <dgm:spPr/>
      <dgm:t>
        <a:bodyPr/>
        <a:lstStyle/>
        <a:p>
          <a:r>
            <a:rPr lang="en-US"/>
            <a:t>16:10 – 16:20	Class discussion</a:t>
          </a:r>
        </a:p>
      </dgm:t>
    </dgm:pt>
    <dgm:pt modelId="{06B910DD-2289-4EC6-8233-D20F031A7B5A}" type="parTrans" cxnId="{8B28C69B-4829-4F17-88A8-1BDF8B8510FE}">
      <dgm:prSet/>
      <dgm:spPr/>
      <dgm:t>
        <a:bodyPr/>
        <a:lstStyle/>
        <a:p>
          <a:endParaRPr lang="en-US"/>
        </a:p>
      </dgm:t>
    </dgm:pt>
    <dgm:pt modelId="{C6F93CD1-A50B-4849-8D58-8D3E03607D86}" type="sibTrans" cxnId="{8B28C69B-4829-4F17-88A8-1BDF8B8510FE}">
      <dgm:prSet/>
      <dgm:spPr/>
      <dgm:t>
        <a:bodyPr/>
        <a:lstStyle/>
        <a:p>
          <a:endParaRPr lang="en-US"/>
        </a:p>
      </dgm:t>
    </dgm:pt>
    <dgm:pt modelId="{5FF01A4A-7C30-4592-A02F-8C80D9F44FD6}">
      <dgm:prSet/>
      <dgm:spPr/>
      <dgm:t>
        <a:bodyPr/>
        <a:lstStyle/>
        <a:p>
          <a:r>
            <a:rPr lang="en-US"/>
            <a:t>16:20 – 16:30	Presentation finishes </a:t>
          </a:r>
        </a:p>
      </dgm:t>
    </dgm:pt>
    <dgm:pt modelId="{947E6F83-AB14-4C09-95AB-8D3A331EBD7D}" type="parTrans" cxnId="{C3EBD1CE-A0C9-4616-AFEA-E628B45099DC}">
      <dgm:prSet/>
      <dgm:spPr/>
      <dgm:t>
        <a:bodyPr/>
        <a:lstStyle/>
        <a:p>
          <a:endParaRPr lang="en-US"/>
        </a:p>
      </dgm:t>
    </dgm:pt>
    <dgm:pt modelId="{A53FA3DE-4689-4B93-A814-F7402B307E9D}" type="sibTrans" cxnId="{C3EBD1CE-A0C9-4616-AFEA-E628B45099DC}">
      <dgm:prSet/>
      <dgm:spPr/>
      <dgm:t>
        <a:bodyPr/>
        <a:lstStyle/>
        <a:p>
          <a:endParaRPr lang="en-US"/>
        </a:p>
      </dgm:t>
    </dgm:pt>
    <dgm:pt modelId="{11B4A914-7E0D-A647-A2FF-4B714C85F481}" type="pres">
      <dgm:prSet presAssocID="{22A5C0AB-CBE3-49D7-A85A-A56EDB50D53C}" presName="vert0" presStyleCnt="0">
        <dgm:presLayoutVars>
          <dgm:dir/>
          <dgm:animOne val="branch"/>
          <dgm:animLvl val="lvl"/>
        </dgm:presLayoutVars>
      </dgm:prSet>
      <dgm:spPr/>
    </dgm:pt>
    <dgm:pt modelId="{A39A1A8C-DEF8-314E-BB5F-9194A299176E}" type="pres">
      <dgm:prSet presAssocID="{95C3668E-E705-417B-8C46-BDB04968D222}" presName="thickLine" presStyleLbl="alignNode1" presStyleIdx="0" presStyleCnt="7"/>
      <dgm:spPr/>
    </dgm:pt>
    <dgm:pt modelId="{7A6D6053-D80C-E347-A690-00F5AFA47186}" type="pres">
      <dgm:prSet presAssocID="{95C3668E-E705-417B-8C46-BDB04968D222}" presName="horz1" presStyleCnt="0"/>
      <dgm:spPr/>
    </dgm:pt>
    <dgm:pt modelId="{90E9476A-FFD4-1D46-8A9E-E97646222D19}" type="pres">
      <dgm:prSet presAssocID="{95C3668E-E705-417B-8C46-BDB04968D222}" presName="tx1" presStyleLbl="revTx" presStyleIdx="0" presStyleCnt="7"/>
      <dgm:spPr/>
    </dgm:pt>
    <dgm:pt modelId="{185C590C-BD7D-B94C-A504-0FB1164A193E}" type="pres">
      <dgm:prSet presAssocID="{95C3668E-E705-417B-8C46-BDB04968D222}" presName="vert1" presStyleCnt="0"/>
      <dgm:spPr/>
    </dgm:pt>
    <dgm:pt modelId="{39F0C61D-FEC0-404B-A022-6F5AFD0F5D9D}" type="pres">
      <dgm:prSet presAssocID="{458E67C9-F7BB-4DAF-9064-539A4C2F6E86}" presName="thickLine" presStyleLbl="alignNode1" presStyleIdx="1" presStyleCnt="7"/>
      <dgm:spPr/>
    </dgm:pt>
    <dgm:pt modelId="{1812BEC4-DA2C-9345-B789-9DBF0A2285CA}" type="pres">
      <dgm:prSet presAssocID="{458E67C9-F7BB-4DAF-9064-539A4C2F6E86}" presName="horz1" presStyleCnt="0"/>
      <dgm:spPr/>
    </dgm:pt>
    <dgm:pt modelId="{22529584-7876-664D-99BF-47FBE6A1D3F9}" type="pres">
      <dgm:prSet presAssocID="{458E67C9-F7BB-4DAF-9064-539A4C2F6E86}" presName="tx1" presStyleLbl="revTx" presStyleIdx="1" presStyleCnt="7"/>
      <dgm:spPr/>
    </dgm:pt>
    <dgm:pt modelId="{41FE5625-A84A-F642-80E2-D6ED16B1BF1D}" type="pres">
      <dgm:prSet presAssocID="{458E67C9-F7BB-4DAF-9064-539A4C2F6E86}" presName="vert1" presStyleCnt="0"/>
      <dgm:spPr/>
    </dgm:pt>
    <dgm:pt modelId="{89D9FBEE-34EB-5E42-B6A3-D3F3AAF7AA31}" type="pres">
      <dgm:prSet presAssocID="{976C3FBC-79CF-4682-96CF-8E3FA7D8E811}" presName="thickLine" presStyleLbl="alignNode1" presStyleIdx="2" presStyleCnt="7"/>
      <dgm:spPr/>
    </dgm:pt>
    <dgm:pt modelId="{709727C6-58ED-3C44-A689-949A04C4418E}" type="pres">
      <dgm:prSet presAssocID="{976C3FBC-79CF-4682-96CF-8E3FA7D8E811}" presName="horz1" presStyleCnt="0"/>
      <dgm:spPr/>
    </dgm:pt>
    <dgm:pt modelId="{B8CD2D2C-04F3-5141-9642-437B78D52FD3}" type="pres">
      <dgm:prSet presAssocID="{976C3FBC-79CF-4682-96CF-8E3FA7D8E811}" presName="tx1" presStyleLbl="revTx" presStyleIdx="2" presStyleCnt="7"/>
      <dgm:spPr/>
    </dgm:pt>
    <dgm:pt modelId="{026E0D29-343F-7948-872B-80D00D0D3F1C}" type="pres">
      <dgm:prSet presAssocID="{976C3FBC-79CF-4682-96CF-8E3FA7D8E811}" presName="vert1" presStyleCnt="0"/>
      <dgm:spPr/>
    </dgm:pt>
    <dgm:pt modelId="{BCBE92E1-6867-8D44-8A9C-F58B70F6E075}" type="pres">
      <dgm:prSet presAssocID="{48A8D561-BF2C-42A8-9755-CB8C87928476}" presName="thickLine" presStyleLbl="alignNode1" presStyleIdx="3" presStyleCnt="7"/>
      <dgm:spPr/>
    </dgm:pt>
    <dgm:pt modelId="{337B178A-0F7B-1442-A01D-46C014C7F444}" type="pres">
      <dgm:prSet presAssocID="{48A8D561-BF2C-42A8-9755-CB8C87928476}" presName="horz1" presStyleCnt="0"/>
      <dgm:spPr/>
    </dgm:pt>
    <dgm:pt modelId="{6DB6B638-7774-6842-9117-408C5EA2ED1D}" type="pres">
      <dgm:prSet presAssocID="{48A8D561-BF2C-42A8-9755-CB8C87928476}" presName="tx1" presStyleLbl="revTx" presStyleIdx="3" presStyleCnt="7"/>
      <dgm:spPr/>
    </dgm:pt>
    <dgm:pt modelId="{94E1E69A-C321-5D40-94C8-0D2C07CB2919}" type="pres">
      <dgm:prSet presAssocID="{48A8D561-BF2C-42A8-9755-CB8C87928476}" presName="vert1" presStyleCnt="0"/>
      <dgm:spPr/>
    </dgm:pt>
    <dgm:pt modelId="{AC82552C-63AE-B543-A459-5B7397D6C880}" type="pres">
      <dgm:prSet presAssocID="{9004B793-11A7-4816-BD4E-74F4CCAD0945}" presName="thickLine" presStyleLbl="alignNode1" presStyleIdx="4" presStyleCnt="7"/>
      <dgm:spPr/>
    </dgm:pt>
    <dgm:pt modelId="{09B6C667-CEBA-B344-A667-586FEBAF1C96}" type="pres">
      <dgm:prSet presAssocID="{9004B793-11A7-4816-BD4E-74F4CCAD0945}" presName="horz1" presStyleCnt="0"/>
      <dgm:spPr/>
    </dgm:pt>
    <dgm:pt modelId="{93321BD7-30AA-6346-BA79-A9526592B2EA}" type="pres">
      <dgm:prSet presAssocID="{9004B793-11A7-4816-BD4E-74F4CCAD0945}" presName="tx1" presStyleLbl="revTx" presStyleIdx="4" presStyleCnt="7"/>
      <dgm:spPr/>
    </dgm:pt>
    <dgm:pt modelId="{D7BFF3E3-45E0-2442-A81A-FCC9EF518A2B}" type="pres">
      <dgm:prSet presAssocID="{9004B793-11A7-4816-BD4E-74F4CCAD0945}" presName="vert1" presStyleCnt="0"/>
      <dgm:spPr/>
    </dgm:pt>
    <dgm:pt modelId="{307CA397-8488-8642-A52B-C0732AA2BB6C}" type="pres">
      <dgm:prSet presAssocID="{CDCA300C-D809-4972-BBF7-9583855CA94C}" presName="thickLine" presStyleLbl="alignNode1" presStyleIdx="5" presStyleCnt="7"/>
      <dgm:spPr/>
    </dgm:pt>
    <dgm:pt modelId="{3DF984C5-331A-AB4A-8A93-D691D507225B}" type="pres">
      <dgm:prSet presAssocID="{CDCA300C-D809-4972-BBF7-9583855CA94C}" presName="horz1" presStyleCnt="0"/>
      <dgm:spPr/>
    </dgm:pt>
    <dgm:pt modelId="{DC37FD4C-4AB8-074B-9296-2A88B78BE574}" type="pres">
      <dgm:prSet presAssocID="{CDCA300C-D809-4972-BBF7-9583855CA94C}" presName="tx1" presStyleLbl="revTx" presStyleIdx="5" presStyleCnt="7"/>
      <dgm:spPr/>
    </dgm:pt>
    <dgm:pt modelId="{6CBDBEB4-37D4-1C47-957A-42D8D76C749A}" type="pres">
      <dgm:prSet presAssocID="{CDCA300C-D809-4972-BBF7-9583855CA94C}" presName="vert1" presStyleCnt="0"/>
      <dgm:spPr/>
    </dgm:pt>
    <dgm:pt modelId="{35694889-16A9-0348-A9D1-5961AF3EA776}" type="pres">
      <dgm:prSet presAssocID="{5FF01A4A-7C30-4592-A02F-8C80D9F44FD6}" presName="thickLine" presStyleLbl="alignNode1" presStyleIdx="6" presStyleCnt="7"/>
      <dgm:spPr/>
    </dgm:pt>
    <dgm:pt modelId="{BEFC65E4-8654-C74F-9D57-EB43A9F429C4}" type="pres">
      <dgm:prSet presAssocID="{5FF01A4A-7C30-4592-A02F-8C80D9F44FD6}" presName="horz1" presStyleCnt="0"/>
      <dgm:spPr/>
    </dgm:pt>
    <dgm:pt modelId="{9C493060-0D68-4A4A-B0F2-B304FD530BF7}" type="pres">
      <dgm:prSet presAssocID="{5FF01A4A-7C30-4592-A02F-8C80D9F44FD6}" presName="tx1" presStyleLbl="revTx" presStyleIdx="6" presStyleCnt="7"/>
      <dgm:spPr/>
    </dgm:pt>
    <dgm:pt modelId="{7EE2447E-9C43-4645-81AA-967A060C0E52}" type="pres">
      <dgm:prSet presAssocID="{5FF01A4A-7C30-4592-A02F-8C80D9F44FD6}" presName="vert1" presStyleCnt="0"/>
      <dgm:spPr/>
    </dgm:pt>
  </dgm:ptLst>
  <dgm:cxnLst>
    <dgm:cxn modelId="{B06EF90F-7D40-0040-A444-CEE8AD230878}" type="presOf" srcId="{9004B793-11A7-4816-BD4E-74F4CCAD0945}" destId="{93321BD7-30AA-6346-BA79-A9526592B2EA}" srcOrd="0" destOrd="0" presId="urn:microsoft.com/office/officeart/2008/layout/LinedList"/>
    <dgm:cxn modelId="{1FE16122-D315-404C-BDE4-768EC0D376A1}" srcId="{22A5C0AB-CBE3-49D7-A85A-A56EDB50D53C}" destId="{9004B793-11A7-4816-BD4E-74F4CCAD0945}" srcOrd="4" destOrd="0" parTransId="{1CB46320-2206-40F8-B782-DC8B07C238F9}" sibTransId="{F1D3667B-64B1-4C6F-8105-30D79294AC99}"/>
    <dgm:cxn modelId="{B4E34E2C-D685-3245-85DB-B4BEA262B4CD}" type="presOf" srcId="{22A5C0AB-CBE3-49D7-A85A-A56EDB50D53C}" destId="{11B4A914-7E0D-A647-A2FF-4B714C85F481}" srcOrd="0" destOrd="0" presId="urn:microsoft.com/office/officeart/2008/layout/LinedList"/>
    <dgm:cxn modelId="{019F5E37-F4ED-4E9E-85BF-8728EAE4DAE7}" srcId="{22A5C0AB-CBE3-49D7-A85A-A56EDB50D53C}" destId="{95C3668E-E705-417B-8C46-BDB04968D222}" srcOrd="0" destOrd="0" parTransId="{83C057D1-E1EE-4CEF-8397-3A39B7096BFC}" sibTransId="{D5C29DD5-52DB-4B9D-A6BC-590CEFA2A65C}"/>
    <dgm:cxn modelId="{8E895B40-7AEB-FA44-A7EE-396A357DC33E}" type="presOf" srcId="{CDCA300C-D809-4972-BBF7-9583855CA94C}" destId="{DC37FD4C-4AB8-074B-9296-2A88B78BE574}" srcOrd="0" destOrd="0" presId="urn:microsoft.com/office/officeart/2008/layout/LinedList"/>
    <dgm:cxn modelId="{5600684D-F7D1-4E1F-BB6F-DD0FBCBD5717}" srcId="{22A5C0AB-CBE3-49D7-A85A-A56EDB50D53C}" destId="{976C3FBC-79CF-4682-96CF-8E3FA7D8E811}" srcOrd="2" destOrd="0" parTransId="{4E3BF038-9DF8-4CEF-954B-885399F86FDF}" sibTransId="{8523AF59-B060-49C7-A2E1-097CE81B7262}"/>
    <dgm:cxn modelId="{45572C84-56BD-A247-A474-9EC8692FFCEA}" type="presOf" srcId="{976C3FBC-79CF-4682-96CF-8E3FA7D8E811}" destId="{B8CD2D2C-04F3-5141-9642-437B78D52FD3}" srcOrd="0" destOrd="0" presId="urn:microsoft.com/office/officeart/2008/layout/LinedList"/>
    <dgm:cxn modelId="{A06EC38D-470C-A047-9E87-F0B0955156C5}" type="presOf" srcId="{5FF01A4A-7C30-4592-A02F-8C80D9F44FD6}" destId="{9C493060-0D68-4A4A-B0F2-B304FD530BF7}" srcOrd="0" destOrd="0" presId="urn:microsoft.com/office/officeart/2008/layout/LinedList"/>
    <dgm:cxn modelId="{8B28C69B-4829-4F17-88A8-1BDF8B8510FE}" srcId="{22A5C0AB-CBE3-49D7-A85A-A56EDB50D53C}" destId="{CDCA300C-D809-4972-BBF7-9583855CA94C}" srcOrd="5" destOrd="0" parTransId="{06B910DD-2289-4EC6-8233-D20F031A7B5A}" sibTransId="{C6F93CD1-A50B-4849-8D58-8D3E03607D86}"/>
    <dgm:cxn modelId="{5195D9A1-4607-4013-817C-B45F1F73AB48}" srcId="{22A5C0AB-CBE3-49D7-A85A-A56EDB50D53C}" destId="{458E67C9-F7BB-4DAF-9064-539A4C2F6E86}" srcOrd="1" destOrd="0" parTransId="{8B8CE660-9BFD-4A2C-81B6-B23159A4548B}" sibTransId="{33A53473-F0C0-4A90-9E76-2838A5704147}"/>
    <dgm:cxn modelId="{24196CA5-13DB-F640-8DC5-9C94E60AA923}" type="presOf" srcId="{95C3668E-E705-417B-8C46-BDB04968D222}" destId="{90E9476A-FFD4-1D46-8A9E-E97646222D19}" srcOrd="0" destOrd="0" presId="urn:microsoft.com/office/officeart/2008/layout/LinedList"/>
    <dgm:cxn modelId="{199A0FC2-05AB-4048-831D-574AFA9B173A}" srcId="{22A5C0AB-CBE3-49D7-A85A-A56EDB50D53C}" destId="{48A8D561-BF2C-42A8-9755-CB8C87928476}" srcOrd="3" destOrd="0" parTransId="{E13CF00E-6F19-40CB-97C3-810432EBB734}" sibTransId="{328C24A2-2CD0-451F-A364-866758139FD5}"/>
    <dgm:cxn modelId="{4DCD4CC7-524A-6741-8798-E0D5374CC1FD}" type="presOf" srcId="{458E67C9-F7BB-4DAF-9064-539A4C2F6E86}" destId="{22529584-7876-664D-99BF-47FBE6A1D3F9}" srcOrd="0" destOrd="0" presId="urn:microsoft.com/office/officeart/2008/layout/LinedList"/>
    <dgm:cxn modelId="{C3EBD1CE-A0C9-4616-AFEA-E628B45099DC}" srcId="{22A5C0AB-CBE3-49D7-A85A-A56EDB50D53C}" destId="{5FF01A4A-7C30-4592-A02F-8C80D9F44FD6}" srcOrd="6" destOrd="0" parTransId="{947E6F83-AB14-4C09-95AB-8D3A331EBD7D}" sibTransId="{A53FA3DE-4689-4B93-A814-F7402B307E9D}"/>
    <dgm:cxn modelId="{151127D3-9B25-464B-B7EC-210F06E4C0C5}" type="presOf" srcId="{48A8D561-BF2C-42A8-9755-CB8C87928476}" destId="{6DB6B638-7774-6842-9117-408C5EA2ED1D}" srcOrd="0" destOrd="0" presId="urn:microsoft.com/office/officeart/2008/layout/LinedList"/>
    <dgm:cxn modelId="{4B48CD0A-7C28-2940-8A8E-B9AED0894BEB}" type="presParOf" srcId="{11B4A914-7E0D-A647-A2FF-4B714C85F481}" destId="{A39A1A8C-DEF8-314E-BB5F-9194A299176E}" srcOrd="0" destOrd="0" presId="urn:microsoft.com/office/officeart/2008/layout/LinedList"/>
    <dgm:cxn modelId="{B34D4EFE-DF3A-6648-93A2-39A8C583C83F}" type="presParOf" srcId="{11B4A914-7E0D-A647-A2FF-4B714C85F481}" destId="{7A6D6053-D80C-E347-A690-00F5AFA47186}" srcOrd="1" destOrd="0" presId="urn:microsoft.com/office/officeart/2008/layout/LinedList"/>
    <dgm:cxn modelId="{BEB9E5A9-F1BA-B040-8C56-308D6C4E07E0}" type="presParOf" srcId="{7A6D6053-D80C-E347-A690-00F5AFA47186}" destId="{90E9476A-FFD4-1D46-8A9E-E97646222D19}" srcOrd="0" destOrd="0" presId="urn:microsoft.com/office/officeart/2008/layout/LinedList"/>
    <dgm:cxn modelId="{7C91EC48-340C-B04D-BDA9-07AE47DC8698}" type="presParOf" srcId="{7A6D6053-D80C-E347-A690-00F5AFA47186}" destId="{185C590C-BD7D-B94C-A504-0FB1164A193E}" srcOrd="1" destOrd="0" presId="urn:microsoft.com/office/officeart/2008/layout/LinedList"/>
    <dgm:cxn modelId="{21BD48B2-61ED-5747-BBA3-92D81C53CF3A}" type="presParOf" srcId="{11B4A914-7E0D-A647-A2FF-4B714C85F481}" destId="{39F0C61D-FEC0-404B-A022-6F5AFD0F5D9D}" srcOrd="2" destOrd="0" presId="urn:microsoft.com/office/officeart/2008/layout/LinedList"/>
    <dgm:cxn modelId="{5DC374D0-F578-0D45-A0DD-876C2FF769B9}" type="presParOf" srcId="{11B4A914-7E0D-A647-A2FF-4B714C85F481}" destId="{1812BEC4-DA2C-9345-B789-9DBF0A2285CA}" srcOrd="3" destOrd="0" presId="urn:microsoft.com/office/officeart/2008/layout/LinedList"/>
    <dgm:cxn modelId="{AC72A68C-90C3-EA45-BDDD-D43F829A7DD0}" type="presParOf" srcId="{1812BEC4-DA2C-9345-B789-9DBF0A2285CA}" destId="{22529584-7876-664D-99BF-47FBE6A1D3F9}" srcOrd="0" destOrd="0" presId="urn:microsoft.com/office/officeart/2008/layout/LinedList"/>
    <dgm:cxn modelId="{F42BF9C9-6F10-9941-B04D-C723AA576CF4}" type="presParOf" srcId="{1812BEC4-DA2C-9345-B789-9DBF0A2285CA}" destId="{41FE5625-A84A-F642-80E2-D6ED16B1BF1D}" srcOrd="1" destOrd="0" presId="urn:microsoft.com/office/officeart/2008/layout/LinedList"/>
    <dgm:cxn modelId="{8B7D1B78-CE13-0347-A815-71190F1A079B}" type="presParOf" srcId="{11B4A914-7E0D-A647-A2FF-4B714C85F481}" destId="{89D9FBEE-34EB-5E42-B6A3-D3F3AAF7AA31}" srcOrd="4" destOrd="0" presId="urn:microsoft.com/office/officeart/2008/layout/LinedList"/>
    <dgm:cxn modelId="{1984CF99-D735-C946-9A48-E3EE2C185387}" type="presParOf" srcId="{11B4A914-7E0D-A647-A2FF-4B714C85F481}" destId="{709727C6-58ED-3C44-A689-949A04C4418E}" srcOrd="5" destOrd="0" presId="urn:microsoft.com/office/officeart/2008/layout/LinedList"/>
    <dgm:cxn modelId="{EDD3D12D-A201-0844-BD7C-E9E23C61849E}" type="presParOf" srcId="{709727C6-58ED-3C44-A689-949A04C4418E}" destId="{B8CD2D2C-04F3-5141-9642-437B78D52FD3}" srcOrd="0" destOrd="0" presId="urn:microsoft.com/office/officeart/2008/layout/LinedList"/>
    <dgm:cxn modelId="{A4ED8270-78B8-D549-A730-834113D59A9B}" type="presParOf" srcId="{709727C6-58ED-3C44-A689-949A04C4418E}" destId="{026E0D29-343F-7948-872B-80D00D0D3F1C}" srcOrd="1" destOrd="0" presId="urn:microsoft.com/office/officeart/2008/layout/LinedList"/>
    <dgm:cxn modelId="{D10D1B4D-E906-F646-959B-43D4947CE3B9}" type="presParOf" srcId="{11B4A914-7E0D-A647-A2FF-4B714C85F481}" destId="{BCBE92E1-6867-8D44-8A9C-F58B70F6E075}" srcOrd="6" destOrd="0" presId="urn:microsoft.com/office/officeart/2008/layout/LinedList"/>
    <dgm:cxn modelId="{501E60B2-99E7-7A49-BD1C-7C50FFE902E4}" type="presParOf" srcId="{11B4A914-7E0D-A647-A2FF-4B714C85F481}" destId="{337B178A-0F7B-1442-A01D-46C014C7F444}" srcOrd="7" destOrd="0" presId="urn:microsoft.com/office/officeart/2008/layout/LinedList"/>
    <dgm:cxn modelId="{30988272-87E6-F940-B820-EA1DD5F8900E}" type="presParOf" srcId="{337B178A-0F7B-1442-A01D-46C014C7F444}" destId="{6DB6B638-7774-6842-9117-408C5EA2ED1D}" srcOrd="0" destOrd="0" presId="urn:microsoft.com/office/officeart/2008/layout/LinedList"/>
    <dgm:cxn modelId="{26B46771-F9E5-5841-A132-95022902DEEE}" type="presParOf" srcId="{337B178A-0F7B-1442-A01D-46C014C7F444}" destId="{94E1E69A-C321-5D40-94C8-0D2C07CB2919}" srcOrd="1" destOrd="0" presId="urn:microsoft.com/office/officeart/2008/layout/LinedList"/>
    <dgm:cxn modelId="{03092090-710D-D745-95EC-76F1A3635A92}" type="presParOf" srcId="{11B4A914-7E0D-A647-A2FF-4B714C85F481}" destId="{AC82552C-63AE-B543-A459-5B7397D6C880}" srcOrd="8" destOrd="0" presId="urn:microsoft.com/office/officeart/2008/layout/LinedList"/>
    <dgm:cxn modelId="{F29CE17A-1C0B-F94F-BF28-CCAFA2F48BB4}" type="presParOf" srcId="{11B4A914-7E0D-A647-A2FF-4B714C85F481}" destId="{09B6C667-CEBA-B344-A667-586FEBAF1C96}" srcOrd="9" destOrd="0" presId="urn:microsoft.com/office/officeart/2008/layout/LinedList"/>
    <dgm:cxn modelId="{0107FE46-9B47-C54D-86CF-FCC38F272199}" type="presParOf" srcId="{09B6C667-CEBA-B344-A667-586FEBAF1C96}" destId="{93321BD7-30AA-6346-BA79-A9526592B2EA}" srcOrd="0" destOrd="0" presId="urn:microsoft.com/office/officeart/2008/layout/LinedList"/>
    <dgm:cxn modelId="{9431B920-868D-3940-8702-72757807150D}" type="presParOf" srcId="{09B6C667-CEBA-B344-A667-586FEBAF1C96}" destId="{D7BFF3E3-45E0-2442-A81A-FCC9EF518A2B}" srcOrd="1" destOrd="0" presId="urn:microsoft.com/office/officeart/2008/layout/LinedList"/>
    <dgm:cxn modelId="{0A93D4E7-7A3D-3248-BD54-D4D1AD937732}" type="presParOf" srcId="{11B4A914-7E0D-A647-A2FF-4B714C85F481}" destId="{307CA397-8488-8642-A52B-C0732AA2BB6C}" srcOrd="10" destOrd="0" presId="urn:microsoft.com/office/officeart/2008/layout/LinedList"/>
    <dgm:cxn modelId="{F161D4A1-78D4-C04B-8007-9B679F10977A}" type="presParOf" srcId="{11B4A914-7E0D-A647-A2FF-4B714C85F481}" destId="{3DF984C5-331A-AB4A-8A93-D691D507225B}" srcOrd="11" destOrd="0" presId="urn:microsoft.com/office/officeart/2008/layout/LinedList"/>
    <dgm:cxn modelId="{F5201EB2-F15A-B441-B63E-921DFE1DB3A0}" type="presParOf" srcId="{3DF984C5-331A-AB4A-8A93-D691D507225B}" destId="{DC37FD4C-4AB8-074B-9296-2A88B78BE574}" srcOrd="0" destOrd="0" presId="urn:microsoft.com/office/officeart/2008/layout/LinedList"/>
    <dgm:cxn modelId="{A6013A0A-D96F-634E-B376-90F330E96D30}" type="presParOf" srcId="{3DF984C5-331A-AB4A-8A93-D691D507225B}" destId="{6CBDBEB4-37D4-1C47-957A-42D8D76C749A}" srcOrd="1" destOrd="0" presId="urn:microsoft.com/office/officeart/2008/layout/LinedList"/>
    <dgm:cxn modelId="{753803DF-F6E3-A146-B5CF-6C4CD4284808}" type="presParOf" srcId="{11B4A914-7E0D-A647-A2FF-4B714C85F481}" destId="{35694889-16A9-0348-A9D1-5961AF3EA776}" srcOrd="12" destOrd="0" presId="urn:microsoft.com/office/officeart/2008/layout/LinedList"/>
    <dgm:cxn modelId="{32C6EF6E-890D-2346-AD5B-A10376BAF884}" type="presParOf" srcId="{11B4A914-7E0D-A647-A2FF-4B714C85F481}" destId="{BEFC65E4-8654-C74F-9D57-EB43A9F429C4}" srcOrd="13" destOrd="0" presId="urn:microsoft.com/office/officeart/2008/layout/LinedList"/>
    <dgm:cxn modelId="{6EF4FCB2-5B4F-8942-811E-03871573E8E1}" type="presParOf" srcId="{BEFC65E4-8654-C74F-9D57-EB43A9F429C4}" destId="{9C493060-0D68-4A4A-B0F2-B304FD530BF7}" srcOrd="0" destOrd="0" presId="urn:microsoft.com/office/officeart/2008/layout/LinedList"/>
    <dgm:cxn modelId="{419C5A16-9E80-CF4E-ACA0-3D01B4F9960A}" type="presParOf" srcId="{BEFC65E4-8654-C74F-9D57-EB43A9F429C4}" destId="{7EE2447E-9C43-4645-81AA-967A060C0E5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9A1A8C-DEF8-314E-BB5F-9194A299176E}">
      <dsp:nvSpPr>
        <dsp:cNvPr id="0" name=""/>
        <dsp:cNvSpPr/>
      </dsp:nvSpPr>
      <dsp:spPr>
        <a:xfrm>
          <a:off x="0" y="594"/>
          <a:ext cx="61721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E9476A-FFD4-1D46-8A9E-E97646222D19}">
      <dsp:nvSpPr>
        <dsp:cNvPr id="0" name=""/>
        <dsp:cNvSpPr/>
      </dsp:nvSpPr>
      <dsp:spPr>
        <a:xfrm>
          <a:off x="0" y="594"/>
          <a:ext cx="6172199" cy="696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15:00 – 15:10	Welcome</a:t>
          </a:r>
        </a:p>
      </dsp:txBody>
      <dsp:txXfrm>
        <a:off x="0" y="594"/>
        <a:ext cx="6172199" cy="696062"/>
      </dsp:txXfrm>
    </dsp:sp>
    <dsp:sp modelId="{39F0C61D-FEC0-404B-A022-6F5AFD0F5D9D}">
      <dsp:nvSpPr>
        <dsp:cNvPr id="0" name=""/>
        <dsp:cNvSpPr/>
      </dsp:nvSpPr>
      <dsp:spPr>
        <a:xfrm>
          <a:off x="0" y="696657"/>
          <a:ext cx="61721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529584-7876-664D-99BF-47FBE6A1D3F9}">
      <dsp:nvSpPr>
        <dsp:cNvPr id="0" name=""/>
        <dsp:cNvSpPr/>
      </dsp:nvSpPr>
      <dsp:spPr>
        <a:xfrm>
          <a:off x="0" y="696657"/>
          <a:ext cx="6172199" cy="696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15:10 – 15:40	Presentation</a:t>
          </a:r>
        </a:p>
      </dsp:txBody>
      <dsp:txXfrm>
        <a:off x="0" y="696657"/>
        <a:ext cx="6172199" cy="696062"/>
      </dsp:txXfrm>
    </dsp:sp>
    <dsp:sp modelId="{89D9FBEE-34EB-5E42-B6A3-D3F3AAF7AA31}">
      <dsp:nvSpPr>
        <dsp:cNvPr id="0" name=""/>
        <dsp:cNvSpPr/>
      </dsp:nvSpPr>
      <dsp:spPr>
        <a:xfrm>
          <a:off x="0" y="1392719"/>
          <a:ext cx="61721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CD2D2C-04F3-5141-9642-437B78D52FD3}">
      <dsp:nvSpPr>
        <dsp:cNvPr id="0" name=""/>
        <dsp:cNvSpPr/>
      </dsp:nvSpPr>
      <dsp:spPr>
        <a:xfrm>
          <a:off x="0" y="1392719"/>
          <a:ext cx="6172199" cy="696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15:45 – 15:50	Activity 1</a:t>
          </a:r>
        </a:p>
      </dsp:txBody>
      <dsp:txXfrm>
        <a:off x="0" y="1392719"/>
        <a:ext cx="6172199" cy="696062"/>
      </dsp:txXfrm>
    </dsp:sp>
    <dsp:sp modelId="{BCBE92E1-6867-8D44-8A9C-F58B70F6E075}">
      <dsp:nvSpPr>
        <dsp:cNvPr id="0" name=""/>
        <dsp:cNvSpPr/>
      </dsp:nvSpPr>
      <dsp:spPr>
        <a:xfrm>
          <a:off x="0" y="2088781"/>
          <a:ext cx="61721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B6B638-7774-6842-9117-408C5EA2ED1D}">
      <dsp:nvSpPr>
        <dsp:cNvPr id="0" name=""/>
        <dsp:cNvSpPr/>
      </dsp:nvSpPr>
      <dsp:spPr>
        <a:xfrm>
          <a:off x="0" y="2088781"/>
          <a:ext cx="6172199" cy="696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15:50 – 16:00	Presentation continues</a:t>
          </a:r>
        </a:p>
      </dsp:txBody>
      <dsp:txXfrm>
        <a:off x="0" y="2088781"/>
        <a:ext cx="6172199" cy="696062"/>
      </dsp:txXfrm>
    </dsp:sp>
    <dsp:sp modelId="{AC82552C-63AE-B543-A459-5B7397D6C880}">
      <dsp:nvSpPr>
        <dsp:cNvPr id="0" name=""/>
        <dsp:cNvSpPr/>
      </dsp:nvSpPr>
      <dsp:spPr>
        <a:xfrm>
          <a:off x="0" y="2784843"/>
          <a:ext cx="61721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321BD7-30AA-6346-BA79-A9526592B2EA}">
      <dsp:nvSpPr>
        <dsp:cNvPr id="0" name=""/>
        <dsp:cNvSpPr/>
      </dsp:nvSpPr>
      <dsp:spPr>
        <a:xfrm>
          <a:off x="0" y="2784843"/>
          <a:ext cx="6172199" cy="696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16:00 – 16:10	Activity 2</a:t>
          </a:r>
        </a:p>
      </dsp:txBody>
      <dsp:txXfrm>
        <a:off x="0" y="2784843"/>
        <a:ext cx="6172199" cy="696062"/>
      </dsp:txXfrm>
    </dsp:sp>
    <dsp:sp modelId="{307CA397-8488-8642-A52B-C0732AA2BB6C}">
      <dsp:nvSpPr>
        <dsp:cNvPr id="0" name=""/>
        <dsp:cNvSpPr/>
      </dsp:nvSpPr>
      <dsp:spPr>
        <a:xfrm>
          <a:off x="0" y="3480905"/>
          <a:ext cx="61721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37FD4C-4AB8-074B-9296-2A88B78BE574}">
      <dsp:nvSpPr>
        <dsp:cNvPr id="0" name=""/>
        <dsp:cNvSpPr/>
      </dsp:nvSpPr>
      <dsp:spPr>
        <a:xfrm>
          <a:off x="0" y="3480905"/>
          <a:ext cx="6172199" cy="696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16:10 – 16:20	Class discussion</a:t>
          </a:r>
        </a:p>
      </dsp:txBody>
      <dsp:txXfrm>
        <a:off x="0" y="3480905"/>
        <a:ext cx="6172199" cy="696062"/>
      </dsp:txXfrm>
    </dsp:sp>
    <dsp:sp modelId="{35694889-16A9-0348-A9D1-5961AF3EA776}">
      <dsp:nvSpPr>
        <dsp:cNvPr id="0" name=""/>
        <dsp:cNvSpPr/>
      </dsp:nvSpPr>
      <dsp:spPr>
        <a:xfrm>
          <a:off x="0" y="4176967"/>
          <a:ext cx="61721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493060-0D68-4A4A-B0F2-B304FD530BF7}">
      <dsp:nvSpPr>
        <dsp:cNvPr id="0" name=""/>
        <dsp:cNvSpPr/>
      </dsp:nvSpPr>
      <dsp:spPr>
        <a:xfrm>
          <a:off x="0" y="4176967"/>
          <a:ext cx="6172199" cy="696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16:20 – 16:30	Presentation finishes </a:t>
          </a:r>
        </a:p>
      </dsp:txBody>
      <dsp:txXfrm>
        <a:off x="0" y="4176967"/>
        <a:ext cx="6172199" cy="6960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5DA93B-1801-4704-9BAE-5140CB99CF9C}" type="datetimeFigureOut">
              <a:rPr lang="sv-SE" smtClean="0"/>
              <a:t>2026-05-18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Redigera format för bakgrundstext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848E66-1EEF-44E1-B40D-D5321166998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09577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48E66-1EEF-44E1-B40D-D5321166998D}" type="slidenum">
              <a:rPr lang="sv-SE" smtClean="0"/>
              <a:t>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882870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Technical</a:t>
            </a:r>
            <a:r>
              <a:rPr lang="sv-SE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v-SE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measures</a:t>
            </a:r>
            <a:r>
              <a:rPr lang="sv-SE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v-SE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may</a:t>
            </a:r>
            <a:r>
              <a:rPr lang="sv-SE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v-SE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</a:t>
            </a:r>
            <a:r>
              <a:rPr lang="sv-SE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v-SE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encryption</a:t>
            </a:r>
            <a:r>
              <a:rPr lang="sv-SE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antivirus software, and </a:t>
            </a:r>
            <a:r>
              <a:rPr lang="sv-SE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firewalls</a:t>
            </a:r>
            <a:r>
              <a:rPr lang="sv-SE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sv-SE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prevent</a:t>
            </a:r>
            <a:r>
              <a:rPr lang="sv-SE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v-SE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unauthorized</a:t>
            </a:r>
            <a:r>
              <a:rPr lang="sv-SE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access. </a:t>
            </a:r>
          </a:p>
          <a:p>
            <a:endParaRPr lang="sv-SE" sz="16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sv-SE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Organizational</a:t>
            </a:r>
            <a:r>
              <a:rPr lang="sv-SE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v-SE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security</a:t>
            </a:r>
            <a:r>
              <a:rPr lang="sv-SE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v-SE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measures</a:t>
            </a:r>
            <a:r>
              <a:rPr lang="sv-SE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v-SE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may</a:t>
            </a:r>
            <a:r>
              <a:rPr lang="sv-SE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v-SE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</a:t>
            </a:r>
            <a:r>
              <a:rPr lang="sv-SE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access </a:t>
            </a:r>
            <a:r>
              <a:rPr lang="sv-SE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controls</a:t>
            </a:r>
            <a:r>
              <a:rPr lang="sv-SE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sv-SE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regular</a:t>
            </a:r>
            <a:r>
              <a:rPr lang="sv-SE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v-SE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reviews</a:t>
            </a:r>
            <a:r>
              <a:rPr lang="sv-SE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v-SE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sv-SE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access </a:t>
            </a:r>
            <a:r>
              <a:rPr lang="sv-SE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rights</a:t>
            </a:r>
            <a:r>
              <a:rPr lang="sv-SE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sv-SE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e.g</a:t>
            </a:r>
            <a:r>
              <a:rPr lang="sv-SE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., </a:t>
            </a:r>
            <a:r>
              <a:rPr lang="sv-SE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sv-SE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sv-SE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project</a:t>
            </a:r>
            <a:r>
              <a:rPr lang="sv-SE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v-SE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member</a:t>
            </a:r>
            <a:r>
              <a:rPr lang="sv-SE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v-SE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leaves</a:t>
            </a:r>
            <a:r>
              <a:rPr lang="sv-SE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and </a:t>
            </a:r>
            <a:r>
              <a:rPr lang="sv-SE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mandatory</a:t>
            </a:r>
            <a:r>
              <a:rPr lang="sv-SE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v-SE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training</a:t>
            </a:r>
            <a:r>
              <a:rPr lang="sv-SE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information </a:t>
            </a:r>
            <a:r>
              <a:rPr lang="sv-SE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security</a:t>
            </a:r>
            <a:r>
              <a:rPr lang="sv-SE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sv-SE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</a:t>
            </a:r>
            <a:r>
              <a:rPr lang="sv-SE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sv-SE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v-SE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important</a:t>
            </a:r>
            <a:r>
              <a:rPr lang="sv-SE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sv-SE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ensure</a:t>
            </a:r>
            <a:r>
              <a:rPr lang="sv-SE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v-SE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sv-SE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v-SE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staff</a:t>
            </a:r>
            <a:r>
              <a:rPr lang="sv-SE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v-SE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follow</a:t>
            </a:r>
            <a:r>
              <a:rPr lang="sv-SE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v-SE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established</a:t>
            </a:r>
            <a:r>
              <a:rPr lang="sv-SE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v-SE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procedures</a:t>
            </a:r>
            <a:r>
              <a:rPr lang="sv-SE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handling personal data. </a:t>
            </a:r>
            <a:endParaRPr lang="sv-SE" sz="1600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48E66-1EEF-44E1-B40D-D5321166998D}" type="slidenum">
              <a:rPr lang="sv-SE" smtClean="0"/>
              <a:t>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80955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sv-SE" dirty="0" err="1"/>
              <a:t>Pseudonymising</a:t>
            </a:r>
            <a:r>
              <a:rPr lang="sv-SE" dirty="0"/>
              <a:t> sensitive </a:t>
            </a:r>
            <a:r>
              <a:rPr lang="sv-SE" dirty="0" err="1"/>
              <a:t>details</a:t>
            </a:r>
            <a:r>
              <a:rPr lang="sv-SE" dirty="0"/>
              <a:t> </a:t>
            </a:r>
            <a:r>
              <a:rPr lang="sv-SE" dirty="0" err="1"/>
              <a:t>means</a:t>
            </a:r>
            <a:r>
              <a:rPr lang="sv-SE" dirty="0"/>
              <a:t> </a:t>
            </a:r>
            <a:r>
              <a:rPr lang="sv-SE" dirty="0" err="1"/>
              <a:t>replacing</a:t>
            </a:r>
            <a:r>
              <a:rPr lang="sv-SE" dirty="0"/>
              <a:t> </a:t>
            </a:r>
            <a:r>
              <a:rPr lang="sv-SE" dirty="0" err="1"/>
              <a:t>identifiying</a:t>
            </a:r>
            <a:r>
              <a:rPr lang="sv-SE" dirty="0"/>
              <a:t> </a:t>
            </a:r>
            <a:r>
              <a:rPr lang="sv-SE" dirty="0" err="1"/>
              <a:t>details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err="1"/>
              <a:t>codes</a:t>
            </a:r>
            <a:r>
              <a:rPr lang="sv-SE" dirty="0"/>
              <a:t> or </a:t>
            </a:r>
            <a:r>
              <a:rPr lang="sv-SE" dirty="0" err="1"/>
              <a:t>aliases</a:t>
            </a:r>
            <a:r>
              <a:rPr lang="sv-SE" dirty="0"/>
              <a:t>.</a:t>
            </a:r>
          </a:p>
          <a:p>
            <a:pPr marL="228600" indent="-228600">
              <a:buAutoNum type="arabicPeriod" startAt="2"/>
            </a:pPr>
            <a:r>
              <a:rPr lang="sv-SE" dirty="0"/>
              <a:t>A </a:t>
            </a:r>
            <a:r>
              <a:rPr lang="sv-SE" dirty="0" err="1"/>
              <a:t>code</a:t>
            </a:r>
            <a:r>
              <a:rPr lang="sv-SE" dirty="0"/>
              <a:t> </a:t>
            </a:r>
            <a:r>
              <a:rPr lang="sv-SE" dirty="0" err="1"/>
              <a:t>key</a:t>
            </a:r>
            <a:r>
              <a:rPr lang="sv-SE" dirty="0"/>
              <a:t> or log is </a:t>
            </a:r>
            <a:r>
              <a:rPr lang="sv-SE" dirty="0" err="1"/>
              <a:t>created</a:t>
            </a:r>
            <a:r>
              <a:rPr lang="sv-SE" dirty="0"/>
              <a:t> to </a:t>
            </a:r>
            <a:r>
              <a:rPr lang="sv-SE" dirty="0" err="1"/>
              <a:t>help</a:t>
            </a:r>
            <a:r>
              <a:rPr lang="sv-SE" dirty="0"/>
              <a:t> the pseudonyms to the original personal data. </a:t>
            </a:r>
          </a:p>
          <a:p>
            <a:pPr marL="228600" indent="-228600">
              <a:buAutoNum type="arabicPeriod" startAt="2"/>
            </a:pPr>
            <a:r>
              <a:rPr lang="sv-SE" dirty="0"/>
              <a:t>As long as the </a:t>
            </a:r>
            <a:r>
              <a:rPr lang="sv-SE" dirty="0" err="1"/>
              <a:t>code</a:t>
            </a:r>
            <a:r>
              <a:rPr lang="sv-SE" dirty="0"/>
              <a:t> </a:t>
            </a:r>
            <a:r>
              <a:rPr lang="sv-SE" dirty="0" err="1"/>
              <a:t>key</a:t>
            </a:r>
            <a:r>
              <a:rPr lang="sv-SE" dirty="0"/>
              <a:t> </a:t>
            </a:r>
            <a:r>
              <a:rPr lang="sv-SE" dirty="0" err="1"/>
              <a:t>exists</a:t>
            </a:r>
            <a:r>
              <a:rPr lang="sv-SE" dirty="0"/>
              <a:t> – </a:t>
            </a:r>
            <a:r>
              <a:rPr lang="sv-SE" dirty="0" err="1"/>
              <a:t>regardless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where</a:t>
            </a:r>
            <a:r>
              <a:rPr lang="sv-SE" dirty="0"/>
              <a:t> or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err="1"/>
              <a:t>whom</a:t>
            </a:r>
            <a:r>
              <a:rPr lang="sv-SE" dirty="0"/>
              <a:t> – it </a:t>
            </a:r>
            <a:r>
              <a:rPr lang="sv-SE" dirty="0" err="1"/>
              <a:t>remains</a:t>
            </a:r>
            <a:r>
              <a:rPr lang="sv-SE" dirty="0"/>
              <a:t> </a:t>
            </a:r>
            <a:r>
              <a:rPr lang="sv-SE" dirty="0" err="1"/>
              <a:t>possible</a:t>
            </a:r>
            <a:r>
              <a:rPr lang="sv-SE" dirty="0"/>
              <a:t> to </a:t>
            </a:r>
            <a:r>
              <a:rPr lang="sv-SE" dirty="0" err="1"/>
              <a:t>link</a:t>
            </a:r>
            <a:r>
              <a:rPr lang="sv-SE" dirty="0"/>
              <a:t> the data to </a:t>
            </a:r>
            <a:r>
              <a:rPr lang="sv-SE" dirty="0" err="1"/>
              <a:t>specific</a:t>
            </a:r>
            <a:r>
              <a:rPr lang="sv-SE" dirty="0"/>
              <a:t> </a:t>
            </a:r>
            <a:r>
              <a:rPr lang="sv-SE" dirty="0" err="1"/>
              <a:t>individuals</a:t>
            </a:r>
            <a:r>
              <a:rPr lang="sv-SE" dirty="0"/>
              <a:t>. </a:t>
            </a:r>
            <a:r>
              <a:rPr lang="sv-SE" dirty="0" err="1"/>
              <a:t>This</a:t>
            </a:r>
            <a:r>
              <a:rPr lang="sv-SE" dirty="0"/>
              <a:t> </a:t>
            </a:r>
            <a:r>
              <a:rPr lang="sv-SE" dirty="0" err="1"/>
              <a:t>means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while</a:t>
            </a:r>
            <a:r>
              <a:rPr lang="sv-SE" dirty="0"/>
              <a:t> it is </a:t>
            </a:r>
            <a:r>
              <a:rPr lang="sv-SE" dirty="0" err="1"/>
              <a:t>allowed</a:t>
            </a:r>
            <a:r>
              <a:rPr lang="sv-SE" dirty="0"/>
              <a:t> to process </a:t>
            </a:r>
            <a:r>
              <a:rPr lang="sv-SE" dirty="0" err="1"/>
              <a:t>pseudonymized</a:t>
            </a:r>
            <a:r>
              <a:rPr lang="sv-SE" dirty="0"/>
              <a:t> data, </a:t>
            </a:r>
            <a:r>
              <a:rPr lang="sv-SE" dirty="0" err="1"/>
              <a:t>they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still </a:t>
            </a:r>
            <a:r>
              <a:rPr lang="sv-SE" dirty="0" err="1"/>
              <a:t>considered</a:t>
            </a:r>
            <a:r>
              <a:rPr lang="sv-SE" dirty="0"/>
              <a:t> personal data and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subject</a:t>
            </a:r>
            <a:r>
              <a:rPr lang="sv-SE" dirty="0"/>
              <a:t> to the GDPR. </a:t>
            </a:r>
          </a:p>
          <a:p>
            <a:pPr marL="228600" indent="-228600">
              <a:buAutoNum type="arabicPeriod" startAt="2"/>
            </a:pPr>
            <a:r>
              <a:rPr lang="sv-SE" dirty="0"/>
              <a:t>If </a:t>
            </a:r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delete</a:t>
            </a:r>
            <a:r>
              <a:rPr lang="sv-SE" dirty="0"/>
              <a:t> the </a:t>
            </a:r>
            <a:r>
              <a:rPr lang="sv-SE" dirty="0" err="1"/>
              <a:t>code</a:t>
            </a:r>
            <a:r>
              <a:rPr lang="sv-SE" dirty="0"/>
              <a:t> </a:t>
            </a:r>
            <a:r>
              <a:rPr lang="sv-SE" dirty="0" err="1"/>
              <a:t>key</a:t>
            </a:r>
            <a:r>
              <a:rPr lang="sv-SE" dirty="0"/>
              <a:t> and </a:t>
            </a:r>
            <a:r>
              <a:rPr lang="sv-SE" dirty="0" err="1"/>
              <a:t>potentially</a:t>
            </a:r>
            <a:r>
              <a:rPr lang="sv-SE" dirty="0"/>
              <a:t> </a:t>
            </a:r>
            <a:r>
              <a:rPr lang="sv-SE" dirty="0" err="1"/>
              <a:t>other</a:t>
            </a:r>
            <a:r>
              <a:rPr lang="sv-SE" dirty="0"/>
              <a:t> info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could</a:t>
            </a:r>
            <a:r>
              <a:rPr lang="sv-SE" dirty="0"/>
              <a:t> </a:t>
            </a:r>
            <a:r>
              <a:rPr lang="sv-SE" dirty="0" err="1"/>
              <a:t>identify</a:t>
            </a:r>
            <a:r>
              <a:rPr lang="sv-SE" dirty="0"/>
              <a:t> </a:t>
            </a:r>
            <a:r>
              <a:rPr lang="sv-SE" dirty="0" err="1"/>
              <a:t>someone</a:t>
            </a:r>
            <a:r>
              <a:rPr lang="sv-SE" dirty="0"/>
              <a:t>, the data is </a:t>
            </a:r>
            <a:r>
              <a:rPr lang="sv-SE" dirty="0" err="1"/>
              <a:t>then</a:t>
            </a:r>
            <a:r>
              <a:rPr lang="sv-SE" dirty="0"/>
              <a:t> </a:t>
            </a:r>
            <a:r>
              <a:rPr lang="sv-SE" dirty="0" err="1"/>
              <a:t>anonymised</a:t>
            </a:r>
            <a:r>
              <a:rPr lang="sv-SE" dirty="0"/>
              <a:t> and no </a:t>
            </a:r>
            <a:r>
              <a:rPr lang="sv-SE" dirty="0" err="1"/>
              <a:t>longer</a:t>
            </a:r>
            <a:r>
              <a:rPr lang="sv-SE" dirty="0"/>
              <a:t> personal data. GDPR is, </a:t>
            </a:r>
            <a:r>
              <a:rPr lang="sv-SE" dirty="0" err="1"/>
              <a:t>therefore</a:t>
            </a:r>
            <a:r>
              <a:rPr lang="sv-SE" dirty="0"/>
              <a:t>, not </a:t>
            </a:r>
            <a:r>
              <a:rPr lang="sv-SE" dirty="0" err="1"/>
              <a:t>applicable</a:t>
            </a:r>
            <a:r>
              <a:rPr lang="sv-SE" dirty="0"/>
              <a:t>. 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48E66-1EEF-44E1-B40D-D5321166998D}" type="slidenum">
              <a:rPr lang="sv-SE" smtClean="0"/>
              <a:t>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65694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1. Under the Swedish </a:t>
            </a:r>
            <a:r>
              <a:rPr lang="sv-SE" dirty="0" err="1"/>
              <a:t>Archive's</a:t>
            </a:r>
            <a:r>
              <a:rPr lang="sv-SE" dirty="0"/>
              <a:t> </a:t>
            </a:r>
            <a:r>
              <a:rPr lang="sv-SE" dirty="0" err="1"/>
              <a:t>Act</a:t>
            </a:r>
            <a:r>
              <a:rPr lang="sv-SE" dirty="0"/>
              <a:t>, researchers in Sweden </a:t>
            </a:r>
            <a:r>
              <a:rPr lang="sv-SE" dirty="0" err="1"/>
              <a:t>are</a:t>
            </a:r>
            <a:r>
              <a:rPr lang="sv-SE" dirty="0"/>
              <a:t> not </a:t>
            </a:r>
            <a:r>
              <a:rPr lang="sv-SE" dirty="0" err="1"/>
              <a:t>generally</a:t>
            </a:r>
            <a:r>
              <a:rPr lang="sv-SE" dirty="0"/>
              <a:t> </a:t>
            </a:r>
            <a:r>
              <a:rPr lang="sv-SE" dirty="0" err="1"/>
              <a:t>allowed</a:t>
            </a:r>
            <a:r>
              <a:rPr lang="sv-SE" dirty="0"/>
              <a:t> to </a:t>
            </a:r>
            <a:r>
              <a:rPr lang="sv-SE" dirty="0" err="1"/>
              <a:t>delete</a:t>
            </a:r>
            <a:r>
              <a:rPr lang="sv-SE" dirty="0"/>
              <a:t> the </a:t>
            </a:r>
            <a:r>
              <a:rPr lang="sv-SE" dirty="0" err="1"/>
              <a:t>code</a:t>
            </a:r>
            <a:r>
              <a:rPr lang="sv-SE" dirty="0"/>
              <a:t> </a:t>
            </a:r>
            <a:r>
              <a:rPr lang="sv-SE" dirty="0" err="1"/>
              <a:t>key</a:t>
            </a:r>
            <a:r>
              <a:rPr lang="sv-SE" dirty="0"/>
              <a:t> or </a:t>
            </a:r>
            <a:r>
              <a:rPr lang="sv-SE" dirty="0" err="1"/>
              <a:t>other</a:t>
            </a:r>
            <a:r>
              <a:rPr lang="sv-SE" dirty="0"/>
              <a:t> </a:t>
            </a:r>
            <a:r>
              <a:rPr lang="sv-SE" dirty="0" err="1"/>
              <a:t>identifiers</a:t>
            </a:r>
            <a:r>
              <a:rPr lang="sv-SE" dirty="0"/>
              <a:t>, </a:t>
            </a:r>
            <a:r>
              <a:rPr lang="sv-SE" dirty="0" err="1"/>
              <a:t>since</a:t>
            </a:r>
            <a:r>
              <a:rPr lang="sv-SE" dirty="0"/>
              <a:t> </a:t>
            </a:r>
            <a:r>
              <a:rPr lang="sv-SE" dirty="0" err="1"/>
              <a:t>they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considered</a:t>
            </a:r>
            <a:r>
              <a:rPr lang="sv-SE" dirty="0"/>
              <a:t> </a:t>
            </a:r>
            <a:r>
              <a:rPr lang="sv-SE" dirty="0" err="1"/>
              <a:t>official</a:t>
            </a:r>
            <a:r>
              <a:rPr lang="sv-SE" dirty="0"/>
              <a:t>/public </a:t>
            </a:r>
            <a:r>
              <a:rPr lang="sv-SE" dirty="0" err="1"/>
              <a:t>documents</a:t>
            </a:r>
            <a:r>
              <a:rPr lang="sv-SE" dirty="0"/>
              <a:t> (allmänna handlingar) and must be </a:t>
            </a:r>
            <a:r>
              <a:rPr lang="sv-SE" dirty="0" err="1"/>
              <a:t>archived</a:t>
            </a:r>
            <a:r>
              <a:rPr lang="sv-SE" dirty="0"/>
              <a:t> for </a:t>
            </a:r>
            <a:r>
              <a:rPr lang="sv-SE" dirty="0" err="1"/>
              <a:t>generally</a:t>
            </a:r>
            <a:r>
              <a:rPr lang="sv-SE" dirty="0"/>
              <a:t> at </a:t>
            </a:r>
            <a:r>
              <a:rPr lang="sv-SE" dirty="0" err="1"/>
              <a:t>least</a:t>
            </a:r>
            <a:r>
              <a:rPr lang="sv-SE" dirty="0"/>
              <a:t> 10 </a:t>
            </a:r>
            <a:r>
              <a:rPr lang="sv-SE" dirty="0" err="1"/>
              <a:t>years</a:t>
            </a:r>
            <a:r>
              <a:rPr lang="sv-SE" dirty="0"/>
              <a:t>. </a:t>
            </a:r>
            <a:r>
              <a:rPr lang="sv-SE" sz="1000" dirty="0" err="1"/>
              <a:t>With</a:t>
            </a:r>
            <a:r>
              <a:rPr lang="sv-SE" sz="1000" dirty="0"/>
              <a:t> the </a:t>
            </a:r>
            <a:r>
              <a:rPr lang="sv-SE" sz="1000" dirty="0" err="1"/>
              <a:t>exception</a:t>
            </a:r>
            <a:r>
              <a:rPr lang="sv-SE" sz="1000" dirty="0"/>
              <a:t> </a:t>
            </a:r>
            <a:r>
              <a:rPr lang="sv-SE" sz="1000" dirty="0" err="1"/>
              <a:t>of</a:t>
            </a:r>
            <a:r>
              <a:rPr lang="sv-SE" sz="1000" dirty="0"/>
              <a:t> register </a:t>
            </a:r>
            <a:r>
              <a:rPr lang="sv-SE" sz="1000" dirty="0" err="1"/>
              <a:t>extracts</a:t>
            </a:r>
            <a:r>
              <a:rPr lang="sv-SE" sz="1000" dirty="0"/>
              <a:t> and survey </a:t>
            </a:r>
            <a:r>
              <a:rPr lang="sv-SE" sz="1000" dirty="0" err="1"/>
              <a:t>companies</a:t>
            </a:r>
            <a:r>
              <a:rPr lang="sv-SE" sz="1000" dirty="0"/>
              <a:t>’ data. </a:t>
            </a:r>
            <a:br>
              <a:rPr lang="sv-SE" sz="1000" dirty="0"/>
            </a:br>
            <a:r>
              <a:rPr lang="sv-SE" sz="1000" dirty="0"/>
              <a:t>BUT DOCS ARE SUBJECT TO CONFIDENTIALITY, SO YOU CAN’T JUST EASILY GET YOUR HANDS ON IT.</a:t>
            </a:r>
          </a:p>
          <a:p>
            <a:endParaRPr lang="sv-SE" dirty="0"/>
          </a:p>
          <a:p>
            <a:r>
              <a:rPr lang="sv-SE" dirty="0"/>
              <a:t>2. </a:t>
            </a:r>
            <a:r>
              <a:rPr lang="sv-SE" dirty="0" err="1"/>
              <a:t>This</a:t>
            </a:r>
            <a:r>
              <a:rPr lang="sv-SE" dirty="0"/>
              <a:t> in </a:t>
            </a:r>
            <a:r>
              <a:rPr lang="sv-SE" dirty="0" err="1"/>
              <a:t>turn</a:t>
            </a:r>
            <a:r>
              <a:rPr lang="sv-SE" dirty="0"/>
              <a:t> </a:t>
            </a:r>
            <a:r>
              <a:rPr lang="sv-SE" dirty="0" err="1"/>
              <a:t>impacts</a:t>
            </a:r>
            <a:r>
              <a:rPr lang="sv-SE" dirty="0"/>
              <a:t> ACCESSIBILITY </a:t>
            </a:r>
            <a:r>
              <a:rPr lang="sv-SE" dirty="0" err="1"/>
              <a:t>because</a:t>
            </a:r>
            <a:r>
              <a:rPr lang="sv-SE" dirty="0"/>
              <a:t> it limits the option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sharing</a:t>
            </a:r>
            <a:r>
              <a:rPr lang="sv-SE" dirty="0"/>
              <a:t> data </a:t>
            </a:r>
            <a:r>
              <a:rPr lang="sv-SE" dirty="0" err="1"/>
              <a:t>fully</a:t>
            </a:r>
            <a:r>
              <a:rPr lang="sv-SE" dirty="0"/>
              <a:t> </a:t>
            </a:r>
            <a:r>
              <a:rPr lang="sv-SE" dirty="0" err="1"/>
              <a:t>open</a:t>
            </a:r>
            <a:r>
              <a:rPr lang="sv-SE" dirty="0"/>
              <a:t> and </a:t>
            </a:r>
            <a:r>
              <a:rPr lang="sv-SE" dirty="0" err="1"/>
              <a:t>directly</a:t>
            </a:r>
            <a:r>
              <a:rPr lang="sv-SE" dirty="0"/>
              <a:t> </a:t>
            </a:r>
            <a:r>
              <a:rPr lang="sv-SE" dirty="0" err="1"/>
              <a:t>downloadable</a:t>
            </a:r>
            <a:r>
              <a:rPr lang="sv-SE" dirty="0"/>
              <a:t>. </a:t>
            </a:r>
            <a:r>
              <a:rPr lang="sv-SE" dirty="0" err="1"/>
              <a:t>Instead</a:t>
            </a:r>
            <a:r>
              <a:rPr lang="sv-SE" dirty="0"/>
              <a:t>, data </a:t>
            </a:r>
            <a:r>
              <a:rPr lang="sv-SE" dirty="0" err="1"/>
              <a:t>can</a:t>
            </a:r>
            <a:r>
              <a:rPr lang="sv-SE" dirty="0"/>
              <a:t> be </a:t>
            </a:r>
            <a:r>
              <a:rPr lang="sv-SE" dirty="0" err="1"/>
              <a:t>made</a:t>
            </a:r>
            <a:r>
              <a:rPr lang="sv-SE" dirty="0"/>
              <a:t> </a:t>
            </a:r>
            <a:r>
              <a:rPr lang="sv-SE" dirty="0" err="1"/>
              <a:t>accesible</a:t>
            </a:r>
            <a:r>
              <a:rPr lang="sv-SE" dirty="0"/>
              <a:t> </a:t>
            </a:r>
            <a:r>
              <a:rPr lang="sv-SE" dirty="0" err="1"/>
              <a:t>through</a:t>
            </a:r>
            <a:r>
              <a:rPr lang="sv-SE" dirty="0"/>
              <a:t> ”</a:t>
            </a:r>
            <a:r>
              <a:rPr lang="sv-SE" dirty="0" err="1"/>
              <a:t>restricted</a:t>
            </a:r>
            <a:r>
              <a:rPr lang="sv-SE" dirty="0"/>
              <a:t> access” (”begränsad åtkomst”). </a:t>
            </a:r>
            <a:r>
              <a:rPr lang="sv-SE" dirty="0" err="1"/>
              <a:t>But</a:t>
            </a:r>
            <a:r>
              <a:rPr lang="sv-SE" dirty="0"/>
              <a:t> it </a:t>
            </a:r>
            <a:r>
              <a:rPr lang="sv-SE" dirty="0" err="1"/>
              <a:t>may</a:t>
            </a:r>
            <a:r>
              <a:rPr lang="sv-SE" dirty="0"/>
              <a:t> not be </a:t>
            </a:r>
            <a:r>
              <a:rPr lang="sv-SE" dirty="0" err="1"/>
              <a:t>appropriate</a:t>
            </a:r>
            <a:r>
              <a:rPr lang="sv-SE" dirty="0"/>
              <a:t> to </a:t>
            </a:r>
            <a:r>
              <a:rPr lang="sv-SE" dirty="0" err="1"/>
              <a:t>share</a:t>
            </a:r>
            <a:r>
              <a:rPr lang="sv-SE" dirty="0"/>
              <a:t> </a:t>
            </a:r>
            <a:r>
              <a:rPr lang="sv-SE" dirty="0" err="1"/>
              <a:t>fully</a:t>
            </a:r>
            <a:r>
              <a:rPr lang="sv-SE" dirty="0"/>
              <a:t> </a:t>
            </a:r>
            <a:r>
              <a:rPr lang="sv-SE" dirty="0" err="1"/>
              <a:t>open</a:t>
            </a:r>
            <a:r>
              <a:rPr lang="sv-SE" dirty="0"/>
              <a:t> </a:t>
            </a:r>
            <a:r>
              <a:rPr lang="sv-SE" dirty="0" err="1"/>
              <a:t>anyway</a:t>
            </a:r>
            <a:r>
              <a:rPr lang="sv-SE" dirty="0"/>
              <a:t>. </a:t>
            </a:r>
          </a:p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48E66-1EEF-44E1-B40D-D5321166998D}" type="slidenum">
              <a:rPr lang="sv-SE" smtClean="0"/>
              <a:t>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75042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dirty="0"/>
              <a:t>It is not </a:t>
            </a:r>
            <a:r>
              <a:rPr lang="sv-SE" dirty="0" err="1"/>
              <a:t>uncommon</a:t>
            </a:r>
            <a:r>
              <a:rPr lang="sv-SE" dirty="0"/>
              <a:t> for </a:t>
            </a:r>
            <a:r>
              <a:rPr lang="sv-SE" dirty="0" err="1"/>
              <a:t>qualitative</a:t>
            </a:r>
            <a:r>
              <a:rPr lang="sv-SE" dirty="0"/>
              <a:t> data to </a:t>
            </a:r>
            <a:r>
              <a:rPr lang="sv-SE" dirty="0" err="1"/>
              <a:t>identify</a:t>
            </a:r>
            <a:r>
              <a:rPr lang="sv-SE" dirty="0"/>
              <a:t> </a:t>
            </a:r>
            <a:r>
              <a:rPr lang="sv-SE" dirty="0" err="1"/>
              <a:t>people</a:t>
            </a:r>
            <a:r>
              <a:rPr lang="sv-SE" dirty="0"/>
              <a:t> </a:t>
            </a:r>
            <a:r>
              <a:rPr lang="sv-SE" dirty="0" err="1"/>
              <a:t>through</a:t>
            </a:r>
            <a:r>
              <a:rPr lang="sv-SE" dirty="0"/>
              <a:t> </a:t>
            </a:r>
            <a:r>
              <a:rPr lang="sv-SE" dirty="0" err="1"/>
              <a:t>context</a:t>
            </a:r>
            <a:r>
              <a:rPr lang="sv-SE" dirty="0"/>
              <a:t> </a:t>
            </a:r>
            <a:r>
              <a:rPr lang="sv-SE" dirty="0" err="1"/>
              <a:t>rather</a:t>
            </a:r>
            <a:r>
              <a:rPr lang="sv-SE" dirty="0"/>
              <a:t> </a:t>
            </a:r>
            <a:r>
              <a:rPr lang="sv-SE" dirty="0" err="1"/>
              <a:t>than</a:t>
            </a:r>
            <a:r>
              <a:rPr lang="sv-SE" dirty="0"/>
              <a:t> </a:t>
            </a:r>
            <a:r>
              <a:rPr lang="sv-SE" dirty="0" err="1"/>
              <a:t>names</a:t>
            </a:r>
            <a:r>
              <a:rPr lang="sv-SE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v-S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dirty="0"/>
              <a:t>O </a:t>
            </a:r>
            <a:r>
              <a:rPr lang="sv-SE" dirty="0" err="1"/>
              <a:t>These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the </a:t>
            </a:r>
            <a:r>
              <a:rPr lang="sv-SE" dirty="0" err="1"/>
              <a:t>obvious</a:t>
            </a:r>
            <a:r>
              <a:rPr lang="sv-SE" dirty="0"/>
              <a:t> </a:t>
            </a:r>
            <a:r>
              <a:rPr lang="sv-SE" dirty="0" err="1"/>
              <a:t>ones</a:t>
            </a:r>
            <a:r>
              <a:rPr lang="sv-SE" dirty="0"/>
              <a:t> </a:t>
            </a:r>
            <a:r>
              <a:rPr lang="sv-SE" dirty="0" err="1"/>
              <a:t>but</a:t>
            </a:r>
            <a:r>
              <a:rPr lang="sv-SE" dirty="0"/>
              <a:t> </a:t>
            </a:r>
            <a:r>
              <a:rPr lang="sv-SE" dirty="0" err="1"/>
              <a:t>even</a:t>
            </a:r>
            <a:r>
              <a:rPr lang="sv-SE" dirty="0"/>
              <a:t> </a:t>
            </a:r>
            <a:r>
              <a:rPr lang="sv-SE" dirty="0" err="1"/>
              <a:t>something</a:t>
            </a:r>
            <a:r>
              <a:rPr lang="sv-SE" dirty="0"/>
              <a:t> like </a:t>
            </a:r>
            <a:r>
              <a:rPr lang="sv-SE" b="1" dirty="0"/>
              <a:t>Student at Gymnasium 4 </a:t>
            </a:r>
            <a:r>
              <a:rPr lang="sv-SE" b="1" dirty="0" err="1"/>
              <a:t>with</a:t>
            </a:r>
            <a:r>
              <a:rPr lang="sv-SE" b="1" dirty="0"/>
              <a:t> red </a:t>
            </a:r>
            <a:r>
              <a:rPr lang="sv-SE" b="1" dirty="0" err="1"/>
              <a:t>hair</a:t>
            </a:r>
            <a:r>
              <a:rPr lang="sv-SE" b="1" dirty="0"/>
              <a:t> </a:t>
            </a:r>
            <a:r>
              <a:rPr lang="sv-SE" b="1" dirty="0" err="1"/>
              <a:t>who</a:t>
            </a:r>
            <a:r>
              <a:rPr lang="sv-SE" b="1" dirty="0"/>
              <a:t> </a:t>
            </a:r>
            <a:r>
              <a:rPr lang="sv-SE" b="1" dirty="0" err="1"/>
              <a:t>wears</a:t>
            </a:r>
            <a:r>
              <a:rPr lang="sv-SE" b="1" dirty="0"/>
              <a:t> an </a:t>
            </a:r>
            <a:r>
              <a:rPr lang="sv-SE" b="1" dirty="0" err="1"/>
              <a:t>Iron</a:t>
            </a:r>
            <a:r>
              <a:rPr lang="sv-SE" b="1" dirty="0"/>
              <a:t> Maiden </a:t>
            </a:r>
            <a:r>
              <a:rPr lang="sv-SE" b="1" dirty="0" err="1"/>
              <a:t>hoodie</a:t>
            </a:r>
            <a:r>
              <a:rPr lang="sv-SE" b="1" dirty="0"/>
              <a:t> </a:t>
            </a:r>
            <a:r>
              <a:rPr lang="sv-SE" b="1" dirty="0" err="1"/>
              <a:t>every</a:t>
            </a:r>
            <a:r>
              <a:rPr lang="sv-SE" b="1" dirty="0"/>
              <a:t> </a:t>
            </a:r>
            <a:r>
              <a:rPr lang="sv-SE" b="1" dirty="0" err="1"/>
              <a:t>day</a:t>
            </a:r>
            <a:r>
              <a:rPr lang="sv-SE" b="1" dirty="0"/>
              <a:t>…</a:t>
            </a:r>
          </a:p>
          <a:p>
            <a:endParaRPr lang="sv-SE" dirty="0"/>
          </a:p>
          <a:p>
            <a:r>
              <a:rPr lang="sv-SE" dirty="0"/>
              <a:t>O </a:t>
            </a:r>
            <a:r>
              <a:rPr lang="sv-SE" dirty="0" err="1"/>
              <a:t>Judge</a:t>
            </a:r>
            <a:r>
              <a:rPr lang="sv-SE" dirty="0"/>
              <a:t> </a:t>
            </a:r>
            <a:r>
              <a:rPr lang="sv-SE" dirty="0" err="1"/>
              <a:t>what</a:t>
            </a:r>
            <a:r>
              <a:rPr lang="sv-SE" dirty="0"/>
              <a:t> </a:t>
            </a:r>
            <a:r>
              <a:rPr lang="sv-SE" dirty="0" err="1"/>
              <a:t>might</a:t>
            </a:r>
            <a:r>
              <a:rPr lang="sv-SE" dirty="0"/>
              <a:t> be </a:t>
            </a:r>
            <a:r>
              <a:rPr lang="sv-SE" dirty="0" err="1"/>
              <a:t>risky</a:t>
            </a:r>
            <a:r>
              <a:rPr lang="sv-SE" dirty="0"/>
              <a:t> </a:t>
            </a:r>
            <a:r>
              <a:rPr lang="sv-SE" dirty="0" err="1"/>
              <a:t>details</a:t>
            </a:r>
            <a:r>
              <a:rPr lang="sv-SE" dirty="0"/>
              <a:t>. </a:t>
            </a:r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know</a:t>
            </a:r>
            <a:r>
              <a:rPr lang="sv-SE" dirty="0"/>
              <a:t> </a:t>
            </a:r>
            <a:r>
              <a:rPr lang="sv-SE" dirty="0" err="1"/>
              <a:t>your</a:t>
            </a:r>
            <a:r>
              <a:rPr lang="sv-SE" dirty="0"/>
              <a:t> research best.</a:t>
            </a:r>
          </a:p>
          <a:p>
            <a:endParaRPr lang="sv-SE" dirty="0"/>
          </a:p>
          <a:p>
            <a:r>
              <a:rPr lang="sv-SE" dirty="0"/>
              <a:t>O </a:t>
            </a:r>
            <a:r>
              <a:rPr lang="sv-SE" dirty="0" err="1"/>
              <a:t>Use</a:t>
            </a:r>
            <a:r>
              <a:rPr lang="sv-SE" dirty="0"/>
              <a:t> </a:t>
            </a:r>
            <a:r>
              <a:rPr lang="sv-SE" dirty="0" err="1"/>
              <a:t>suppression</a:t>
            </a:r>
            <a:r>
              <a:rPr lang="sv-SE" dirty="0"/>
              <a:t> </a:t>
            </a:r>
            <a:r>
              <a:rPr lang="sv-SE" dirty="0" err="1"/>
              <a:t>sparingly</a:t>
            </a:r>
            <a:r>
              <a:rPr lang="sv-SE" dirty="0"/>
              <a:t>. </a:t>
            </a:r>
            <a:r>
              <a:rPr lang="sv-SE" dirty="0" err="1"/>
              <a:t>Too</a:t>
            </a:r>
            <a:r>
              <a:rPr lang="sv-SE" dirty="0"/>
              <a:t> </a:t>
            </a:r>
            <a:r>
              <a:rPr lang="sv-SE" dirty="0" err="1"/>
              <a:t>much</a:t>
            </a:r>
            <a:r>
              <a:rPr lang="sv-SE" dirty="0"/>
              <a:t> </a:t>
            </a:r>
            <a:r>
              <a:rPr lang="sv-SE" dirty="0" err="1"/>
              <a:t>deletion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make the data </a:t>
            </a:r>
            <a:r>
              <a:rPr lang="sv-SE" dirty="0" err="1"/>
              <a:t>unusable</a:t>
            </a:r>
            <a:r>
              <a:rPr lang="sv-SE" dirty="0"/>
              <a:t> or </a:t>
            </a:r>
            <a:r>
              <a:rPr lang="sv-SE" dirty="0" err="1"/>
              <a:t>distort</a:t>
            </a:r>
            <a:r>
              <a:rPr lang="sv-SE" dirty="0"/>
              <a:t> </a:t>
            </a:r>
            <a:r>
              <a:rPr lang="sv-SE" dirty="0" err="1"/>
              <a:t>meaning</a:t>
            </a:r>
            <a:r>
              <a:rPr lang="sv-SE" dirty="0"/>
              <a:t>.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48E66-1EEF-44E1-B40D-D5321166998D}" type="slidenum">
              <a:rPr lang="sv-SE" smtClean="0"/>
              <a:t>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916331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48E66-1EEF-44E1-B40D-D5321166998D}" type="slidenum">
              <a:rPr lang="sv-SE" smtClean="0"/>
              <a:t>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999305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err="1"/>
              <a:t>There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ways</a:t>
            </a:r>
            <a:r>
              <a:rPr lang="sv-SE" dirty="0"/>
              <a:t> to </a:t>
            </a:r>
            <a:r>
              <a:rPr lang="sv-SE" dirty="0" err="1"/>
              <a:t>password</a:t>
            </a:r>
            <a:r>
              <a:rPr lang="sv-SE" dirty="0"/>
              <a:t> set </a:t>
            </a:r>
            <a:r>
              <a:rPr lang="sv-SE" dirty="0" err="1"/>
              <a:t>files</a:t>
            </a:r>
            <a:r>
              <a:rPr lang="sv-SE" dirty="0"/>
              <a:t>, for ex. 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48E66-1EEF-44E1-B40D-D5321166998D}" type="slidenum">
              <a:rPr lang="sv-SE" smtClean="0"/>
              <a:t>10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225746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sz="1200" dirty="0"/>
              <a:t>Be </a:t>
            </a:r>
            <a:r>
              <a:rPr lang="sv-SE" sz="1200" dirty="0" err="1"/>
              <a:t>particularly</a:t>
            </a:r>
            <a:r>
              <a:rPr lang="sv-SE" sz="1200" dirty="0"/>
              <a:t> </a:t>
            </a:r>
            <a:r>
              <a:rPr lang="sv-SE" sz="1200" dirty="0" err="1"/>
              <a:t>cautious</a:t>
            </a:r>
            <a:r>
              <a:rPr lang="sv-SE" sz="1200" dirty="0"/>
              <a:t> </a:t>
            </a:r>
            <a:r>
              <a:rPr lang="sv-SE" sz="1200" dirty="0" err="1"/>
              <a:t>with</a:t>
            </a:r>
            <a:r>
              <a:rPr lang="sv-SE" sz="1200" dirty="0"/>
              <a:t> </a:t>
            </a:r>
            <a:r>
              <a:rPr lang="sv-SE" sz="1200" dirty="0" err="1"/>
              <a:t>geographic</a:t>
            </a:r>
            <a:r>
              <a:rPr lang="sv-SE" sz="1200" dirty="0"/>
              <a:t> data and information </a:t>
            </a:r>
            <a:r>
              <a:rPr lang="sv-SE" sz="1200" dirty="0" err="1"/>
              <a:t>about</a:t>
            </a:r>
            <a:r>
              <a:rPr lang="sv-SE" sz="1200" dirty="0"/>
              <a:t> </a:t>
            </a:r>
            <a:r>
              <a:rPr lang="sv-SE" sz="1200" dirty="0" err="1"/>
              <a:t>third</a:t>
            </a:r>
            <a:r>
              <a:rPr lang="sv-SE" sz="1200" dirty="0"/>
              <a:t> </a:t>
            </a:r>
            <a:r>
              <a:rPr lang="sv-SE" sz="1200" dirty="0" err="1"/>
              <a:t>parties</a:t>
            </a:r>
            <a:r>
              <a:rPr lang="sv-SE" sz="1200" dirty="0"/>
              <a:t>.</a:t>
            </a:r>
          </a:p>
          <a:p>
            <a:endParaRPr lang="sv-SE" sz="1200" dirty="0"/>
          </a:p>
          <a:p>
            <a:r>
              <a:rPr lang="sv-SE" dirty="0"/>
              <a:t>1- The option </a:t>
            </a:r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choose</a:t>
            </a:r>
            <a:r>
              <a:rPr lang="sv-SE" dirty="0"/>
              <a:t> for </a:t>
            </a:r>
            <a:r>
              <a:rPr lang="sv-SE" dirty="0" err="1"/>
              <a:t>how</a:t>
            </a:r>
            <a:r>
              <a:rPr lang="sv-SE" dirty="0"/>
              <a:t> </a:t>
            </a:r>
            <a:r>
              <a:rPr lang="sv-SE" dirty="0" err="1"/>
              <a:t>you</a:t>
            </a:r>
            <a:r>
              <a:rPr lang="sv-SE" dirty="0"/>
              <a:t> present the info </a:t>
            </a:r>
            <a:r>
              <a:rPr lang="sv-SE" dirty="0" err="1"/>
              <a:t>depends</a:t>
            </a:r>
            <a:r>
              <a:rPr lang="sv-SE" dirty="0"/>
              <a:t>. Is ”major </a:t>
            </a:r>
            <a:r>
              <a:rPr lang="sv-SE" dirty="0" err="1"/>
              <a:t>newspaper</a:t>
            </a:r>
            <a:r>
              <a:rPr lang="sv-SE" dirty="0"/>
              <a:t>” </a:t>
            </a:r>
            <a:r>
              <a:rPr lang="sv-SE" dirty="0" err="1"/>
              <a:t>analytically</a:t>
            </a:r>
            <a:r>
              <a:rPr lang="sv-SE" dirty="0"/>
              <a:t> </a:t>
            </a:r>
            <a:r>
              <a:rPr lang="sv-SE" dirty="0" err="1"/>
              <a:t>important</a:t>
            </a:r>
            <a:r>
              <a:rPr lang="sv-SE" dirty="0"/>
              <a:t>? Or </a:t>
            </a:r>
            <a:r>
              <a:rPr lang="sv-SE" dirty="0" err="1"/>
              <a:t>was</a:t>
            </a:r>
            <a:r>
              <a:rPr lang="sv-SE" dirty="0"/>
              <a:t> it just </a:t>
            </a:r>
            <a:r>
              <a:rPr lang="sv-SE" dirty="0" err="1"/>
              <a:t>mentioned</a:t>
            </a:r>
            <a:r>
              <a:rPr lang="sv-SE" dirty="0"/>
              <a:t> </a:t>
            </a:r>
            <a:r>
              <a:rPr lang="sv-SE" dirty="0" err="1"/>
              <a:t>once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no </a:t>
            </a:r>
            <a:r>
              <a:rPr lang="sv-SE" dirty="0" err="1"/>
              <a:t>specific</a:t>
            </a:r>
            <a:r>
              <a:rPr lang="sv-SE" dirty="0"/>
              <a:t> relation to </a:t>
            </a:r>
            <a:r>
              <a:rPr lang="sv-SE" dirty="0" err="1"/>
              <a:t>interview</a:t>
            </a:r>
            <a:r>
              <a:rPr lang="sv-SE" dirty="0"/>
              <a:t>?</a:t>
            </a:r>
          </a:p>
          <a:p>
            <a:endParaRPr lang="sv-S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dirty="0"/>
              <a:t>2- It </a:t>
            </a:r>
            <a:r>
              <a:rPr lang="sv-SE" dirty="0" err="1"/>
              <a:t>may</a:t>
            </a:r>
            <a:r>
              <a:rPr lang="sv-SE" dirty="0"/>
              <a:t> not be </a:t>
            </a:r>
            <a:r>
              <a:rPr lang="sv-SE" dirty="0" err="1"/>
              <a:t>appropriate</a:t>
            </a:r>
            <a:r>
              <a:rPr lang="sv-SE" dirty="0"/>
              <a:t> to re-</a:t>
            </a:r>
            <a:r>
              <a:rPr lang="sv-SE" dirty="0" err="1"/>
              <a:t>phrase</a:t>
            </a:r>
            <a:r>
              <a:rPr lang="sv-SE" dirty="0"/>
              <a:t> at all. Mask </a:t>
            </a:r>
            <a:r>
              <a:rPr lang="sv-SE" dirty="0" err="1"/>
              <a:t>instead</a:t>
            </a:r>
            <a:r>
              <a:rPr lang="sv-SE" dirty="0"/>
              <a:t>! For </a:t>
            </a:r>
            <a:r>
              <a:rPr lang="sv-SE" dirty="0" err="1"/>
              <a:t>interview</a:t>
            </a:r>
            <a:r>
              <a:rPr lang="sv-SE" dirty="0"/>
              <a:t> transcripts, </a:t>
            </a:r>
            <a:r>
              <a:rPr lang="sv-SE" dirty="0" err="1"/>
              <a:t>it’s</a:t>
            </a:r>
            <a:r>
              <a:rPr lang="sv-SE" dirty="0"/>
              <a:t> normal to </a:t>
            </a:r>
            <a:r>
              <a:rPr lang="sv-SE" dirty="0" err="1"/>
              <a:t>preserve</a:t>
            </a:r>
            <a:r>
              <a:rPr lang="sv-SE" dirty="0"/>
              <a:t> the </a:t>
            </a:r>
            <a:r>
              <a:rPr lang="sv-SE" dirty="0" err="1"/>
              <a:t>participant’s</a:t>
            </a:r>
            <a:r>
              <a:rPr lang="sv-SE" dirty="0"/>
              <a:t> </a:t>
            </a:r>
            <a:r>
              <a:rPr lang="sv-SE" dirty="0" err="1"/>
              <a:t>wording</a:t>
            </a:r>
            <a:r>
              <a:rPr lang="sv-SE" dirty="0"/>
              <a:t> as </a:t>
            </a:r>
            <a:r>
              <a:rPr lang="sv-SE" dirty="0" err="1"/>
              <a:t>much</a:t>
            </a:r>
            <a:r>
              <a:rPr lang="sv-SE" dirty="0"/>
              <a:t> as </a:t>
            </a:r>
            <a:r>
              <a:rPr lang="sv-SE" dirty="0" err="1"/>
              <a:t>possible</a:t>
            </a:r>
            <a:r>
              <a:rPr lang="sv-SE" dirty="0"/>
              <a:t> and mask </a:t>
            </a:r>
            <a:r>
              <a:rPr lang="sv-SE" dirty="0" err="1"/>
              <a:t>direct</a:t>
            </a:r>
            <a:r>
              <a:rPr lang="sv-SE" dirty="0"/>
              <a:t> &amp; </a:t>
            </a:r>
            <a:r>
              <a:rPr lang="sv-SE" dirty="0" err="1"/>
              <a:t>indirect</a:t>
            </a:r>
            <a:r>
              <a:rPr lang="sv-SE" dirty="0"/>
              <a:t> </a:t>
            </a:r>
            <a:r>
              <a:rPr lang="sv-SE" dirty="0" err="1"/>
              <a:t>identifiers</a:t>
            </a:r>
            <a:r>
              <a:rPr lang="sv-SE" dirty="0"/>
              <a:t>.</a:t>
            </a:r>
          </a:p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48E66-1EEF-44E1-B40D-D5321166998D}" type="slidenum">
              <a:rPr lang="sv-SE" smtClean="0"/>
              <a:t>11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093240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1600" dirty="0" err="1"/>
              <a:t>Depending</a:t>
            </a:r>
            <a:r>
              <a:rPr lang="sv-SE" sz="1600" dirty="0"/>
              <a:t> on the </a:t>
            </a:r>
            <a:r>
              <a:rPr lang="sv-SE" sz="1600" dirty="0" err="1"/>
              <a:t>study</a:t>
            </a:r>
            <a:r>
              <a:rPr lang="sv-SE" sz="1600" dirty="0"/>
              <a:t>, </a:t>
            </a:r>
            <a:r>
              <a:rPr lang="sv-SE" sz="1600" dirty="0" err="1"/>
              <a:t>you</a:t>
            </a:r>
            <a:r>
              <a:rPr lang="sv-SE" sz="1600" dirty="0"/>
              <a:t> </a:t>
            </a:r>
            <a:r>
              <a:rPr lang="sv-SE" sz="1600" dirty="0" err="1"/>
              <a:t>may</a:t>
            </a:r>
            <a:r>
              <a:rPr lang="sv-SE" sz="1600" dirty="0"/>
              <a:t> </a:t>
            </a:r>
            <a:r>
              <a:rPr lang="sv-SE" sz="1600" dirty="0" err="1"/>
              <a:t>need</a:t>
            </a:r>
            <a:r>
              <a:rPr lang="sv-SE" sz="1600" dirty="0"/>
              <a:t> to </a:t>
            </a:r>
            <a:r>
              <a:rPr lang="sv-SE" sz="1600" dirty="0" err="1"/>
              <a:t>retain</a:t>
            </a:r>
            <a:r>
              <a:rPr lang="sv-SE" sz="1600" dirty="0"/>
              <a:t> </a:t>
            </a:r>
            <a:r>
              <a:rPr lang="sv-SE" sz="1600" dirty="0" err="1"/>
              <a:t>sector</a:t>
            </a:r>
            <a:r>
              <a:rPr lang="sv-SE" sz="1600" dirty="0"/>
              <a:t>, region, </a:t>
            </a:r>
            <a:r>
              <a:rPr lang="sv-SE" sz="1600" dirty="0" err="1"/>
              <a:t>size</a:t>
            </a:r>
            <a:r>
              <a:rPr lang="sv-SE" sz="1600" dirty="0"/>
              <a:t>, or </a:t>
            </a:r>
            <a:r>
              <a:rPr lang="sv-SE" sz="1600" dirty="0" err="1"/>
              <a:t>hierarchy</a:t>
            </a:r>
            <a:r>
              <a:rPr lang="sv-SE" sz="1600" dirty="0"/>
              <a:t> </a:t>
            </a:r>
            <a:r>
              <a:rPr lang="sv-SE" sz="1600" dirty="0" err="1"/>
              <a:t>while</a:t>
            </a:r>
            <a:r>
              <a:rPr lang="sv-SE" sz="1600" dirty="0"/>
              <a:t> </a:t>
            </a:r>
            <a:r>
              <a:rPr lang="sv-SE" sz="1600" dirty="0" err="1"/>
              <a:t>removing</a:t>
            </a:r>
            <a:r>
              <a:rPr lang="sv-SE" sz="1600" dirty="0"/>
              <a:t> the precise organisation.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v-SE" sz="1600" b="1" dirty="0"/>
          </a:p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48E66-1EEF-44E1-B40D-D5321166998D}" type="slidenum">
              <a:rPr lang="sv-SE" smtClean="0"/>
              <a:t>12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768451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b="0" dirty="0" err="1"/>
              <a:t>You</a:t>
            </a:r>
            <a:r>
              <a:rPr lang="sv-SE" b="0" dirty="0"/>
              <a:t> </a:t>
            </a:r>
            <a:r>
              <a:rPr lang="sv-SE" b="0" dirty="0" err="1"/>
              <a:t>can</a:t>
            </a:r>
            <a:r>
              <a:rPr lang="sv-SE" b="0" dirty="0"/>
              <a:t> </a:t>
            </a:r>
            <a:r>
              <a:rPr lang="sv-SE" b="0" dirty="0" err="1"/>
              <a:t>use</a:t>
            </a:r>
            <a:r>
              <a:rPr lang="sv-SE" b="0" dirty="0"/>
              <a:t> </a:t>
            </a:r>
            <a:r>
              <a:rPr lang="sv-SE" dirty="0" err="1"/>
              <a:t>pseudonymization</a:t>
            </a:r>
            <a:r>
              <a:rPr lang="sv-SE" dirty="0"/>
              <a:t> </a:t>
            </a:r>
            <a:r>
              <a:rPr lang="sv-SE" dirty="0" err="1"/>
              <a:t>techniques</a:t>
            </a:r>
            <a:r>
              <a:rPr lang="sv-SE" dirty="0"/>
              <a:t> </a:t>
            </a:r>
            <a:r>
              <a:rPr lang="sv-SE" dirty="0" err="1"/>
              <a:t>similar</a:t>
            </a:r>
            <a:r>
              <a:rPr lang="sv-SE" dirty="0"/>
              <a:t> for </a:t>
            </a:r>
            <a:r>
              <a:rPr lang="sv-SE" dirty="0" err="1"/>
              <a:t>quantitative</a:t>
            </a:r>
            <a:r>
              <a:rPr lang="sv-SE" dirty="0"/>
              <a:t> data, </a:t>
            </a:r>
            <a:r>
              <a:rPr lang="sv-SE" dirty="0" err="1"/>
              <a:t>where</a:t>
            </a:r>
            <a:r>
              <a:rPr lang="sv-SE" dirty="0"/>
              <a:t>  information is </a:t>
            </a:r>
            <a:r>
              <a:rPr lang="sv-SE" dirty="0" err="1"/>
              <a:t>generalized</a:t>
            </a:r>
            <a:r>
              <a:rPr lang="sv-SE" dirty="0"/>
              <a:t> </a:t>
            </a:r>
            <a:r>
              <a:rPr lang="sv-SE" dirty="0" err="1"/>
              <a:t>into</a:t>
            </a:r>
            <a:r>
              <a:rPr lang="sv-SE" dirty="0"/>
              <a:t> </a:t>
            </a:r>
            <a:r>
              <a:rPr lang="sv-SE" dirty="0" err="1"/>
              <a:t>categories</a:t>
            </a:r>
            <a:r>
              <a:rPr lang="sv-SE" dirty="0"/>
              <a:t> to </a:t>
            </a:r>
            <a:r>
              <a:rPr lang="sv-SE" dirty="0" err="1"/>
              <a:t>diminish</a:t>
            </a:r>
            <a:r>
              <a:rPr lang="sv-SE" dirty="0"/>
              <a:t> the </a:t>
            </a:r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detail</a:t>
            </a:r>
            <a:r>
              <a:rPr lang="sv-SE" dirty="0"/>
              <a:t>. </a:t>
            </a:r>
          </a:p>
          <a:p>
            <a:endParaRPr lang="sv-SE" dirty="0"/>
          </a:p>
          <a:p>
            <a:r>
              <a:rPr lang="sv-SE" sz="1200" b="1" dirty="0" err="1"/>
              <a:t>However</a:t>
            </a:r>
            <a:r>
              <a:rPr lang="sv-SE" sz="1200" b="1" dirty="0"/>
              <a:t>, for ex, </a:t>
            </a:r>
            <a:r>
              <a:rPr lang="sv-SE" sz="1200" dirty="0" err="1"/>
              <a:t>if</a:t>
            </a:r>
            <a:r>
              <a:rPr lang="sv-SE" sz="1200" dirty="0"/>
              <a:t> </a:t>
            </a:r>
            <a:r>
              <a:rPr lang="sv-SE" sz="1200" dirty="0" err="1"/>
              <a:t>your</a:t>
            </a:r>
            <a:r>
              <a:rPr lang="sv-SE" sz="1200" dirty="0"/>
              <a:t> research </a:t>
            </a:r>
            <a:r>
              <a:rPr lang="sv-SE" sz="1200" dirty="0" err="1"/>
              <a:t>focuses</a:t>
            </a:r>
            <a:r>
              <a:rPr lang="sv-SE" sz="1200" dirty="0"/>
              <a:t> on </a:t>
            </a:r>
            <a:r>
              <a:rPr lang="sv-SE" sz="1200" dirty="0" err="1"/>
              <a:t>drug</a:t>
            </a:r>
            <a:r>
              <a:rPr lang="sv-SE" sz="1200" dirty="0"/>
              <a:t> </a:t>
            </a:r>
            <a:r>
              <a:rPr lang="sv-SE" sz="1200" dirty="0" err="1"/>
              <a:t>use</a:t>
            </a:r>
            <a:r>
              <a:rPr lang="sv-SE" sz="1200" dirty="0"/>
              <a:t>, it </a:t>
            </a:r>
            <a:r>
              <a:rPr lang="sv-SE" sz="1200" dirty="0" err="1"/>
              <a:t>would</a:t>
            </a:r>
            <a:r>
              <a:rPr lang="sv-SE" sz="1200" dirty="0"/>
              <a:t> </a:t>
            </a:r>
            <a:r>
              <a:rPr lang="sv-SE" sz="1200" u="sng" dirty="0"/>
              <a:t>not</a:t>
            </a:r>
            <a:r>
              <a:rPr lang="sv-SE" sz="1200" dirty="0"/>
              <a:t> be </a:t>
            </a:r>
            <a:r>
              <a:rPr lang="sv-SE" sz="1200" dirty="0" err="1"/>
              <a:t>appropriate</a:t>
            </a:r>
            <a:r>
              <a:rPr lang="sv-SE" sz="1200" dirty="0"/>
              <a:t> to </a:t>
            </a:r>
            <a:r>
              <a:rPr lang="sv-SE" sz="1200" dirty="0" err="1"/>
              <a:t>remove</a:t>
            </a:r>
            <a:r>
              <a:rPr lang="sv-SE" sz="1200" dirty="0"/>
              <a:t> </a:t>
            </a:r>
            <a:r>
              <a:rPr lang="sv-SE" sz="1200" dirty="0" err="1"/>
              <a:t>details</a:t>
            </a:r>
            <a:r>
              <a:rPr lang="sv-SE" sz="1200" dirty="0"/>
              <a:t> </a:t>
            </a:r>
            <a:r>
              <a:rPr lang="sv-SE" sz="1200" dirty="0" err="1"/>
              <a:t>of</a:t>
            </a:r>
            <a:r>
              <a:rPr lang="sv-SE" sz="1200" dirty="0"/>
              <a:t> </a:t>
            </a:r>
            <a:r>
              <a:rPr lang="sv-SE" sz="1200" dirty="0" err="1"/>
              <a:t>drug</a:t>
            </a:r>
            <a:r>
              <a:rPr lang="sv-SE" sz="1200" dirty="0"/>
              <a:t> </a:t>
            </a:r>
            <a:r>
              <a:rPr lang="sv-SE" sz="1200" dirty="0" err="1"/>
              <a:t>use</a:t>
            </a:r>
            <a:r>
              <a:rPr lang="sv-SE" sz="1200" dirty="0"/>
              <a:t>. </a:t>
            </a:r>
            <a:endParaRPr lang="sv-SE" dirty="0"/>
          </a:p>
          <a:p>
            <a:endParaRPr lang="sv-SE" dirty="0"/>
          </a:p>
          <a:p>
            <a:endParaRPr lang="sv-S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sv-S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REIDENTIFICATION RISK REMOVED WITH MODERATION AND CONSIDERATION OF RE-USABILITY AND MAINTAINING ORIGINAL ESSENCE OF DATA/MESSAGE</a:t>
            </a:r>
            <a:endParaRPr lang="sv-SE" dirty="0"/>
          </a:p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48E66-1EEF-44E1-B40D-D5321166998D}" type="slidenum">
              <a:rPr lang="sv-SE" smtClean="0"/>
              <a:t>14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515245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48E66-1EEF-44E1-B40D-D5321166998D}" type="slidenum">
              <a:rPr lang="sv-SE" smtClean="0"/>
              <a:t>15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633285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err="1"/>
              <a:t>Take</a:t>
            </a:r>
            <a:r>
              <a:rPr lang="sv-SE" dirty="0"/>
              <a:t> </a:t>
            </a:r>
            <a:r>
              <a:rPr lang="sv-SE" dirty="0" err="1"/>
              <a:t>about</a:t>
            </a:r>
            <a:r>
              <a:rPr lang="sv-SE" dirty="0"/>
              <a:t> 3 min to </a:t>
            </a:r>
            <a:r>
              <a:rPr lang="sv-SE" dirty="0" err="1"/>
              <a:t>think</a:t>
            </a:r>
            <a:r>
              <a:rPr lang="sv-SE" dirty="0"/>
              <a:t> and </a:t>
            </a:r>
            <a:r>
              <a:rPr lang="sv-SE" dirty="0" err="1"/>
              <a:t>create</a:t>
            </a:r>
            <a:r>
              <a:rPr lang="sv-SE" dirty="0"/>
              <a:t> </a:t>
            </a:r>
            <a:r>
              <a:rPr lang="sv-SE" dirty="0" err="1"/>
              <a:t>your</a:t>
            </a:r>
            <a:r>
              <a:rPr lang="sv-SE" dirty="0"/>
              <a:t> </a:t>
            </a:r>
            <a:r>
              <a:rPr lang="sv-SE" dirty="0" err="1"/>
              <a:t>pseudonymised</a:t>
            </a:r>
            <a:r>
              <a:rPr lang="sv-SE" dirty="0"/>
              <a:t> versions. 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48E66-1EEF-44E1-B40D-D5321166998D}" type="slidenum">
              <a:rPr lang="sv-SE" smtClean="0"/>
              <a:t>16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947067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006DE-1A40-63C2-EDCF-6AF9C41C9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>
            <a:extLst>
              <a:ext uri="{FF2B5EF4-FFF2-40B4-BE49-F238E27FC236}">
                <a16:creationId xmlns:a16="http://schemas.microsoft.com/office/drawing/2014/main" id="{4CB25194-DDAF-7DB2-8602-213A02E6A9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anteckningar 2">
            <a:extLst>
              <a:ext uri="{FF2B5EF4-FFF2-40B4-BE49-F238E27FC236}">
                <a16:creationId xmlns:a16="http://schemas.microsoft.com/office/drawing/2014/main" id="{C206F188-F0A5-A9CD-9052-8E8C37093D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Think </a:t>
            </a:r>
            <a:r>
              <a:rPr lang="sv-SE" dirty="0" err="1"/>
              <a:t>about</a:t>
            </a:r>
            <a:r>
              <a:rPr lang="sv-SE" dirty="0"/>
              <a:t> </a:t>
            </a:r>
            <a:r>
              <a:rPr lang="sv-SE" dirty="0" err="1"/>
              <a:t>this</a:t>
            </a:r>
            <a:r>
              <a:rPr lang="sv-SE" dirty="0"/>
              <a:t>. Do the </a:t>
            </a:r>
            <a:r>
              <a:rPr lang="sv-SE" dirty="0" err="1"/>
              <a:t>pseudonymised</a:t>
            </a:r>
            <a:r>
              <a:rPr lang="sv-SE" dirty="0"/>
              <a:t> versions look </a:t>
            </a:r>
            <a:r>
              <a:rPr lang="sv-SE" dirty="0" err="1"/>
              <a:t>good</a:t>
            </a:r>
            <a:r>
              <a:rPr lang="sv-SE" dirty="0"/>
              <a:t>? </a:t>
            </a:r>
            <a:r>
              <a:rPr lang="sv-SE" dirty="0" err="1"/>
              <a:t>Anything</a:t>
            </a:r>
            <a:r>
              <a:rPr lang="sv-SE" dirty="0"/>
              <a:t> </a:t>
            </a:r>
            <a:r>
              <a:rPr lang="sv-SE" dirty="0" err="1"/>
              <a:t>you’d</a:t>
            </a:r>
            <a:r>
              <a:rPr lang="sv-SE" dirty="0"/>
              <a:t> like to </a:t>
            </a:r>
            <a:r>
              <a:rPr lang="sv-SE" dirty="0" err="1"/>
              <a:t>add</a:t>
            </a:r>
            <a:r>
              <a:rPr lang="sv-SE" dirty="0"/>
              <a:t> or </a:t>
            </a:r>
            <a:r>
              <a:rPr lang="sv-SE" dirty="0" err="1"/>
              <a:t>change</a:t>
            </a:r>
            <a:r>
              <a:rPr lang="sv-SE" dirty="0"/>
              <a:t>?</a:t>
            </a:r>
          </a:p>
          <a:p>
            <a:endParaRPr lang="sv-S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dirty="0"/>
              <a:t>1* </a:t>
            </a:r>
            <a:r>
              <a:rPr lang="sv-SE" dirty="0" err="1"/>
              <a:t>Don’t</a:t>
            </a:r>
            <a:r>
              <a:rPr lang="sv-SE" dirty="0"/>
              <a:t> to show it as a </a:t>
            </a:r>
            <a:r>
              <a:rPr lang="sv-SE" dirty="0" err="1"/>
              <a:t>direct</a:t>
            </a:r>
            <a:r>
              <a:rPr lang="sv-SE" dirty="0"/>
              <a:t> </a:t>
            </a:r>
            <a:r>
              <a:rPr lang="sv-SE" dirty="0" err="1"/>
              <a:t>quote</a:t>
            </a:r>
            <a:r>
              <a:rPr lang="sv-SE" dirty="0"/>
              <a:t> </a:t>
            </a:r>
            <a:r>
              <a:rPr lang="sv-SE" dirty="0" err="1"/>
              <a:t>if</a:t>
            </a:r>
            <a:r>
              <a:rPr lang="sv-SE" dirty="0"/>
              <a:t> </a:t>
            </a:r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paraphrasing</a:t>
            </a:r>
            <a:r>
              <a:rPr lang="sv-SE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v-S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dirty="0"/>
              <a:t>2* </a:t>
            </a:r>
            <a:r>
              <a:rPr lang="sv-SE" dirty="0" err="1"/>
              <a:t>But</a:t>
            </a:r>
            <a:r>
              <a:rPr lang="sv-SE" dirty="0"/>
              <a:t> </a:t>
            </a:r>
            <a:r>
              <a:rPr lang="sv-SE" dirty="0" err="1"/>
              <a:t>paraphrasing</a:t>
            </a:r>
            <a:r>
              <a:rPr lang="sv-SE" dirty="0"/>
              <a:t> </a:t>
            </a:r>
            <a:r>
              <a:rPr lang="sv-SE" dirty="0" err="1"/>
              <a:t>may</a:t>
            </a:r>
            <a:r>
              <a:rPr lang="sv-SE" dirty="0"/>
              <a:t> be </a:t>
            </a:r>
            <a:r>
              <a:rPr lang="sv-SE" dirty="0" err="1"/>
              <a:t>useful</a:t>
            </a:r>
            <a:r>
              <a:rPr lang="sv-SE" dirty="0"/>
              <a:t> </a:t>
            </a:r>
            <a:r>
              <a:rPr lang="sv-SE" dirty="0" err="1"/>
              <a:t>depending</a:t>
            </a:r>
            <a:r>
              <a:rPr lang="sv-SE" dirty="0"/>
              <a:t> on the </a:t>
            </a:r>
            <a:r>
              <a:rPr lang="sv-SE" dirty="0" err="1"/>
              <a:t>type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transcription</a:t>
            </a:r>
            <a:r>
              <a:rPr lang="sv-SE" dirty="0"/>
              <a:t> </a:t>
            </a:r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using</a:t>
            </a:r>
            <a:r>
              <a:rPr lang="sv-SE" dirty="0"/>
              <a:t> (</a:t>
            </a:r>
            <a:r>
              <a:rPr lang="sv-SE" dirty="0" err="1"/>
              <a:t>verbatim</a:t>
            </a:r>
            <a:r>
              <a:rPr lang="sv-SE" dirty="0"/>
              <a:t>, </a:t>
            </a:r>
            <a:r>
              <a:rPr lang="sv-SE" dirty="0" err="1"/>
              <a:t>etc</a:t>
            </a:r>
            <a:r>
              <a:rPr lang="sv-SE" dirty="0"/>
              <a:t>), </a:t>
            </a:r>
            <a:r>
              <a:rPr lang="sv-SE" dirty="0" err="1"/>
              <a:t>whether</a:t>
            </a:r>
            <a:r>
              <a:rPr lang="sv-SE" dirty="0"/>
              <a:t> </a:t>
            </a:r>
            <a:r>
              <a:rPr lang="sv-SE" dirty="0" err="1"/>
              <a:t>you’ve</a:t>
            </a:r>
            <a:r>
              <a:rPr lang="sv-SE" dirty="0"/>
              <a:t> got a presentation, </a:t>
            </a:r>
            <a:r>
              <a:rPr lang="sv-SE" dirty="0" err="1"/>
              <a:t>article</a:t>
            </a:r>
            <a:r>
              <a:rPr lang="sv-SE" dirty="0"/>
              <a:t>, </a:t>
            </a:r>
            <a:r>
              <a:rPr lang="sv-SE" dirty="0" err="1"/>
              <a:t>report</a:t>
            </a:r>
            <a:r>
              <a:rPr lang="sv-SE" dirty="0"/>
              <a:t>, and </a:t>
            </a:r>
            <a:r>
              <a:rPr lang="sv-SE" dirty="0" err="1"/>
              <a:t>want</a:t>
            </a:r>
            <a:r>
              <a:rPr lang="sv-SE" dirty="0"/>
              <a:t> to </a:t>
            </a:r>
            <a:r>
              <a:rPr lang="sv-SE" dirty="0" err="1"/>
              <a:t>give</a:t>
            </a:r>
            <a:r>
              <a:rPr lang="sv-SE" dirty="0"/>
              <a:t> a snapshot.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v-SE" dirty="0"/>
          </a:p>
          <a:p>
            <a:endParaRPr lang="sv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1001F7E3-982D-AAE5-3F62-E41F5E21E9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48E66-1EEF-44E1-B40D-D5321166998D}" type="slidenum">
              <a:rPr lang="sv-SE" smtClean="0"/>
              <a:t>17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789084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48E66-1EEF-44E1-B40D-D5321166998D}" type="slidenum">
              <a:rPr lang="sv-SE" smtClean="0"/>
              <a:t>18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406999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48E66-1EEF-44E1-B40D-D5321166998D}" type="slidenum">
              <a:rPr lang="sv-SE" smtClean="0"/>
              <a:t>21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800689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48E66-1EEF-44E1-B40D-D5321166998D}" type="slidenum">
              <a:rPr lang="sv-SE" smtClean="0"/>
              <a:t>22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61709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Förstasi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1" y="0"/>
            <a:ext cx="9596581" cy="3661258"/>
          </a:xfrm>
          <a:prstGeom prst="rect">
            <a:avLst/>
          </a:prstGeom>
          <a:solidFill>
            <a:srgbClr val="1E39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" name="Rektangel 7"/>
          <p:cNvSpPr/>
          <p:nvPr userDrawn="1"/>
        </p:nvSpPr>
        <p:spPr>
          <a:xfrm>
            <a:off x="9596582" y="0"/>
            <a:ext cx="2595418" cy="6297283"/>
          </a:xfrm>
          <a:prstGeom prst="rect">
            <a:avLst/>
          </a:prstGeom>
          <a:solidFill>
            <a:srgbClr val="4987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9" name="Rektangel 8"/>
          <p:cNvSpPr/>
          <p:nvPr userDrawn="1"/>
        </p:nvSpPr>
        <p:spPr>
          <a:xfrm>
            <a:off x="4978400" y="3661258"/>
            <a:ext cx="4618182" cy="711109"/>
          </a:xfrm>
          <a:prstGeom prst="rect">
            <a:avLst/>
          </a:prstGeom>
          <a:solidFill>
            <a:srgbClr val="C6D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grpSp>
        <p:nvGrpSpPr>
          <p:cNvPr id="10" name="Grupp 9"/>
          <p:cNvGrpSpPr/>
          <p:nvPr userDrawn="1"/>
        </p:nvGrpSpPr>
        <p:grpSpPr>
          <a:xfrm>
            <a:off x="256941" y="6150634"/>
            <a:ext cx="11892898" cy="544874"/>
            <a:chOff x="256941" y="6150634"/>
            <a:chExt cx="11892898" cy="544874"/>
          </a:xfrm>
        </p:grpSpPr>
        <p:sp>
          <p:nvSpPr>
            <p:cNvPr id="11" name="Rektangel 10"/>
            <p:cNvSpPr/>
            <p:nvPr/>
          </p:nvSpPr>
          <p:spPr>
            <a:xfrm>
              <a:off x="2346510" y="6441592"/>
              <a:ext cx="9803329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1050" baseline="30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|    </a:t>
              </a:r>
              <a:r>
                <a:rPr lang="en-GB" sz="1050" baseline="30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Göteborgs</a:t>
              </a:r>
              <a:r>
                <a:rPr lang="en-GB" sz="1050" baseline="30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 universitet   -   Chalmers </a:t>
              </a:r>
              <a:r>
                <a:rPr lang="en-GB" sz="1050" baseline="30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tekniska</a:t>
              </a:r>
              <a:r>
                <a:rPr lang="en-GB" sz="1050" baseline="30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 </a:t>
              </a:r>
              <a:r>
                <a:rPr lang="en-GB" sz="1050" baseline="30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högskola</a:t>
              </a:r>
              <a:r>
                <a:rPr lang="en-GB" sz="1050" baseline="30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   -   </a:t>
              </a:r>
              <a:r>
                <a:rPr lang="en-GB" sz="1050" baseline="30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Karolinska</a:t>
              </a:r>
              <a:r>
                <a:rPr lang="en-GB" sz="1050" baseline="30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 </a:t>
              </a:r>
              <a:r>
                <a:rPr lang="en-GB" sz="1050" baseline="30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Institutet</a:t>
              </a:r>
              <a:r>
                <a:rPr lang="en-GB" sz="1050" baseline="30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   -   </a:t>
              </a:r>
              <a:r>
                <a:rPr lang="en-GB" sz="1050" baseline="30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Kungliga</a:t>
              </a:r>
              <a:r>
                <a:rPr lang="en-GB" sz="1050" baseline="30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 </a:t>
              </a:r>
              <a:r>
                <a:rPr lang="en-GB" sz="1050" baseline="30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Tekniska</a:t>
              </a:r>
              <a:r>
                <a:rPr lang="en-GB" sz="1050" baseline="30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 </a:t>
              </a:r>
              <a:r>
                <a:rPr lang="en-GB" sz="1050" baseline="30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högskolan</a:t>
              </a:r>
              <a:r>
                <a:rPr lang="en-GB" sz="1050" baseline="30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   -   </a:t>
              </a:r>
              <a:r>
                <a:rPr lang="en-GB" sz="1050" baseline="30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Lunds</a:t>
              </a:r>
              <a:r>
                <a:rPr lang="en-GB" sz="1050" baseline="30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 universitet   - </a:t>
              </a:r>
              <a:r>
                <a:rPr lang="en-GB" sz="1050" baseline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 </a:t>
              </a:r>
              <a:r>
                <a:rPr lang="en-GB" sz="1050" baseline="30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Stockholms</a:t>
              </a:r>
              <a:r>
                <a:rPr lang="en-GB" sz="1050" baseline="30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 universitet   -   </a:t>
              </a:r>
              <a:r>
                <a:rPr lang="en-GB" sz="1050" baseline="30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Sveriges</a:t>
              </a:r>
              <a:r>
                <a:rPr lang="en-GB" sz="1050" baseline="30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 </a:t>
              </a:r>
              <a:r>
                <a:rPr lang="en-GB" sz="1050" baseline="30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lantbruksuniversitet</a:t>
              </a:r>
              <a:r>
                <a:rPr lang="en-GB" sz="1050" baseline="30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   -   </a:t>
              </a:r>
              <a:r>
                <a:rPr lang="en-GB" sz="1050" baseline="30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Umeå</a:t>
              </a:r>
              <a:r>
                <a:rPr lang="en-GB" sz="1050" baseline="30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 universitet   -   Uppsala universitet</a:t>
              </a:r>
            </a:p>
          </p:txBody>
        </p:sp>
        <p:pic>
          <p:nvPicPr>
            <p:cNvPr id="12" name="Bildobjekt 1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941" y="6150634"/>
              <a:ext cx="2121726" cy="543523"/>
            </a:xfrm>
            <a:prstGeom prst="rect">
              <a:avLst/>
            </a:prstGeom>
          </p:spPr>
        </p:pic>
      </p:grpSp>
      <p:sp>
        <p:nvSpPr>
          <p:cNvPr id="13" name="Likbent triangel 12"/>
          <p:cNvSpPr/>
          <p:nvPr userDrawn="1"/>
        </p:nvSpPr>
        <p:spPr>
          <a:xfrm rot="5400000">
            <a:off x="-97371" y="604590"/>
            <a:ext cx="1238452" cy="1043708"/>
          </a:xfrm>
          <a:prstGeom prst="triangle">
            <a:avLst/>
          </a:prstGeom>
          <a:solidFill>
            <a:srgbClr val="E3462C"/>
          </a:solidFill>
          <a:ln w="44450" cap="rnd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Rubrik 1"/>
          <p:cNvSpPr>
            <a:spLocks noGrp="1"/>
          </p:cNvSpPr>
          <p:nvPr>
            <p:ph type="ctrTitle" hasCustomPrompt="1"/>
          </p:nvPr>
        </p:nvSpPr>
        <p:spPr>
          <a:xfrm>
            <a:off x="1162050" y="847726"/>
            <a:ext cx="7753350" cy="1114424"/>
          </a:xfrm>
        </p:spPr>
        <p:txBody>
          <a:bodyPr anchor="t">
            <a:normAutofit/>
          </a:bodyPr>
          <a:lstStyle>
            <a:lvl1pPr algn="l">
              <a:defRPr sz="4000" baseline="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Huvudrubrik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1162050" y="2010418"/>
            <a:ext cx="5124450" cy="751832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 dirty="0"/>
              <a:t>Skapare, 0000-00-00</a:t>
            </a:r>
          </a:p>
        </p:txBody>
      </p:sp>
      <p:pic>
        <p:nvPicPr>
          <p:cNvPr id="4" name="Bildobjekt 3">
            <a:hlinkClick r:id="rId3"/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7944" y="116864"/>
            <a:ext cx="496095" cy="173572"/>
          </a:xfrm>
          <a:prstGeom prst="rect">
            <a:avLst/>
          </a:prstGeom>
        </p:spPr>
      </p:pic>
      <p:sp>
        <p:nvSpPr>
          <p:cNvPr id="14" name="textruta 13"/>
          <p:cNvSpPr txBox="1"/>
          <p:nvPr userDrawn="1"/>
        </p:nvSpPr>
        <p:spPr>
          <a:xfrm>
            <a:off x="5730718" y="94804"/>
            <a:ext cx="3277226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sv-SE" sz="600" b="0" i="1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Detta verk är licensierat under en </a:t>
            </a:r>
            <a:r>
              <a:rPr lang="sv-SE" sz="6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Creative Commons Erkännande 4.0 Internationell Licens</a:t>
            </a:r>
            <a:r>
              <a:rPr lang="sv-SE" sz="6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sv-SE" sz="100" i="1" u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047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dirty="0"/>
              <a:t>Sidrubrik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 hasCustomPrompt="1"/>
          </p:nvPr>
        </p:nvSpPr>
        <p:spPr>
          <a:xfrm>
            <a:off x="838200" y="1850563"/>
            <a:ext cx="10515600" cy="456565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sv-SE" dirty="0"/>
              <a:t>Innehåll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8" name="Likbent triangel 7"/>
          <p:cNvSpPr/>
          <p:nvPr userDrawn="1"/>
        </p:nvSpPr>
        <p:spPr>
          <a:xfrm rot="5400000">
            <a:off x="-61739" y="636039"/>
            <a:ext cx="785251" cy="661772"/>
          </a:xfrm>
          <a:prstGeom prst="triangle">
            <a:avLst/>
          </a:prstGeom>
          <a:solidFill>
            <a:srgbClr val="E3462C"/>
          </a:solidFill>
          <a:ln w="44450" cap="rnd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sv-SE"/>
          </a:p>
        </p:txBody>
      </p:sp>
      <p:pic>
        <p:nvPicPr>
          <p:cNvPr id="5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7152" y="2969623"/>
            <a:ext cx="4043557" cy="3893059"/>
          </a:xfrm>
          <a:prstGeom prst="rect">
            <a:avLst/>
          </a:prstGeom>
        </p:spPr>
      </p:pic>
      <p:sp>
        <p:nvSpPr>
          <p:cNvPr id="9" name="textruta 8"/>
          <p:cNvSpPr txBox="1"/>
          <p:nvPr userDrawn="1"/>
        </p:nvSpPr>
        <p:spPr>
          <a:xfrm>
            <a:off x="161925" y="6427156"/>
            <a:ext cx="18859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100" i="0" u="none" dirty="0">
                <a:solidFill>
                  <a:schemeClr val="accent5">
                    <a:lumMod val="75000"/>
                  </a:schemeClr>
                </a:solidFill>
              </a:rPr>
              <a:t>Svensk nationell</a:t>
            </a:r>
            <a:r>
              <a:rPr lang="sv-SE" sz="1100" i="0" u="none" baseline="0" dirty="0">
                <a:solidFill>
                  <a:schemeClr val="accent5">
                    <a:lumMod val="75000"/>
                  </a:schemeClr>
                </a:solidFill>
              </a:rPr>
              <a:t> datatjänst</a:t>
            </a:r>
            <a:endParaRPr lang="sv-SE" sz="1100" i="0" u="none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textruta 9"/>
          <p:cNvSpPr txBox="1"/>
          <p:nvPr userDrawn="1"/>
        </p:nvSpPr>
        <p:spPr>
          <a:xfrm>
            <a:off x="11429999" y="6427156"/>
            <a:ext cx="4476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4BCDB30-AFBE-440D-ABBC-BDB84AF4EF47}" type="slidenum">
              <a:rPr lang="sv-SE" sz="1100" i="0" smtClean="0">
                <a:solidFill>
                  <a:schemeClr val="accent5">
                    <a:lumMod val="75000"/>
                  </a:schemeClr>
                </a:solidFill>
              </a:rPr>
              <a:pPr algn="r"/>
              <a:t>‹#›</a:t>
            </a:fld>
            <a:endParaRPr lang="sv-SE" sz="1100" i="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1" name="Rak koppling 10"/>
          <p:cNvCxnSpPr/>
          <p:nvPr userDrawn="1"/>
        </p:nvCxnSpPr>
        <p:spPr>
          <a:xfrm flipV="1">
            <a:off x="2111613" y="6553200"/>
            <a:ext cx="9305925" cy="23811"/>
          </a:xfrm>
          <a:prstGeom prst="line">
            <a:avLst/>
          </a:prstGeom>
          <a:ln w="31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789876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utan symb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kbent triangel 2"/>
          <p:cNvSpPr/>
          <p:nvPr userDrawn="1"/>
        </p:nvSpPr>
        <p:spPr>
          <a:xfrm rot="5400000">
            <a:off x="-61739" y="636039"/>
            <a:ext cx="785251" cy="661772"/>
          </a:xfrm>
          <a:prstGeom prst="triangle">
            <a:avLst/>
          </a:prstGeom>
          <a:solidFill>
            <a:srgbClr val="E3462C"/>
          </a:solidFill>
          <a:ln w="44450" cap="rnd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sv-SE"/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847850"/>
            <a:ext cx="10515600" cy="455294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sv-SE" dirty="0"/>
              <a:t>Innehåll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7" name="Rubrik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dirty="0"/>
              <a:t>Sidrubrik</a:t>
            </a:r>
          </a:p>
        </p:txBody>
      </p:sp>
      <p:sp>
        <p:nvSpPr>
          <p:cNvPr id="6" name="textruta 5"/>
          <p:cNvSpPr txBox="1"/>
          <p:nvPr userDrawn="1"/>
        </p:nvSpPr>
        <p:spPr>
          <a:xfrm>
            <a:off x="161925" y="6427156"/>
            <a:ext cx="18859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100" i="0" u="none" dirty="0">
                <a:solidFill>
                  <a:schemeClr val="accent5">
                    <a:lumMod val="75000"/>
                  </a:schemeClr>
                </a:solidFill>
              </a:rPr>
              <a:t>Svensk nationell</a:t>
            </a:r>
            <a:r>
              <a:rPr lang="sv-SE" sz="1100" i="0" u="none" baseline="0" dirty="0">
                <a:solidFill>
                  <a:schemeClr val="accent5">
                    <a:lumMod val="75000"/>
                  </a:schemeClr>
                </a:solidFill>
              </a:rPr>
              <a:t> datatjänst</a:t>
            </a:r>
            <a:endParaRPr lang="sv-SE" sz="1100" i="0" u="none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textruta 7"/>
          <p:cNvSpPr txBox="1"/>
          <p:nvPr userDrawn="1"/>
        </p:nvSpPr>
        <p:spPr>
          <a:xfrm>
            <a:off x="11429999" y="6427156"/>
            <a:ext cx="4476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4BCDB30-AFBE-440D-ABBC-BDB84AF4EF47}" type="slidenum">
              <a:rPr lang="sv-SE" sz="1100" i="0" smtClean="0">
                <a:solidFill>
                  <a:schemeClr val="accent5">
                    <a:lumMod val="75000"/>
                  </a:schemeClr>
                </a:solidFill>
              </a:rPr>
              <a:pPr algn="r"/>
              <a:t>‹#›</a:t>
            </a:fld>
            <a:endParaRPr lang="sv-SE" sz="1100" i="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9" name="Rak koppling 8"/>
          <p:cNvCxnSpPr/>
          <p:nvPr userDrawn="1"/>
        </p:nvCxnSpPr>
        <p:spPr>
          <a:xfrm flipV="1">
            <a:off x="2111613" y="6553200"/>
            <a:ext cx="9305925" cy="23811"/>
          </a:xfrm>
          <a:prstGeom prst="line">
            <a:avLst/>
          </a:prstGeom>
          <a:ln w="31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4855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 slide med symb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objekt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7152" y="2969623"/>
            <a:ext cx="4043557" cy="3893059"/>
          </a:xfrm>
          <a:prstGeom prst="rect">
            <a:avLst/>
          </a:prstGeom>
        </p:spPr>
      </p:pic>
      <p:sp>
        <p:nvSpPr>
          <p:cNvPr id="5" name="textruta 4"/>
          <p:cNvSpPr txBox="1"/>
          <p:nvPr userDrawn="1"/>
        </p:nvSpPr>
        <p:spPr>
          <a:xfrm>
            <a:off x="161925" y="6427156"/>
            <a:ext cx="18859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100" i="0" u="none" dirty="0">
                <a:solidFill>
                  <a:schemeClr val="accent5">
                    <a:lumMod val="75000"/>
                  </a:schemeClr>
                </a:solidFill>
              </a:rPr>
              <a:t>Svensk nationell</a:t>
            </a:r>
            <a:r>
              <a:rPr lang="sv-SE" sz="1100" i="0" u="none" baseline="0" dirty="0">
                <a:solidFill>
                  <a:schemeClr val="accent5">
                    <a:lumMod val="75000"/>
                  </a:schemeClr>
                </a:solidFill>
              </a:rPr>
              <a:t> datatjänst</a:t>
            </a:r>
            <a:endParaRPr lang="sv-SE" sz="1100" i="0" u="none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textruta 5"/>
          <p:cNvSpPr txBox="1"/>
          <p:nvPr userDrawn="1"/>
        </p:nvSpPr>
        <p:spPr>
          <a:xfrm>
            <a:off x="11429999" y="6427156"/>
            <a:ext cx="4476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4BCDB30-AFBE-440D-ABBC-BDB84AF4EF47}" type="slidenum">
              <a:rPr lang="sv-SE" sz="1100" i="0" smtClean="0">
                <a:solidFill>
                  <a:schemeClr val="accent5">
                    <a:lumMod val="75000"/>
                  </a:schemeClr>
                </a:solidFill>
              </a:rPr>
              <a:pPr algn="r"/>
              <a:t>‹#›</a:t>
            </a:fld>
            <a:endParaRPr lang="sv-SE" sz="1100" i="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7" name="Rak koppling 6"/>
          <p:cNvCxnSpPr/>
          <p:nvPr userDrawn="1"/>
        </p:nvCxnSpPr>
        <p:spPr>
          <a:xfrm flipV="1">
            <a:off x="2111613" y="6553200"/>
            <a:ext cx="9305925" cy="23811"/>
          </a:xfrm>
          <a:prstGeom prst="line">
            <a:avLst/>
          </a:prstGeom>
          <a:ln w="31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3751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st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/>
          <p:cNvSpPr/>
          <p:nvPr userDrawn="1"/>
        </p:nvSpPr>
        <p:spPr>
          <a:xfrm>
            <a:off x="0" y="0"/>
            <a:ext cx="12192000" cy="1828801"/>
          </a:xfrm>
          <a:prstGeom prst="rect">
            <a:avLst/>
          </a:prstGeom>
          <a:solidFill>
            <a:srgbClr val="4987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" name="Rektangel 3"/>
          <p:cNvSpPr/>
          <p:nvPr userDrawn="1"/>
        </p:nvSpPr>
        <p:spPr>
          <a:xfrm>
            <a:off x="6362998" y="1828799"/>
            <a:ext cx="5829001" cy="4390845"/>
          </a:xfrm>
          <a:prstGeom prst="rect">
            <a:avLst/>
          </a:prstGeom>
          <a:solidFill>
            <a:srgbClr val="1E39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" name="Likbent triangel 4"/>
          <p:cNvSpPr/>
          <p:nvPr userDrawn="1"/>
        </p:nvSpPr>
        <p:spPr>
          <a:xfrm rot="5400000" flipV="1">
            <a:off x="11030019" y="2676980"/>
            <a:ext cx="1261137" cy="1062826"/>
          </a:xfrm>
          <a:prstGeom prst="triangle">
            <a:avLst/>
          </a:prstGeom>
          <a:solidFill>
            <a:srgbClr val="E3462C"/>
          </a:solidFill>
          <a:ln w="44450" cap="rnd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" name="Rektangel 5"/>
          <p:cNvSpPr/>
          <p:nvPr userDrawn="1"/>
        </p:nvSpPr>
        <p:spPr>
          <a:xfrm>
            <a:off x="4087369" y="1828800"/>
            <a:ext cx="2275630" cy="2816352"/>
          </a:xfrm>
          <a:prstGeom prst="rect">
            <a:avLst/>
          </a:prstGeom>
          <a:solidFill>
            <a:srgbClr val="C6D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7" name="Bildobjekt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936" y="6148435"/>
            <a:ext cx="2121726" cy="543523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9047181" y="2867025"/>
            <a:ext cx="1996268" cy="71437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Slutord</a:t>
            </a:r>
          </a:p>
        </p:txBody>
      </p:sp>
      <p:sp>
        <p:nvSpPr>
          <p:cNvPr id="11" name="Platshållare för text 10"/>
          <p:cNvSpPr>
            <a:spLocks noGrp="1"/>
          </p:cNvSpPr>
          <p:nvPr>
            <p:ph type="body" sz="quarter" idx="10" hasCustomPrompt="1"/>
          </p:nvPr>
        </p:nvSpPr>
        <p:spPr>
          <a:xfrm>
            <a:off x="9047181" y="3803349"/>
            <a:ext cx="2066925" cy="73314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66700" indent="0" algn="l">
              <a:buNone/>
              <a:defRPr/>
            </a:lvl2pPr>
          </a:lstStyle>
          <a:p>
            <a:pPr lvl="0"/>
            <a:r>
              <a:rPr lang="sv-SE" dirty="0"/>
              <a:t>Namn</a:t>
            </a:r>
          </a:p>
        </p:txBody>
      </p:sp>
      <p:sp>
        <p:nvSpPr>
          <p:cNvPr id="13" name="Platshållare för text 12"/>
          <p:cNvSpPr>
            <a:spLocks noGrp="1"/>
          </p:cNvSpPr>
          <p:nvPr>
            <p:ph type="body" sz="quarter" idx="11" hasCustomPrompt="1"/>
          </p:nvPr>
        </p:nvSpPr>
        <p:spPr>
          <a:xfrm>
            <a:off x="9047180" y="4755565"/>
            <a:ext cx="2066925" cy="438434"/>
          </a:xfrm>
        </p:spPr>
        <p:txBody>
          <a:bodyPr>
            <a:normAutofit/>
          </a:bodyPr>
          <a:lstStyle>
            <a:lvl1pPr marL="0" indent="0">
              <a:buNone/>
              <a:defRPr sz="1050" i="1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sv-SE" dirty="0"/>
              <a:t>E-post</a:t>
            </a:r>
          </a:p>
        </p:txBody>
      </p:sp>
      <p:sp>
        <p:nvSpPr>
          <p:cNvPr id="15" name="Platshållare för text 14"/>
          <p:cNvSpPr>
            <a:spLocks noGrp="1"/>
          </p:cNvSpPr>
          <p:nvPr>
            <p:ph type="body" sz="quarter" idx="12" hasCustomPrompt="1"/>
          </p:nvPr>
        </p:nvSpPr>
        <p:spPr>
          <a:xfrm>
            <a:off x="9047181" y="5241624"/>
            <a:ext cx="2066925" cy="352425"/>
          </a:xfrm>
        </p:spPr>
        <p:txBody>
          <a:bodyPr>
            <a:noAutofit/>
          </a:bodyPr>
          <a:lstStyle>
            <a:lvl1pPr marL="0" indent="0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pPr lvl="0"/>
            <a:r>
              <a:rPr lang="sv-SE" dirty="0"/>
              <a:t>Hemsida</a:t>
            </a:r>
          </a:p>
        </p:txBody>
      </p:sp>
      <p:sp>
        <p:nvSpPr>
          <p:cNvPr id="12" name="Rektangel 11"/>
          <p:cNvSpPr/>
          <p:nvPr userDrawn="1"/>
        </p:nvSpPr>
        <p:spPr>
          <a:xfrm>
            <a:off x="2346510" y="6441592"/>
            <a:ext cx="980332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05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|    </a:t>
            </a:r>
            <a:r>
              <a:rPr lang="en-GB" sz="1050" baseline="30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Göteborgs</a:t>
            </a:r>
            <a:r>
              <a:rPr lang="en-GB" sz="105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universitet   -   Chalmers </a:t>
            </a:r>
            <a:r>
              <a:rPr lang="en-GB" sz="1050" baseline="30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tekniska</a:t>
            </a:r>
            <a:r>
              <a:rPr lang="en-GB" sz="105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GB" sz="1050" baseline="30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högskola</a:t>
            </a:r>
            <a:r>
              <a:rPr lang="en-GB" sz="105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  -   </a:t>
            </a:r>
            <a:r>
              <a:rPr lang="en-GB" sz="1050" baseline="30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Karolinska</a:t>
            </a:r>
            <a:r>
              <a:rPr lang="en-GB" sz="105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GB" sz="1050" baseline="30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Institutet</a:t>
            </a:r>
            <a:r>
              <a:rPr lang="en-GB" sz="105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  -   </a:t>
            </a:r>
            <a:r>
              <a:rPr lang="en-GB" sz="1050" baseline="30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Kungliga</a:t>
            </a:r>
            <a:r>
              <a:rPr lang="en-GB" sz="105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GB" sz="1050" baseline="30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Tekniska</a:t>
            </a:r>
            <a:r>
              <a:rPr lang="en-GB" sz="105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GB" sz="1050" baseline="30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högskolan</a:t>
            </a:r>
            <a:r>
              <a:rPr lang="en-GB" sz="105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  -   </a:t>
            </a:r>
            <a:r>
              <a:rPr lang="en-GB" sz="1050" baseline="30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Lunds</a:t>
            </a:r>
            <a:r>
              <a:rPr lang="en-GB" sz="105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universitet   - </a:t>
            </a:r>
            <a:r>
              <a:rPr lang="en-GB" sz="105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GB" sz="1050" baseline="30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Stockholms</a:t>
            </a:r>
            <a:r>
              <a:rPr lang="en-GB" sz="105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universitet   -   </a:t>
            </a:r>
            <a:r>
              <a:rPr lang="en-GB" sz="1050" baseline="30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Sveriges</a:t>
            </a:r>
            <a:r>
              <a:rPr lang="en-GB" sz="105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GB" sz="1050" baseline="30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lantbruksuniversitet</a:t>
            </a:r>
            <a:r>
              <a:rPr lang="en-GB" sz="105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  -   </a:t>
            </a:r>
            <a:r>
              <a:rPr lang="en-GB" sz="1050" baseline="30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Umeå</a:t>
            </a:r>
            <a:r>
              <a:rPr lang="en-GB" sz="105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universitet   -   Uppsala universitet</a:t>
            </a:r>
          </a:p>
        </p:txBody>
      </p:sp>
    </p:spTree>
    <p:extLst>
      <p:ext uri="{BB962C8B-B14F-4D97-AF65-F5344CB8AC3E}">
        <p14:creationId xmlns:p14="http://schemas.microsoft.com/office/powerpoint/2010/main" val="219842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7DD3E8E-65A1-487C-B2D5-63E276E09175}" type="datetimeFigureOut">
              <a:rPr lang="sv-SE" smtClean="0"/>
              <a:t>2026-05-18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4EA011-58C4-44DC-84B1-FAEE919DBCE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6292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7DD3E8E-65A1-487C-B2D5-63E276E09175}" type="datetimeFigureOut">
              <a:rPr lang="sv-SE" smtClean="0"/>
              <a:t>2026-05-18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4EA011-58C4-44DC-84B1-FAEE919DBCE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81267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7DD3E8E-65A1-487C-B2D5-63E276E09175}" type="datetimeFigureOut">
              <a:rPr lang="sv-SE" smtClean="0"/>
              <a:t>2026-05-18</a:t>
            </a:fld>
            <a:endParaRPr lang="sv-SE"/>
          </a:p>
        </p:txBody>
      </p:sp>
      <p:sp>
        <p:nvSpPr>
          <p:cNvPr id="8" name="Platshållare för sidfot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9" name="Platshållare för bildnumm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4EA011-58C4-44DC-84B1-FAEE919DBCE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84760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7DD3E8E-65A1-487C-B2D5-63E276E09175}" type="datetimeFigureOut">
              <a:rPr lang="sv-SE" smtClean="0"/>
              <a:t>2026-05-18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4EA011-58C4-44DC-84B1-FAEE919DBCE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14895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7DD3E8E-65A1-487C-B2D5-63E276E09175}" type="datetimeFigureOut">
              <a:rPr lang="sv-SE" smtClean="0"/>
              <a:t>2026-05-18</a:t>
            </a:fld>
            <a:endParaRPr lang="sv-SE"/>
          </a:p>
        </p:txBody>
      </p:sp>
      <p:sp>
        <p:nvSpPr>
          <p:cNvPr id="3" name="Platshållare för sidfot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4EA011-58C4-44DC-84B1-FAEE919DBCE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97891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7DD3E8E-65A1-487C-B2D5-63E276E09175}" type="datetimeFigureOut">
              <a:rPr lang="sv-SE" smtClean="0"/>
              <a:t>2026-05-18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4EA011-58C4-44DC-84B1-FAEE919DBCE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50895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7DD3E8E-65A1-487C-B2D5-63E276E09175}" type="datetimeFigureOut">
              <a:rPr lang="sv-SE" smtClean="0"/>
              <a:t>2026-05-18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4EA011-58C4-44DC-84B1-FAEE919DBCE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565854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7DD3E8E-65A1-487C-B2D5-63E276E09175}" type="datetimeFigureOut">
              <a:rPr lang="sv-SE" smtClean="0"/>
              <a:t>2026-05-18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4EA011-58C4-44DC-84B1-FAEE919DBCE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01821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7DD3E8E-65A1-487C-B2D5-63E276E09175}" type="datetimeFigureOut">
              <a:rPr lang="sv-SE" smtClean="0"/>
              <a:t>2026-05-18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4EA011-58C4-44DC-84B1-FAEE919DBCE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304477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mpty slide with symb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objekt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7152" y="2969623"/>
            <a:ext cx="4043557" cy="3893059"/>
          </a:xfrm>
          <a:prstGeom prst="rect">
            <a:avLst/>
          </a:prstGeom>
        </p:spPr>
      </p:pic>
      <p:sp>
        <p:nvSpPr>
          <p:cNvPr id="5" name="textruta 4"/>
          <p:cNvSpPr txBox="1"/>
          <p:nvPr userDrawn="1"/>
        </p:nvSpPr>
        <p:spPr>
          <a:xfrm>
            <a:off x="161924" y="6427156"/>
            <a:ext cx="21198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100" i="0" u="none" dirty="0">
                <a:solidFill>
                  <a:schemeClr val="accent5">
                    <a:lumMod val="75000"/>
                  </a:schemeClr>
                </a:solidFill>
              </a:rPr>
              <a:t>Swedish National Data</a:t>
            </a:r>
            <a:r>
              <a:rPr lang="sv-SE" sz="1100" i="0" u="none" baseline="0" dirty="0">
                <a:solidFill>
                  <a:schemeClr val="accent5">
                    <a:lumMod val="75000"/>
                  </a:schemeClr>
                </a:solidFill>
              </a:rPr>
              <a:t> Service</a:t>
            </a:r>
            <a:endParaRPr lang="sv-SE" sz="1100" i="0" u="none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6" name="Rak koppling 5"/>
          <p:cNvCxnSpPr/>
          <p:nvPr userDrawn="1"/>
        </p:nvCxnSpPr>
        <p:spPr>
          <a:xfrm flipV="1">
            <a:off x="2392822" y="6553201"/>
            <a:ext cx="9024716" cy="23090"/>
          </a:xfrm>
          <a:prstGeom prst="line">
            <a:avLst/>
          </a:prstGeom>
          <a:ln w="31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ruta 6"/>
          <p:cNvSpPr txBox="1"/>
          <p:nvPr userDrawn="1"/>
        </p:nvSpPr>
        <p:spPr>
          <a:xfrm>
            <a:off x="11429999" y="6427156"/>
            <a:ext cx="4476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4BCDB30-AFBE-440D-ABBC-BDB84AF4EF47}" type="slidenum">
              <a:rPr lang="sv-SE" sz="1100" i="0" smtClean="0">
                <a:solidFill>
                  <a:schemeClr val="accent5">
                    <a:lumMod val="75000"/>
                  </a:schemeClr>
                </a:solidFill>
              </a:rPr>
              <a:pPr algn="r"/>
              <a:t>‹#›</a:t>
            </a:fld>
            <a:endParaRPr lang="sv-SE" sz="1100" i="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88782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page no symb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kbent triangel 2"/>
          <p:cNvSpPr/>
          <p:nvPr userDrawn="1"/>
        </p:nvSpPr>
        <p:spPr>
          <a:xfrm rot="5400000">
            <a:off x="-61739" y="636039"/>
            <a:ext cx="785251" cy="661772"/>
          </a:xfrm>
          <a:prstGeom prst="triangle">
            <a:avLst/>
          </a:prstGeom>
          <a:solidFill>
            <a:srgbClr val="E3462C"/>
          </a:solidFill>
          <a:ln w="44450" cap="rnd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sv-SE"/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847850"/>
            <a:ext cx="10515600" cy="455294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sv-SE" dirty="0" err="1"/>
              <a:t>Subheading</a:t>
            </a:r>
            <a:endParaRPr lang="sv-SE" dirty="0"/>
          </a:p>
          <a:p>
            <a:pPr lvl="1"/>
            <a:r>
              <a:rPr lang="sv-SE" dirty="0" err="1"/>
              <a:t>Content</a:t>
            </a:r>
            <a:endParaRPr lang="sv-SE" dirty="0"/>
          </a:p>
          <a:p>
            <a:pPr lvl="2"/>
            <a:r>
              <a:rPr lang="sv-SE" dirty="0" err="1"/>
              <a:t>Content</a:t>
            </a:r>
            <a:endParaRPr lang="sv-SE" dirty="0"/>
          </a:p>
          <a:p>
            <a:pPr lvl="3"/>
            <a:r>
              <a:rPr lang="sv-SE" dirty="0" err="1"/>
              <a:t>Content</a:t>
            </a:r>
            <a:endParaRPr lang="sv-SE" dirty="0"/>
          </a:p>
          <a:p>
            <a:pPr lvl="4"/>
            <a:r>
              <a:rPr lang="sv-SE" dirty="0" err="1"/>
              <a:t>Content</a:t>
            </a:r>
            <a:endParaRPr lang="sv-SE" dirty="0"/>
          </a:p>
        </p:txBody>
      </p:sp>
      <p:sp>
        <p:nvSpPr>
          <p:cNvPr id="7" name="Rubrik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dirty="0"/>
              <a:t>Page </a:t>
            </a:r>
            <a:r>
              <a:rPr lang="sv-SE" dirty="0" err="1"/>
              <a:t>title</a:t>
            </a:r>
            <a:endParaRPr lang="sv-SE" dirty="0"/>
          </a:p>
        </p:txBody>
      </p:sp>
      <p:sp>
        <p:nvSpPr>
          <p:cNvPr id="6" name="textruta 5"/>
          <p:cNvSpPr txBox="1"/>
          <p:nvPr userDrawn="1"/>
        </p:nvSpPr>
        <p:spPr>
          <a:xfrm>
            <a:off x="161924" y="6427156"/>
            <a:ext cx="21198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100" i="0" u="none" dirty="0">
                <a:solidFill>
                  <a:schemeClr val="accent5">
                    <a:lumMod val="75000"/>
                  </a:schemeClr>
                </a:solidFill>
              </a:rPr>
              <a:t>Swedish National Data</a:t>
            </a:r>
            <a:r>
              <a:rPr lang="sv-SE" sz="1100" i="0" u="none" baseline="0" dirty="0">
                <a:solidFill>
                  <a:schemeClr val="accent5">
                    <a:lumMod val="75000"/>
                  </a:schemeClr>
                </a:solidFill>
              </a:rPr>
              <a:t> Service</a:t>
            </a:r>
            <a:endParaRPr lang="sv-SE" sz="1100" i="0" u="none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textruta 7"/>
          <p:cNvSpPr txBox="1"/>
          <p:nvPr userDrawn="1"/>
        </p:nvSpPr>
        <p:spPr>
          <a:xfrm>
            <a:off x="11429999" y="6427156"/>
            <a:ext cx="4476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4BCDB30-AFBE-440D-ABBC-BDB84AF4EF47}" type="slidenum">
              <a:rPr lang="sv-SE" sz="1100" i="0" smtClean="0">
                <a:solidFill>
                  <a:schemeClr val="accent5">
                    <a:lumMod val="75000"/>
                  </a:schemeClr>
                </a:solidFill>
              </a:rPr>
              <a:pPr algn="r"/>
              <a:t>‹#›</a:t>
            </a:fld>
            <a:endParaRPr lang="sv-SE" sz="1100" i="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9" name="Rak koppling 8"/>
          <p:cNvCxnSpPr/>
          <p:nvPr userDrawn="1"/>
        </p:nvCxnSpPr>
        <p:spPr>
          <a:xfrm flipV="1">
            <a:off x="2392822" y="6553201"/>
            <a:ext cx="9024716" cy="23090"/>
          </a:xfrm>
          <a:prstGeom prst="line">
            <a:avLst/>
          </a:prstGeom>
          <a:ln w="31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76021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ildobjekt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62" y="6148784"/>
            <a:ext cx="2245190" cy="537056"/>
          </a:xfrm>
          <a:prstGeom prst="rect">
            <a:avLst/>
          </a:prstGeom>
        </p:spPr>
      </p:pic>
      <p:sp>
        <p:nvSpPr>
          <p:cNvPr id="3" name="Rektangel 2"/>
          <p:cNvSpPr/>
          <p:nvPr userDrawn="1"/>
        </p:nvSpPr>
        <p:spPr>
          <a:xfrm>
            <a:off x="0" y="0"/>
            <a:ext cx="12192000" cy="1828801"/>
          </a:xfrm>
          <a:prstGeom prst="rect">
            <a:avLst/>
          </a:prstGeom>
          <a:solidFill>
            <a:srgbClr val="4987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" name="Rektangel 3"/>
          <p:cNvSpPr/>
          <p:nvPr userDrawn="1"/>
        </p:nvSpPr>
        <p:spPr>
          <a:xfrm>
            <a:off x="6362998" y="1828799"/>
            <a:ext cx="5829001" cy="4390845"/>
          </a:xfrm>
          <a:prstGeom prst="rect">
            <a:avLst/>
          </a:prstGeom>
          <a:solidFill>
            <a:srgbClr val="1E39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" name="Likbent triangel 4"/>
          <p:cNvSpPr/>
          <p:nvPr userDrawn="1"/>
        </p:nvSpPr>
        <p:spPr>
          <a:xfrm rot="5400000" flipV="1">
            <a:off x="11030019" y="2676980"/>
            <a:ext cx="1261137" cy="1062826"/>
          </a:xfrm>
          <a:prstGeom prst="triangle">
            <a:avLst/>
          </a:prstGeom>
          <a:solidFill>
            <a:srgbClr val="E3462C"/>
          </a:solidFill>
          <a:ln w="44450" cap="rnd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" name="Rektangel 5"/>
          <p:cNvSpPr/>
          <p:nvPr userDrawn="1"/>
        </p:nvSpPr>
        <p:spPr>
          <a:xfrm>
            <a:off x="4087369" y="1828800"/>
            <a:ext cx="2275630" cy="2816352"/>
          </a:xfrm>
          <a:prstGeom prst="rect">
            <a:avLst/>
          </a:prstGeom>
          <a:solidFill>
            <a:srgbClr val="C6D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7890933" y="2867025"/>
            <a:ext cx="3152516" cy="71437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Final </a:t>
            </a:r>
            <a:r>
              <a:rPr lang="sv-SE" dirty="0" err="1"/>
              <a:t>words</a:t>
            </a:r>
            <a:endParaRPr lang="sv-SE" dirty="0"/>
          </a:p>
        </p:txBody>
      </p:sp>
      <p:sp>
        <p:nvSpPr>
          <p:cNvPr id="11" name="Platshållare för text 10"/>
          <p:cNvSpPr>
            <a:spLocks noGrp="1"/>
          </p:cNvSpPr>
          <p:nvPr>
            <p:ph type="body" sz="quarter" idx="10" hasCustomPrompt="1"/>
          </p:nvPr>
        </p:nvSpPr>
        <p:spPr>
          <a:xfrm>
            <a:off x="7890933" y="3815005"/>
            <a:ext cx="2917093" cy="551292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66700" indent="0" algn="l">
              <a:buNone/>
              <a:defRPr/>
            </a:lvl2pPr>
          </a:lstStyle>
          <a:p>
            <a:pPr lvl="0"/>
            <a:r>
              <a:rPr lang="sv-SE" dirty="0" err="1"/>
              <a:t>Name</a:t>
            </a:r>
            <a:endParaRPr lang="sv-SE" dirty="0"/>
          </a:p>
        </p:txBody>
      </p:sp>
      <p:sp>
        <p:nvSpPr>
          <p:cNvPr id="13" name="Platshållare för text 12"/>
          <p:cNvSpPr>
            <a:spLocks noGrp="1"/>
          </p:cNvSpPr>
          <p:nvPr>
            <p:ph type="body" sz="quarter" idx="11" hasCustomPrompt="1"/>
          </p:nvPr>
        </p:nvSpPr>
        <p:spPr>
          <a:xfrm>
            <a:off x="7890933" y="4370841"/>
            <a:ext cx="2917093" cy="438434"/>
          </a:xfrm>
        </p:spPr>
        <p:txBody>
          <a:bodyPr>
            <a:normAutofit/>
          </a:bodyPr>
          <a:lstStyle>
            <a:lvl1pPr marL="0" indent="0">
              <a:buNone/>
              <a:defRPr sz="1050" i="1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sv-SE" dirty="0"/>
              <a:t>E-mail</a:t>
            </a:r>
          </a:p>
        </p:txBody>
      </p:sp>
      <p:sp>
        <p:nvSpPr>
          <p:cNvPr id="15" name="Platshållare för text 14"/>
          <p:cNvSpPr>
            <a:spLocks noGrp="1"/>
          </p:cNvSpPr>
          <p:nvPr>
            <p:ph type="body" sz="quarter" idx="12" hasCustomPrompt="1"/>
          </p:nvPr>
        </p:nvSpPr>
        <p:spPr>
          <a:xfrm>
            <a:off x="7890933" y="4809275"/>
            <a:ext cx="2917093" cy="352425"/>
          </a:xfrm>
        </p:spPr>
        <p:txBody>
          <a:bodyPr>
            <a:noAutofit/>
          </a:bodyPr>
          <a:lstStyle>
            <a:lvl1pPr marL="0" indent="0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pPr lvl="0"/>
            <a:r>
              <a:rPr lang="sv-SE" dirty="0" err="1"/>
              <a:t>Website</a:t>
            </a:r>
            <a:endParaRPr lang="sv-SE" dirty="0"/>
          </a:p>
        </p:txBody>
      </p:sp>
      <p:sp>
        <p:nvSpPr>
          <p:cNvPr id="12" name="Rektangel 11"/>
          <p:cNvSpPr/>
          <p:nvPr userDrawn="1"/>
        </p:nvSpPr>
        <p:spPr>
          <a:xfrm>
            <a:off x="2418542" y="6453248"/>
            <a:ext cx="96815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|     University of Gothenburg   -   Chalmers University of Technology   -   </a:t>
            </a:r>
            <a:r>
              <a:rPr lang="en-GB" sz="900" baseline="30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Karolinska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GB" sz="900" baseline="30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Institutet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   -   KTH Royal Institute of Technology   -   Lund University </a:t>
            </a:r>
            <a:r>
              <a:rPr lang="en-GB" sz="9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 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-    Stockholm University    -    Swedish University of Agricultural Sciences   -    </a:t>
            </a:r>
            <a:r>
              <a:rPr lang="en-GB" sz="900" baseline="30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Umeå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University   -    Uppsala University</a:t>
            </a:r>
          </a:p>
        </p:txBody>
      </p:sp>
    </p:spTree>
    <p:extLst>
      <p:ext uri="{BB962C8B-B14F-4D97-AF65-F5344CB8AC3E}">
        <p14:creationId xmlns:p14="http://schemas.microsoft.com/office/powerpoint/2010/main" val="2844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 dirty="0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8200" y="1835149"/>
            <a:ext cx="10515600" cy="4546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 dirty="0"/>
              <a:t>Redigera format för bakgrundstext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9" name="Platshållare för sidfot 8"/>
          <p:cNvSpPr>
            <a:spLocks noGrp="1"/>
          </p:cNvSpPr>
          <p:nvPr>
            <p:ph type="ftr" sz="quarter" idx="3"/>
          </p:nvPr>
        </p:nvSpPr>
        <p:spPr>
          <a:xfrm>
            <a:off x="838200" y="6400799"/>
            <a:ext cx="10515600" cy="327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464740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3" r:id="rId3"/>
    <p:sldLayoutId id="2147483675" r:id="rId4"/>
    <p:sldLayoutId id="214748367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6" r:id="rId15"/>
    <p:sldLayoutId id="2147483677" r:id="rId16"/>
    <p:sldLayoutId id="2147483678" r:id="rId17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3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47675" indent="-180975" algn="l" defTabSz="914400" rtl="0" eaLnBrk="1" latinLnBrk="0" hangingPunct="1">
        <a:lnSpc>
          <a:spcPct val="10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14375" indent="-171450" algn="l" defTabSz="914400" rtl="0" eaLnBrk="1" latinLnBrk="0" hangingPunct="1">
        <a:lnSpc>
          <a:spcPct val="10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tabLst>
          <a:tab pos="714375" algn="l"/>
        </a:tabLst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90600" indent="-180975" algn="l" defTabSz="914400" rtl="0" eaLnBrk="1" latinLnBrk="0" hangingPunct="1">
        <a:lnSpc>
          <a:spcPct val="10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57300" indent="-180975" algn="l" defTabSz="914400" rtl="0" eaLnBrk="1" latinLnBrk="0" hangingPunct="1">
        <a:lnSpc>
          <a:spcPct val="10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hyperlink" Target="https://www.shopify.com/stock-photos/@matthew_henry" TargetMode="External"/><Relationship Id="rId4" Type="http://schemas.openxmlformats.org/officeDocument/2006/relationships/diagramLayout" Target="../diagrams/layout1.xml"/><Relationship Id="rId9" Type="http://schemas.openxmlformats.org/officeDocument/2006/relationships/hyperlink" Target="https://www.piqsels.com/sv/public-domain-photo-zkagq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ixabay.com/en/question-mark-symbol-sign-ask-850361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data.se/en/manage-data/data-containing-personal-information/handbook-data-containing-personal-information/methods/methods-for-qualitative-data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CE60A-E04D-4087-9322-BA604472D8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Sensitive qualitative data and pseudonymisation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5C8761-ECFA-42A7-8F93-8AB3A6752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2050" y="2306631"/>
            <a:ext cx="5124450" cy="1445098"/>
          </a:xfrm>
        </p:spPr>
        <p:txBody>
          <a:bodyPr>
            <a:normAutofit/>
          </a:bodyPr>
          <a:lstStyle/>
          <a:p>
            <a:r>
              <a:rPr lang="en-GB" sz="1800" b="1" dirty="0"/>
              <a:t>Arin Tham Savran</a:t>
            </a:r>
          </a:p>
          <a:p>
            <a:r>
              <a:rPr lang="en-GB" sz="1800" dirty="0"/>
              <a:t>OS in the Swedish Context</a:t>
            </a:r>
          </a:p>
          <a:p>
            <a:r>
              <a:rPr lang="en-GB" sz="1800" dirty="0"/>
              <a:t>Göteborg, 2026-04-06</a:t>
            </a:r>
          </a:p>
        </p:txBody>
      </p:sp>
    </p:spTree>
    <p:extLst>
      <p:ext uri="{BB962C8B-B14F-4D97-AF65-F5344CB8AC3E}">
        <p14:creationId xmlns:p14="http://schemas.microsoft.com/office/powerpoint/2010/main" val="3077624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32A939C-B2C2-D1D1-BD88-6ED9E56F5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/>
          <a:p>
            <a:r>
              <a:rPr lang="sv-SE" dirty="0"/>
              <a:t>Session plan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D3E93C8-7B5E-3D66-93EC-68BEA2F29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5" name="Platshållare för innehåll 2">
            <a:extLst>
              <a:ext uri="{FF2B5EF4-FFF2-40B4-BE49-F238E27FC236}">
                <a16:creationId xmlns:a16="http://schemas.microsoft.com/office/drawing/2014/main" id="{06AD1A4D-F8F7-970A-FA50-8D0F4DF0C09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83188" y="987425"/>
          <a:ext cx="61722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Bildobjekt 5" descr="team brainstorm, modern, kontorsfoto, företag, kontor, vänner, möten ...">
            <a:extLst>
              <a:ext uri="{FF2B5EF4-FFF2-40B4-BE49-F238E27FC236}">
                <a16:creationId xmlns:a16="http://schemas.microsoft.com/office/drawing/2014/main" id="{2245E1CE-8035-8376-0A44-C63F23FAF36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604919" y="2156346"/>
            <a:ext cx="4319517" cy="28796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931DBB-2B94-9538-ECF7-CBA67A0E0B3A}"/>
              </a:ext>
            </a:extLst>
          </p:cNvPr>
          <p:cNvSpPr txBox="1"/>
          <p:nvPr/>
        </p:nvSpPr>
        <p:spPr>
          <a:xfrm>
            <a:off x="3333936" y="4820579"/>
            <a:ext cx="15905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u="sng" dirty="0">
                <a:solidFill>
                  <a:schemeClr val="accent4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Photo Matthew Henry</a:t>
            </a:r>
            <a:r>
              <a:rPr lang="en-US" sz="800" u="sng" dirty="0">
                <a:solidFill>
                  <a:schemeClr val="accent4"/>
                </a:solidFill>
              </a:rPr>
              <a:t> on Burst</a:t>
            </a:r>
            <a:endParaRPr lang="en-SE" sz="8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9568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6EE677E-CCC8-F799-E52F-EB381A6B3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Types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qualitative</a:t>
            </a:r>
            <a:r>
              <a:rPr lang="sv-SE" dirty="0"/>
              <a:t> ”sensitive data </a:t>
            </a:r>
            <a:r>
              <a:rPr lang="sv-SE" dirty="0" err="1"/>
              <a:t>collection</a:t>
            </a:r>
            <a:r>
              <a:rPr lang="sv-SE" dirty="0"/>
              <a:t>”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3CCD34CF-9C5B-E71B-0A14-5105FE247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In-</a:t>
            </a:r>
            <a:r>
              <a:rPr lang="sv-SE" dirty="0" err="1"/>
              <a:t>depth</a:t>
            </a:r>
            <a:r>
              <a:rPr lang="sv-SE" dirty="0"/>
              <a:t> </a:t>
            </a:r>
            <a:r>
              <a:rPr lang="sv-SE" dirty="0" err="1"/>
              <a:t>interviews</a:t>
            </a:r>
            <a:endParaRPr lang="sv-SE" dirty="0"/>
          </a:p>
          <a:p>
            <a:r>
              <a:rPr lang="sv-SE" dirty="0"/>
              <a:t>Focus </a:t>
            </a:r>
            <a:r>
              <a:rPr lang="sv-SE" dirty="0" err="1"/>
              <a:t>groups</a:t>
            </a:r>
            <a:endParaRPr lang="sv-SE" dirty="0"/>
          </a:p>
          <a:p>
            <a:r>
              <a:rPr lang="sv-SE" dirty="0"/>
              <a:t>Observations</a:t>
            </a:r>
          </a:p>
          <a:p>
            <a:r>
              <a:rPr lang="sv-SE" dirty="0" err="1"/>
              <a:t>Field</a:t>
            </a:r>
            <a:r>
              <a:rPr lang="sv-SE" dirty="0"/>
              <a:t> </a:t>
            </a:r>
            <a:r>
              <a:rPr lang="sv-SE" dirty="0" err="1"/>
              <a:t>notes</a:t>
            </a:r>
            <a:endParaRPr lang="sv-SE" dirty="0"/>
          </a:p>
          <a:p>
            <a:r>
              <a:rPr lang="sv-SE" dirty="0" err="1"/>
              <a:t>Diaries</a:t>
            </a:r>
            <a:r>
              <a:rPr lang="sv-SE" dirty="0"/>
              <a:t>/journals</a:t>
            </a:r>
          </a:p>
          <a:p>
            <a:r>
              <a:rPr lang="sv-SE" dirty="0"/>
              <a:t>Audio, video, </a:t>
            </a:r>
            <a:r>
              <a:rPr lang="sv-SE" dirty="0" err="1"/>
              <a:t>photo</a:t>
            </a:r>
            <a:r>
              <a:rPr lang="sv-SE" dirty="0"/>
              <a:t> </a:t>
            </a:r>
            <a:r>
              <a:rPr lang="sv-SE" dirty="0" err="1"/>
              <a:t>elicitation</a:t>
            </a:r>
            <a:r>
              <a:rPr lang="sv-SE" dirty="0"/>
              <a:t> </a:t>
            </a:r>
          </a:p>
          <a:p>
            <a:r>
              <a:rPr lang="sv-SE" dirty="0"/>
              <a:t>Online forum or social media </a:t>
            </a:r>
            <a:r>
              <a:rPr lang="sv-SE" dirty="0" err="1"/>
              <a:t>analysis</a:t>
            </a:r>
            <a:endParaRPr lang="sv-SE" dirty="0"/>
          </a:p>
          <a:p>
            <a:r>
              <a:rPr lang="sv-SE" dirty="0" err="1"/>
              <a:t>Open-ended</a:t>
            </a:r>
            <a:r>
              <a:rPr lang="sv-SE" dirty="0"/>
              <a:t> </a:t>
            </a:r>
            <a:r>
              <a:rPr lang="sv-SE" dirty="0" err="1"/>
              <a:t>questionnaries</a:t>
            </a:r>
            <a:r>
              <a:rPr lang="sv-SE" dirty="0"/>
              <a:t> or </a:t>
            </a:r>
            <a:r>
              <a:rPr lang="sv-SE" dirty="0" err="1"/>
              <a:t>surveys</a:t>
            </a:r>
            <a:r>
              <a:rPr lang="sv-SE" dirty="0"/>
              <a:t> </a:t>
            </a:r>
          </a:p>
          <a:p>
            <a:r>
              <a:rPr lang="sv-SE" dirty="0" err="1"/>
              <a:t>Document</a:t>
            </a:r>
            <a:r>
              <a:rPr lang="sv-SE" dirty="0"/>
              <a:t> </a:t>
            </a:r>
            <a:r>
              <a:rPr lang="sv-SE" dirty="0" err="1"/>
              <a:t>analysis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581825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6937B2A-E086-F183-73DB-8F2BCB4F0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Sensitive data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DD4A201-FBCD-03F3-BE88-77666FEA8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b="1" dirty="0"/>
              <a:t>Personal information: </a:t>
            </a:r>
            <a:r>
              <a:rPr lang="sv-SE" i="1" dirty="0" err="1"/>
              <a:t>ethnicity</a:t>
            </a:r>
            <a:r>
              <a:rPr lang="sv-SE" i="1" dirty="0"/>
              <a:t>, </a:t>
            </a:r>
            <a:r>
              <a:rPr lang="sv-SE" i="1" dirty="0" err="1"/>
              <a:t>political</a:t>
            </a:r>
            <a:r>
              <a:rPr lang="sv-SE" i="1" dirty="0"/>
              <a:t> opinion, union </a:t>
            </a:r>
            <a:r>
              <a:rPr lang="sv-SE" i="1" dirty="0" err="1"/>
              <a:t>membership</a:t>
            </a:r>
            <a:r>
              <a:rPr lang="sv-SE" i="1" dirty="0"/>
              <a:t>, </a:t>
            </a:r>
            <a:r>
              <a:rPr lang="sv-SE" i="1" dirty="0" err="1"/>
              <a:t>religious</a:t>
            </a:r>
            <a:r>
              <a:rPr lang="sv-SE" i="1" dirty="0"/>
              <a:t> and </a:t>
            </a:r>
            <a:r>
              <a:rPr lang="sv-SE" i="1" dirty="0" err="1"/>
              <a:t>philosophical</a:t>
            </a:r>
            <a:r>
              <a:rPr lang="sv-SE" i="1" dirty="0"/>
              <a:t> </a:t>
            </a:r>
            <a:r>
              <a:rPr lang="sv-SE" i="1" dirty="0" err="1"/>
              <a:t>beliefs</a:t>
            </a:r>
            <a:r>
              <a:rPr lang="sv-SE" i="1" dirty="0"/>
              <a:t>, </a:t>
            </a:r>
            <a:r>
              <a:rPr lang="sv-SE" i="1" dirty="0" err="1"/>
              <a:t>health</a:t>
            </a:r>
            <a:r>
              <a:rPr lang="sv-SE" i="1" dirty="0"/>
              <a:t> &amp; sexual </a:t>
            </a:r>
            <a:r>
              <a:rPr lang="sv-SE" i="1" dirty="0" err="1"/>
              <a:t>orientation</a:t>
            </a:r>
            <a:r>
              <a:rPr lang="sv-SE" i="1" dirty="0"/>
              <a:t>, </a:t>
            </a:r>
            <a:r>
              <a:rPr lang="sv-SE" i="1" dirty="0" err="1"/>
              <a:t>genetic</a:t>
            </a:r>
            <a:r>
              <a:rPr lang="sv-SE" i="1" dirty="0"/>
              <a:t> info, </a:t>
            </a:r>
            <a:r>
              <a:rPr lang="sv-SE" i="1" dirty="0" err="1"/>
              <a:t>biometrical</a:t>
            </a:r>
            <a:r>
              <a:rPr lang="sv-SE" i="1" dirty="0"/>
              <a:t> info </a:t>
            </a:r>
          </a:p>
          <a:p>
            <a:pPr marL="0" indent="0">
              <a:buNone/>
            </a:pPr>
            <a:endParaRPr lang="sv-SE" i="1" dirty="0"/>
          </a:p>
          <a:p>
            <a:r>
              <a:rPr lang="sv-SE" dirty="0" err="1"/>
              <a:t>But</a:t>
            </a:r>
            <a:r>
              <a:rPr lang="sv-SE" dirty="0"/>
              <a:t> </a:t>
            </a:r>
            <a:r>
              <a:rPr lang="sv-SE" dirty="0" err="1"/>
              <a:t>also</a:t>
            </a:r>
            <a:r>
              <a:rPr lang="sv-SE" dirty="0"/>
              <a:t> </a:t>
            </a:r>
            <a:r>
              <a:rPr lang="sv-SE" dirty="0" err="1"/>
              <a:t>other</a:t>
            </a:r>
            <a:r>
              <a:rPr lang="sv-SE" dirty="0"/>
              <a:t> </a:t>
            </a:r>
            <a:r>
              <a:rPr lang="sv-SE" dirty="0" err="1"/>
              <a:t>details</a:t>
            </a:r>
            <a:r>
              <a:rPr lang="sv-SE" dirty="0"/>
              <a:t> ex. </a:t>
            </a:r>
            <a:r>
              <a:rPr lang="sv-SE" i="1" dirty="0" err="1"/>
              <a:t>criminal</a:t>
            </a:r>
            <a:r>
              <a:rPr lang="sv-SE" i="1" dirty="0"/>
              <a:t> </a:t>
            </a:r>
            <a:r>
              <a:rPr lang="sv-SE" i="1" dirty="0" err="1"/>
              <a:t>history</a:t>
            </a:r>
            <a:r>
              <a:rPr lang="sv-SE" i="1" dirty="0"/>
              <a:t> &amp; </a:t>
            </a:r>
            <a:r>
              <a:rPr lang="sv-SE" i="1" dirty="0" err="1"/>
              <a:t>sanctions</a:t>
            </a:r>
            <a:r>
              <a:rPr lang="sv-SE" i="1" dirty="0"/>
              <a:t> record, and </a:t>
            </a:r>
            <a:r>
              <a:rPr lang="sv-SE" i="1" dirty="0" err="1"/>
              <a:t>financial</a:t>
            </a:r>
            <a:r>
              <a:rPr lang="sv-SE" i="1" dirty="0"/>
              <a:t> info </a:t>
            </a:r>
          </a:p>
          <a:p>
            <a:pPr marL="0" indent="0">
              <a:buNone/>
            </a:pPr>
            <a:endParaRPr lang="sv-SE" i="1" dirty="0"/>
          </a:p>
          <a:p>
            <a:r>
              <a:rPr lang="sv-SE" b="1" dirty="0" err="1"/>
              <a:t>Geographical</a:t>
            </a:r>
            <a:r>
              <a:rPr lang="sv-SE" b="1" dirty="0"/>
              <a:t> </a:t>
            </a:r>
            <a:r>
              <a:rPr lang="sv-SE" b="1" dirty="0" err="1"/>
              <a:t>location</a:t>
            </a:r>
            <a:r>
              <a:rPr lang="sv-SE" b="1" dirty="0"/>
              <a:t> </a:t>
            </a:r>
            <a:r>
              <a:rPr lang="sv-SE" dirty="0" err="1"/>
              <a:t>of</a:t>
            </a:r>
            <a:r>
              <a:rPr lang="sv-SE" dirty="0"/>
              <a:t> humans, animals, a </a:t>
            </a:r>
            <a:r>
              <a:rPr lang="sv-SE" dirty="0" err="1"/>
              <a:t>physical</a:t>
            </a:r>
            <a:r>
              <a:rPr lang="sv-SE" dirty="0"/>
              <a:t> site/</a:t>
            </a:r>
            <a:r>
              <a:rPr lang="sv-SE" dirty="0" err="1"/>
              <a:t>entity</a:t>
            </a:r>
            <a:endParaRPr lang="sv-SE" dirty="0"/>
          </a:p>
          <a:p>
            <a:pPr marL="0" indent="0">
              <a:buNone/>
            </a:pPr>
            <a:endParaRPr lang="sv-SE" dirty="0"/>
          </a:p>
          <a:p>
            <a:r>
              <a:rPr lang="sv-SE" dirty="0"/>
              <a:t>And </a:t>
            </a:r>
            <a:r>
              <a:rPr lang="sv-SE" dirty="0" err="1"/>
              <a:t>probably</a:t>
            </a:r>
            <a:r>
              <a:rPr lang="sv-SE" dirty="0"/>
              <a:t> </a:t>
            </a:r>
            <a:r>
              <a:rPr lang="sv-SE" dirty="0" err="1"/>
              <a:t>some</a:t>
            </a:r>
            <a:r>
              <a:rPr lang="sv-SE" dirty="0"/>
              <a:t> </a:t>
            </a:r>
            <a:r>
              <a:rPr lang="sv-SE" dirty="0" err="1"/>
              <a:t>more</a:t>
            </a:r>
            <a:r>
              <a:rPr lang="sv-SE" dirty="0"/>
              <a:t>…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680163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C9EC332-5859-68F2-CD84-80FC33F59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GDPR </a:t>
            </a:r>
            <a:r>
              <a:rPr lang="sv-SE" sz="3200" dirty="0"/>
              <a:t>(Dataskyddsförordningen)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0AE83AA-93A9-9370-A141-47D9308A7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Appropriate</a:t>
            </a:r>
            <a:r>
              <a:rPr lang="sv-SE" dirty="0"/>
              <a:t> </a:t>
            </a:r>
            <a:r>
              <a:rPr lang="sv-SE" dirty="0" err="1"/>
              <a:t>measures</a:t>
            </a:r>
            <a:r>
              <a:rPr lang="sv-SE" dirty="0"/>
              <a:t> must be taken to </a:t>
            </a:r>
            <a:r>
              <a:rPr lang="sv-SE" dirty="0" err="1"/>
              <a:t>protect</a:t>
            </a:r>
            <a:r>
              <a:rPr lang="sv-SE" dirty="0"/>
              <a:t> sensitive information…</a:t>
            </a:r>
          </a:p>
          <a:p>
            <a:pPr lvl="1"/>
            <a:r>
              <a:rPr lang="sv-SE" b="1" dirty="0" err="1"/>
              <a:t>Pseudonymising</a:t>
            </a:r>
            <a:r>
              <a:rPr lang="sv-SE" b="1" dirty="0"/>
              <a:t> </a:t>
            </a:r>
            <a:r>
              <a:rPr lang="sv-SE" dirty="0"/>
              <a:t>or</a:t>
            </a:r>
            <a:r>
              <a:rPr lang="sv-SE" b="1" dirty="0"/>
              <a:t> </a:t>
            </a:r>
            <a:r>
              <a:rPr lang="sv-SE" b="1" dirty="0" err="1"/>
              <a:t>anonymising</a:t>
            </a:r>
            <a:r>
              <a:rPr lang="sv-SE" b="1" dirty="0"/>
              <a:t>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important</a:t>
            </a:r>
            <a:r>
              <a:rPr lang="sv-SE" dirty="0"/>
              <a:t> </a:t>
            </a:r>
            <a:r>
              <a:rPr lang="sv-SE" dirty="0" err="1"/>
              <a:t>tools</a:t>
            </a:r>
            <a:r>
              <a:rPr lang="sv-SE" dirty="0"/>
              <a:t> </a:t>
            </a:r>
          </a:p>
          <a:p>
            <a:pPr marL="266700" lvl="1" indent="0">
              <a:buNone/>
            </a:pPr>
            <a:endParaRPr lang="sv-SE" dirty="0"/>
          </a:p>
          <a:p>
            <a:r>
              <a:rPr lang="sv-SE" dirty="0"/>
              <a:t>All research data must be </a:t>
            </a:r>
            <a:r>
              <a:rPr lang="sv-SE" dirty="0" err="1"/>
              <a:t>stored</a:t>
            </a:r>
            <a:r>
              <a:rPr lang="sv-SE" dirty="0"/>
              <a:t> </a:t>
            </a:r>
            <a:r>
              <a:rPr lang="sv-SE" dirty="0" err="1"/>
              <a:t>securely</a:t>
            </a:r>
            <a:r>
              <a:rPr lang="sv-SE" dirty="0"/>
              <a:t> (</a:t>
            </a:r>
            <a:r>
              <a:rPr lang="sv-SE" dirty="0" err="1"/>
              <a:t>during</a:t>
            </a:r>
            <a:r>
              <a:rPr lang="sv-SE" dirty="0"/>
              <a:t> and </a:t>
            </a:r>
            <a:r>
              <a:rPr lang="sv-SE" dirty="0" err="1"/>
              <a:t>after</a:t>
            </a:r>
            <a:r>
              <a:rPr lang="sv-SE" dirty="0"/>
              <a:t> </a:t>
            </a:r>
            <a:r>
              <a:rPr lang="sv-SE" dirty="0" err="1"/>
              <a:t>project</a:t>
            </a:r>
            <a:r>
              <a:rPr lang="sv-SE" dirty="0"/>
              <a:t> </a:t>
            </a:r>
            <a:r>
              <a:rPr lang="sv-SE" dirty="0" err="1"/>
              <a:t>finishes</a:t>
            </a:r>
            <a:r>
              <a:rPr lang="sv-SE" dirty="0"/>
              <a:t>) </a:t>
            </a:r>
            <a:r>
              <a:rPr lang="sv-SE" dirty="0" err="1"/>
              <a:t>using</a:t>
            </a:r>
            <a:r>
              <a:rPr lang="sv-SE" dirty="0"/>
              <a:t> </a:t>
            </a:r>
            <a:r>
              <a:rPr lang="sv-SE" dirty="0" err="1"/>
              <a:t>technical</a:t>
            </a:r>
            <a:r>
              <a:rPr lang="sv-SE" dirty="0"/>
              <a:t> and </a:t>
            </a:r>
            <a:r>
              <a:rPr lang="sv-SE" dirty="0" err="1"/>
              <a:t>organisational</a:t>
            </a:r>
            <a:r>
              <a:rPr lang="sv-SE" dirty="0"/>
              <a:t> </a:t>
            </a:r>
            <a:r>
              <a:rPr lang="sv-SE" dirty="0" err="1"/>
              <a:t>measures</a:t>
            </a:r>
            <a:r>
              <a:rPr lang="sv-SE" dirty="0"/>
              <a:t> </a:t>
            </a:r>
          </a:p>
          <a:p>
            <a:pPr lvl="1"/>
            <a:r>
              <a:rPr lang="sv-SE" dirty="0"/>
              <a:t>University Data Office, IT, and </a:t>
            </a:r>
            <a:r>
              <a:rPr lang="sv-SE" dirty="0" err="1"/>
              <a:t>Archive</a:t>
            </a:r>
            <a:r>
              <a:rPr lang="sv-SE" dirty="0"/>
              <a:t> services </a:t>
            </a:r>
            <a:r>
              <a:rPr lang="sv-SE" dirty="0" err="1"/>
              <a:t>usually</a:t>
            </a:r>
            <a:r>
              <a:rPr lang="sv-SE" dirty="0"/>
              <a:t> </a:t>
            </a:r>
            <a:r>
              <a:rPr lang="sv-SE" dirty="0" err="1"/>
              <a:t>help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err="1"/>
              <a:t>this</a:t>
            </a:r>
            <a:endParaRPr lang="sv-SE" dirty="0"/>
          </a:p>
          <a:p>
            <a:pPr marL="266700" lvl="1" indent="0">
              <a:buNone/>
            </a:pPr>
            <a:endParaRPr lang="sv-SE" dirty="0"/>
          </a:p>
          <a:p>
            <a:r>
              <a:rPr lang="sv-SE" dirty="0" err="1"/>
              <a:t>Remember</a:t>
            </a:r>
            <a:r>
              <a:rPr lang="sv-SE" dirty="0"/>
              <a:t> to ask for </a:t>
            </a:r>
            <a:r>
              <a:rPr lang="sv-SE" dirty="0" err="1"/>
              <a:t>help</a:t>
            </a:r>
            <a:r>
              <a:rPr lang="sv-SE" dirty="0"/>
              <a:t> </a:t>
            </a:r>
            <a:r>
              <a:rPr lang="sv-SE" dirty="0" err="1"/>
              <a:t>if</a:t>
            </a:r>
            <a:r>
              <a:rPr lang="sv-SE" dirty="0"/>
              <a:t> </a:t>
            </a:r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don’t</a:t>
            </a:r>
            <a:r>
              <a:rPr lang="sv-SE" dirty="0"/>
              <a:t> </a:t>
            </a:r>
            <a:r>
              <a:rPr lang="sv-SE" dirty="0" err="1"/>
              <a:t>know</a:t>
            </a:r>
            <a:r>
              <a:rPr lang="sv-SE" dirty="0"/>
              <a:t> </a:t>
            </a:r>
            <a:r>
              <a:rPr lang="sv-SE" dirty="0" err="1"/>
              <a:t>how</a:t>
            </a:r>
            <a:r>
              <a:rPr lang="sv-SE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318090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17DAA9F-9012-675A-D647-68FC23ECF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Pseudonymisation</a:t>
            </a:r>
            <a:r>
              <a:rPr lang="sv-SE" dirty="0"/>
              <a:t> &amp; </a:t>
            </a:r>
            <a:r>
              <a:rPr lang="sv-SE" dirty="0" err="1"/>
              <a:t>Anonymisation</a:t>
            </a:r>
            <a:r>
              <a:rPr lang="sv-SE" dirty="0"/>
              <a:t>: </a:t>
            </a:r>
            <a:br>
              <a:rPr lang="sv-SE" dirty="0"/>
            </a:br>
            <a:r>
              <a:rPr lang="sv-SE" dirty="0"/>
              <a:t>In a </a:t>
            </a:r>
            <a:r>
              <a:rPr lang="sv-SE" dirty="0" err="1"/>
              <a:t>nutshell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D54BD26-7837-13AA-F773-B2FC85044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dirty="0" err="1"/>
              <a:t>Create</a:t>
            </a:r>
            <a:r>
              <a:rPr lang="sv-SE" dirty="0"/>
              <a:t> </a:t>
            </a:r>
            <a:r>
              <a:rPr lang="sv-SE" dirty="0" err="1"/>
              <a:t>codes</a:t>
            </a:r>
            <a:r>
              <a:rPr lang="sv-SE" dirty="0"/>
              <a:t> or </a:t>
            </a:r>
            <a:r>
              <a:rPr lang="sv-SE" dirty="0" err="1"/>
              <a:t>aliases</a:t>
            </a:r>
            <a:endParaRPr lang="sv-SE" dirty="0"/>
          </a:p>
          <a:p>
            <a:pPr marL="0" indent="0">
              <a:buNone/>
            </a:pPr>
            <a:endParaRPr lang="sv-SE" dirty="0"/>
          </a:p>
          <a:p>
            <a:r>
              <a:rPr lang="sv-SE" dirty="0" err="1"/>
              <a:t>Use</a:t>
            </a:r>
            <a:r>
              <a:rPr lang="sv-SE" dirty="0"/>
              <a:t> a </a:t>
            </a:r>
            <a:r>
              <a:rPr lang="sv-SE" dirty="0" err="1"/>
              <a:t>code</a:t>
            </a:r>
            <a:r>
              <a:rPr lang="sv-SE" dirty="0"/>
              <a:t> </a:t>
            </a:r>
            <a:r>
              <a:rPr lang="sv-SE" dirty="0" err="1"/>
              <a:t>key</a:t>
            </a:r>
            <a:r>
              <a:rPr lang="sv-SE" dirty="0"/>
              <a:t> or log</a:t>
            </a:r>
          </a:p>
          <a:p>
            <a:pPr marL="0" indent="0">
              <a:buNone/>
            </a:pPr>
            <a:endParaRPr lang="sv-SE" dirty="0"/>
          </a:p>
          <a:p>
            <a:r>
              <a:rPr lang="sv-SE" dirty="0" err="1"/>
              <a:t>Subject</a:t>
            </a:r>
            <a:r>
              <a:rPr lang="sv-SE" dirty="0"/>
              <a:t> to GDPR as long as the </a:t>
            </a:r>
            <a:r>
              <a:rPr lang="sv-SE" dirty="0" err="1"/>
              <a:t>code</a:t>
            </a:r>
            <a:r>
              <a:rPr lang="sv-SE" dirty="0"/>
              <a:t> </a:t>
            </a:r>
            <a:r>
              <a:rPr lang="sv-SE" dirty="0" err="1"/>
              <a:t>key</a:t>
            </a:r>
            <a:r>
              <a:rPr lang="sv-SE" dirty="0"/>
              <a:t> </a:t>
            </a:r>
            <a:r>
              <a:rPr lang="sv-SE" dirty="0" err="1"/>
              <a:t>exists</a:t>
            </a:r>
            <a:r>
              <a:rPr lang="sv-SE" dirty="0"/>
              <a:t> </a:t>
            </a:r>
          </a:p>
          <a:p>
            <a:pPr marL="0" indent="0">
              <a:buNone/>
            </a:pPr>
            <a:endParaRPr lang="sv-SE" dirty="0"/>
          </a:p>
          <a:p>
            <a:r>
              <a:rPr lang="sv-SE" dirty="0"/>
              <a:t>If </a:t>
            </a:r>
            <a:r>
              <a:rPr lang="sv-SE" dirty="0" err="1"/>
              <a:t>code</a:t>
            </a:r>
            <a:r>
              <a:rPr lang="sv-SE" dirty="0"/>
              <a:t> </a:t>
            </a:r>
            <a:r>
              <a:rPr lang="sv-SE" dirty="0" err="1"/>
              <a:t>key</a:t>
            </a:r>
            <a:r>
              <a:rPr lang="sv-SE" dirty="0"/>
              <a:t> is </a:t>
            </a:r>
            <a:r>
              <a:rPr lang="sv-SE" dirty="0" err="1"/>
              <a:t>deleted</a:t>
            </a:r>
            <a:r>
              <a:rPr lang="sv-SE" dirty="0"/>
              <a:t>, data is </a:t>
            </a:r>
            <a:r>
              <a:rPr lang="sv-SE" dirty="0" err="1"/>
              <a:t>anonymised</a:t>
            </a:r>
            <a:r>
              <a:rPr lang="sv-SE" dirty="0"/>
              <a:t> and GDPR not </a:t>
            </a:r>
            <a:r>
              <a:rPr lang="sv-SE" dirty="0" err="1"/>
              <a:t>applicable</a:t>
            </a:r>
            <a:r>
              <a:rPr lang="sv-SE" dirty="0"/>
              <a:t>. </a:t>
            </a:r>
            <a:r>
              <a:rPr lang="sv-SE" i="1" dirty="0" err="1"/>
              <a:t>But</a:t>
            </a:r>
            <a:r>
              <a:rPr lang="sv-SE" i="1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16657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7F190BF-11F1-7E4C-19A0-AF15D090D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Here’s</a:t>
            </a:r>
            <a:r>
              <a:rPr lang="sv-SE" dirty="0"/>
              <a:t> the </a:t>
            </a:r>
            <a:r>
              <a:rPr lang="sv-SE" dirty="0" err="1"/>
              <a:t>thing</a:t>
            </a:r>
            <a:r>
              <a:rPr lang="sv-SE" dirty="0"/>
              <a:t> </a:t>
            </a:r>
            <a:r>
              <a:rPr lang="sv-SE" dirty="0" err="1"/>
              <a:t>though</a:t>
            </a:r>
            <a:r>
              <a:rPr lang="sv-SE" dirty="0"/>
              <a:t>…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E129D9C-1E75-21F2-F2C6-488C8DBB1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sz="3200" dirty="0"/>
              <a:t>Swedish </a:t>
            </a:r>
            <a:r>
              <a:rPr lang="sv-SE" sz="3200" dirty="0" err="1"/>
              <a:t>Archive's</a:t>
            </a:r>
            <a:r>
              <a:rPr lang="sv-SE" sz="3200" dirty="0"/>
              <a:t> </a:t>
            </a:r>
            <a:r>
              <a:rPr lang="sv-SE" sz="3200" dirty="0" err="1"/>
              <a:t>Act</a:t>
            </a:r>
            <a:r>
              <a:rPr lang="sv-SE" sz="3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36752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769FE54-2A7B-9785-5C82-59799871B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v-SE" dirty="0"/>
              <a:t>RE-IDENTIFICATION </a:t>
            </a:r>
            <a:br>
              <a:rPr lang="sv-SE" dirty="0"/>
            </a:br>
            <a:r>
              <a:rPr lang="sv-SE" dirty="0" err="1"/>
              <a:t>Indirect</a:t>
            </a:r>
            <a:r>
              <a:rPr lang="sv-SE" dirty="0"/>
              <a:t> </a:t>
            </a:r>
            <a:r>
              <a:rPr lang="sv-SE" dirty="0" err="1"/>
              <a:t>identifiers</a:t>
            </a:r>
            <a:r>
              <a:rPr lang="sv-SE" dirty="0"/>
              <a:t> and </a:t>
            </a:r>
            <a:r>
              <a:rPr lang="sv-SE" dirty="0" err="1"/>
              <a:t>bakground</a:t>
            </a:r>
            <a:r>
              <a:rPr lang="sv-SE" dirty="0"/>
              <a:t> </a:t>
            </a:r>
            <a:r>
              <a:rPr lang="sv-SE" dirty="0" err="1"/>
              <a:t>variables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3B35AEE-6FA7-44FA-4C7B-025CC8424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Gender</a:t>
            </a:r>
          </a:p>
          <a:p>
            <a:r>
              <a:rPr lang="sv-SE" dirty="0"/>
              <a:t>Age</a:t>
            </a:r>
          </a:p>
          <a:p>
            <a:r>
              <a:rPr lang="sv-SE" dirty="0" err="1"/>
              <a:t>Income</a:t>
            </a:r>
            <a:endParaRPr lang="sv-SE" dirty="0"/>
          </a:p>
          <a:p>
            <a:r>
              <a:rPr lang="sv-SE" dirty="0" err="1"/>
              <a:t>Occupation</a:t>
            </a:r>
            <a:endParaRPr lang="sv-SE" dirty="0"/>
          </a:p>
          <a:p>
            <a:r>
              <a:rPr lang="sv-SE" dirty="0" err="1"/>
              <a:t>Municipality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residence</a:t>
            </a:r>
            <a:endParaRPr lang="sv-SE" dirty="0"/>
          </a:p>
          <a:p>
            <a:r>
              <a:rPr lang="sv-SE" dirty="0">
                <a:solidFill>
                  <a:schemeClr val="accent2">
                    <a:lumMod val="50000"/>
                  </a:schemeClr>
                </a:solidFill>
              </a:rPr>
              <a:t>And so </a:t>
            </a:r>
            <a:r>
              <a:rPr lang="sv-SE" dirty="0" err="1">
                <a:solidFill>
                  <a:schemeClr val="accent2">
                    <a:lumMod val="50000"/>
                  </a:schemeClr>
                </a:solidFill>
              </a:rPr>
              <a:t>forth</a:t>
            </a:r>
            <a:r>
              <a:rPr lang="sv-SE" dirty="0">
                <a:solidFill>
                  <a:schemeClr val="accent2">
                    <a:lumMod val="50000"/>
                  </a:schemeClr>
                </a:solidFill>
              </a:rPr>
              <a:t>…</a:t>
            </a:r>
          </a:p>
          <a:p>
            <a:endParaRPr lang="sv-SE" dirty="0"/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514421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B47D543-F43C-51F7-5AD9-9713FE263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1. </a:t>
            </a:r>
            <a:r>
              <a:rPr lang="sv-SE" dirty="0" err="1"/>
              <a:t>Remove</a:t>
            </a:r>
            <a:r>
              <a:rPr lang="sv-SE" dirty="0"/>
              <a:t> the ”</a:t>
            </a:r>
            <a:r>
              <a:rPr lang="sv-SE" dirty="0" err="1"/>
              <a:t>obvious</a:t>
            </a:r>
            <a:r>
              <a:rPr lang="sv-SE" dirty="0"/>
              <a:t>” and </a:t>
            </a:r>
            <a:r>
              <a:rPr lang="sv-SE" dirty="0" err="1"/>
              <a:t>generalise</a:t>
            </a:r>
            <a:r>
              <a:rPr lang="sv-SE" dirty="0"/>
              <a:t> </a:t>
            </a:r>
            <a:r>
              <a:rPr lang="sv-SE" dirty="0" err="1"/>
              <a:t>identifying</a:t>
            </a:r>
            <a:r>
              <a:rPr lang="sv-SE" dirty="0"/>
              <a:t> </a:t>
            </a:r>
            <a:r>
              <a:rPr lang="sv-SE" dirty="0" err="1"/>
              <a:t>details</a:t>
            </a:r>
            <a:r>
              <a:rPr lang="sv-SE" dirty="0"/>
              <a:t> 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855078E-4D3D-B54C-C11C-C6E577F4D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u="sng" dirty="0" err="1"/>
              <a:t>Removing</a:t>
            </a:r>
            <a:r>
              <a:rPr lang="sv-SE" u="sng" dirty="0"/>
              <a:t> or </a:t>
            </a:r>
            <a:r>
              <a:rPr lang="sv-SE" u="sng" dirty="0" err="1"/>
              <a:t>masking</a:t>
            </a:r>
            <a:r>
              <a:rPr lang="sv-SE" dirty="0"/>
              <a:t>: </a:t>
            </a:r>
            <a:br>
              <a:rPr lang="sv-SE" dirty="0"/>
            </a:br>
            <a:r>
              <a:rPr lang="sv-SE" dirty="0"/>
              <a:t>”Hello, my </a:t>
            </a:r>
            <a:r>
              <a:rPr lang="sv-SE" dirty="0" err="1"/>
              <a:t>name</a:t>
            </a:r>
            <a:r>
              <a:rPr lang="sv-SE" dirty="0"/>
              <a:t> is Anders Andersson!” </a:t>
            </a:r>
            <a:r>
              <a:rPr lang="sv-SE" dirty="0">
                <a:sym typeface="Wingdings" pitchFamily="2" charset="2"/>
              </a:rPr>
              <a:t></a:t>
            </a:r>
            <a:r>
              <a:rPr lang="sv-SE" dirty="0"/>
              <a:t> ”Hello, my </a:t>
            </a:r>
            <a:r>
              <a:rPr lang="sv-SE" dirty="0" err="1"/>
              <a:t>name</a:t>
            </a:r>
            <a:r>
              <a:rPr lang="sv-SE" dirty="0"/>
              <a:t> is </a:t>
            </a:r>
            <a:r>
              <a:rPr lang="sv-SE" dirty="0">
                <a:highlight>
                  <a:srgbClr val="000000"/>
                </a:highlight>
              </a:rPr>
              <a:t>Anders Andersson</a:t>
            </a:r>
            <a:r>
              <a:rPr lang="sv-SE" dirty="0"/>
              <a:t>!”  </a:t>
            </a:r>
          </a:p>
          <a:p>
            <a:r>
              <a:rPr lang="sv-SE" u="sng" dirty="0" err="1"/>
              <a:t>Generalising</a:t>
            </a:r>
            <a:r>
              <a:rPr lang="sv-SE" dirty="0"/>
              <a:t>: </a:t>
            </a:r>
            <a:br>
              <a:rPr lang="sv-SE" dirty="0"/>
            </a:br>
            <a:r>
              <a:rPr lang="sv-SE" dirty="0"/>
              <a:t>”I live in Kalix” </a:t>
            </a:r>
            <a:r>
              <a:rPr lang="sv-SE" dirty="0">
                <a:sym typeface="Wingdings" pitchFamily="2" charset="2"/>
              </a:rPr>
              <a:t></a:t>
            </a:r>
            <a:r>
              <a:rPr lang="sv-SE" dirty="0"/>
              <a:t>. ”I live in a small </a:t>
            </a:r>
            <a:r>
              <a:rPr lang="sv-SE" dirty="0" err="1"/>
              <a:t>town</a:t>
            </a:r>
            <a:r>
              <a:rPr lang="sv-SE" dirty="0"/>
              <a:t> in </a:t>
            </a:r>
            <a:r>
              <a:rPr lang="sv-SE" dirty="0" err="1"/>
              <a:t>northern</a:t>
            </a:r>
            <a:r>
              <a:rPr lang="sv-SE" dirty="0"/>
              <a:t> Sweden”. </a:t>
            </a:r>
            <a:br>
              <a:rPr lang="sv-SE" dirty="0"/>
            </a:br>
            <a:r>
              <a:rPr lang="sv-SE" dirty="0" err="1"/>
              <a:t>Though</a:t>
            </a:r>
            <a:r>
              <a:rPr lang="sv-SE" dirty="0"/>
              <a:t> </a:t>
            </a:r>
            <a:r>
              <a:rPr lang="sv-SE" dirty="0" err="1"/>
              <a:t>perhaps</a:t>
            </a:r>
            <a:r>
              <a:rPr lang="sv-SE" dirty="0"/>
              <a:t> </a:t>
            </a:r>
            <a:r>
              <a:rPr lang="sv-SE" dirty="0" err="1"/>
              <a:t>masking</a:t>
            </a:r>
            <a:r>
              <a:rPr lang="sv-SE" dirty="0"/>
              <a:t> </a:t>
            </a:r>
            <a:r>
              <a:rPr lang="sv-SE" dirty="0" err="1"/>
              <a:t>more</a:t>
            </a:r>
            <a:r>
              <a:rPr lang="sv-SE" dirty="0"/>
              <a:t> </a:t>
            </a:r>
            <a:r>
              <a:rPr lang="sv-SE" dirty="0" err="1"/>
              <a:t>suitable</a:t>
            </a:r>
            <a:r>
              <a:rPr lang="sv-SE" dirty="0"/>
              <a:t>?</a:t>
            </a:r>
          </a:p>
          <a:p>
            <a:pPr marL="0" indent="0">
              <a:buNone/>
            </a:pPr>
            <a:r>
              <a:rPr lang="sv-SE" dirty="0"/>
              <a:t>Make sure </a:t>
            </a:r>
            <a:r>
              <a:rPr lang="sv-SE" dirty="0" err="1"/>
              <a:t>there’s</a:t>
            </a:r>
            <a:r>
              <a:rPr lang="sv-SE" dirty="0"/>
              <a:t> </a:t>
            </a:r>
            <a:r>
              <a:rPr lang="sv-SE" dirty="0" err="1"/>
              <a:t>nothing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could</a:t>
            </a:r>
            <a:r>
              <a:rPr lang="sv-SE" dirty="0"/>
              <a:t> </a:t>
            </a:r>
            <a:r>
              <a:rPr lang="sv-SE" dirty="0" err="1"/>
              <a:t>identify</a:t>
            </a:r>
            <a:r>
              <a:rPr lang="sv-SE" dirty="0"/>
              <a:t> </a:t>
            </a:r>
            <a:r>
              <a:rPr lang="sv-SE" dirty="0" err="1"/>
              <a:t>individuals</a:t>
            </a:r>
            <a:r>
              <a:rPr lang="sv-SE" dirty="0"/>
              <a:t>, </a:t>
            </a:r>
            <a:r>
              <a:rPr lang="sv-SE" dirty="0" err="1"/>
              <a:t>study</a:t>
            </a:r>
            <a:r>
              <a:rPr lang="sv-SE" dirty="0"/>
              <a:t> </a:t>
            </a:r>
            <a:r>
              <a:rPr lang="sv-SE" dirty="0" err="1"/>
              <a:t>participant</a:t>
            </a:r>
            <a:r>
              <a:rPr lang="sv-SE" dirty="0"/>
              <a:t> or </a:t>
            </a:r>
            <a:r>
              <a:rPr lang="sv-SE" dirty="0" err="1"/>
              <a:t>otherwise</a:t>
            </a:r>
            <a:r>
              <a:rPr lang="sv-SE" dirty="0"/>
              <a:t>! </a:t>
            </a:r>
            <a:r>
              <a:rPr lang="sv-SE" dirty="0" err="1"/>
              <a:t>Including</a:t>
            </a:r>
            <a:r>
              <a:rPr lang="sv-SE" dirty="0"/>
              <a:t> via </a:t>
            </a:r>
            <a:r>
              <a:rPr lang="sv-SE" i="1" dirty="0"/>
              <a:t>re-</a:t>
            </a:r>
            <a:r>
              <a:rPr lang="sv-SE" i="1" dirty="0" err="1"/>
              <a:t>identification</a:t>
            </a:r>
            <a:r>
              <a:rPr lang="sv-SE" i="1" dirty="0"/>
              <a:t>… </a:t>
            </a:r>
          </a:p>
          <a:p>
            <a:pPr marL="0" indent="0">
              <a:buNone/>
            </a:pPr>
            <a:r>
              <a:rPr lang="sv-SE" dirty="0"/>
              <a:t>Exceptions? </a:t>
            </a:r>
            <a:r>
              <a:rPr lang="sv-SE" dirty="0" err="1"/>
              <a:t>Yes</a:t>
            </a:r>
            <a:r>
              <a:rPr lang="sv-SE" dirty="0"/>
              <a:t>, in </a:t>
            </a:r>
            <a:r>
              <a:rPr lang="sv-SE" dirty="0" err="1"/>
              <a:t>some</a:t>
            </a:r>
            <a:r>
              <a:rPr lang="sv-SE" dirty="0"/>
              <a:t> </a:t>
            </a:r>
            <a:r>
              <a:rPr lang="sv-SE" dirty="0" err="1"/>
              <a:t>cases</a:t>
            </a:r>
            <a:r>
              <a:rPr lang="sv-SE" dirty="0"/>
              <a:t> </a:t>
            </a:r>
            <a:r>
              <a:rPr lang="sv-SE" dirty="0" err="1"/>
              <a:t>people</a:t>
            </a:r>
            <a:r>
              <a:rPr lang="sv-SE" dirty="0"/>
              <a:t> </a:t>
            </a:r>
            <a:r>
              <a:rPr lang="sv-SE" dirty="0" err="1"/>
              <a:t>want</a:t>
            </a:r>
            <a:r>
              <a:rPr lang="sv-SE" dirty="0"/>
              <a:t> to be </a:t>
            </a:r>
            <a:r>
              <a:rPr lang="sv-SE" dirty="0" err="1"/>
              <a:t>identified</a:t>
            </a:r>
            <a:r>
              <a:rPr lang="sv-SE" dirty="0"/>
              <a:t>. </a:t>
            </a:r>
            <a:r>
              <a:rPr lang="sv-SE" dirty="0" err="1"/>
              <a:t>But</a:t>
            </a:r>
            <a:r>
              <a:rPr lang="sv-SE" dirty="0"/>
              <a:t> </a:t>
            </a:r>
            <a:r>
              <a:rPr lang="sv-SE" dirty="0" err="1"/>
              <a:t>up</a:t>
            </a:r>
            <a:r>
              <a:rPr lang="sv-SE" dirty="0"/>
              <a:t> to PI to </a:t>
            </a:r>
            <a:r>
              <a:rPr lang="sv-SE" dirty="0" err="1"/>
              <a:t>ultimately</a:t>
            </a:r>
            <a:r>
              <a:rPr lang="sv-SE" dirty="0"/>
              <a:t> </a:t>
            </a:r>
            <a:r>
              <a:rPr lang="sv-SE" dirty="0" err="1"/>
              <a:t>judge</a:t>
            </a:r>
            <a:r>
              <a:rPr lang="sv-SE" dirty="0"/>
              <a:t> the </a:t>
            </a:r>
            <a:r>
              <a:rPr lang="sv-SE" dirty="0" err="1"/>
              <a:t>appropriateness</a:t>
            </a:r>
            <a:r>
              <a:rPr lang="sv-SE" dirty="0"/>
              <a:t>! 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97364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D41E851-3C9B-1431-0928-851062C4E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2. </a:t>
            </a:r>
            <a:r>
              <a:rPr lang="sv-SE" dirty="0" err="1"/>
              <a:t>Create</a:t>
            </a:r>
            <a:r>
              <a:rPr lang="sv-SE" dirty="0"/>
              <a:t> </a:t>
            </a:r>
            <a:r>
              <a:rPr lang="sv-SE" dirty="0" err="1"/>
              <a:t>code</a:t>
            </a:r>
            <a:r>
              <a:rPr lang="sv-SE" dirty="0"/>
              <a:t>/alias </a:t>
            </a:r>
            <a:r>
              <a:rPr lang="sv-SE" dirty="0" err="1"/>
              <a:t>key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E5D408B-B03A-BA9E-13C0-4F60F6C1D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 dirty="0" err="1"/>
              <a:t>Use</a:t>
            </a:r>
            <a:r>
              <a:rPr lang="sv-SE" dirty="0"/>
              <a:t> </a:t>
            </a:r>
            <a:r>
              <a:rPr lang="sv-SE" dirty="0" err="1"/>
              <a:t>fake</a:t>
            </a:r>
            <a:r>
              <a:rPr lang="sv-SE" dirty="0"/>
              <a:t> </a:t>
            </a:r>
            <a:r>
              <a:rPr lang="sv-SE" dirty="0" err="1"/>
              <a:t>names</a:t>
            </a:r>
            <a:r>
              <a:rPr lang="sv-SE" dirty="0"/>
              <a:t>, </a:t>
            </a:r>
            <a:r>
              <a:rPr lang="sv-SE" dirty="0" err="1"/>
              <a:t>participant</a:t>
            </a:r>
            <a:r>
              <a:rPr lang="sv-SE" dirty="0"/>
              <a:t> </a:t>
            </a:r>
            <a:r>
              <a:rPr lang="sv-SE" dirty="0" err="1"/>
              <a:t>ID’s</a:t>
            </a:r>
            <a:r>
              <a:rPr lang="sv-SE" dirty="0"/>
              <a:t>, or </a:t>
            </a:r>
            <a:r>
              <a:rPr lang="sv-SE" dirty="0" err="1"/>
              <a:t>role-based</a:t>
            </a:r>
            <a:r>
              <a:rPr lang="sv-SE" dirty="0"/>
              <a:t> </a:t>
            </a:r>
            <a:r>
              <a:rPr lang="sv-SE" dirty="0" err="1"/>
              <a:t>labels</a:t>
            </a:r>
            <a:r>
              <a:rPr lang="sv-SE" dirty="0"/>
              <a:t>. </a:t>
            </a:r>
          </a:p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r>
              <a:rPr lang="sv-SE" dirty="0" err="1"/>
              <a:t>Also</a:t>
            </a:r>
            <a:r>
              <a:rPr lang="sv-SE" dirty="0"/>
              <a:t>, </a:t>
            </a:r>
            <a:r>
              <a:rPr lang="sv-SE" dirty="0" err="1"/>
              <a:t>keep</a:t>
            </a:r>
            <a:r>
              <a:rPr lang="sv-SE" dirty="0"/>
              <a:t> the </a:t>
            </a:r>
            <a:r>
              <a:rPr lang="sv-SE" dirty="0" err="1"/>
              <a:t>key</a:t>
            </a:r>
            <a:r>
              <a:rPr lang="sv-SE" dirty="0"/>
              <a:t> </a:t>
            </a:r>
            <a:r>
              <a:rPr lang="sv-SE" dirty="0" err="1"/>
              <a:t>separately</a:t>
            </a:r>
            <a:r>
              <a:rPr lang="sv-SE" dirty="0"/>
              <a:t> from the research data, </a:t>
            </a:r>
            <a:r>
              <a:rPr lang="sv-SE" dirty="0" err="1"/>
              <a:t>stored</a:t>
            </a:r>
            <a:r>
              <a:rPr lang="sv-SE" dirty="0"/>
              <a:t> </a:t>
            </a:r>
            <a:r>
              <a:rPr lang="sv-SE" dirty="0" err="1"/>
              <a:t>securely</a:t>
            </a:r>
            <a:r>
              <a:rPr lang="sv-SE" dirty="0"/>
              <a:t>, and </a:t>
            </a:r>
            <a:r>
              <a:rPr lang="sv-SE" dirty="0" err="1"/>
              <a:t>accessible</a:t>
            </a:r>
            <a:r>
              <a:rPr lang="sv-SE" dirty="0"/>
              <a:t> </a:t>
            </a:r>
            <a:r>
              <a:rPr lang="sv-SE" dirty="0" err="1"/>
              <a:t>only</a:t>
            </a:r>
            <a:r>
              <a:rPr lang="sv-SE" dirty="0"/>
              <a:t> to </a:t>
            </a:r>
            <a:r>
              <a:rPr lang="sv-SE" dirty="0" err="1"/>
              <a:t>authorised</a:t>
            </a:r>
            <a:r>
              <a:rPr lang="sv-SE" dirty="0"/>
              <a:t> </a:t>
            </a:r>
            <a:r>
              <a:rPr lang="sv-SE" dirty="0" err="1"/>
              <a:t>individuals</a:t>
            </a:r>
            <a:r>
              <a:rPr lang="sv-SE" dirty="0"/>
              <a:t>.</a:t>
            </a:r>
          </a:p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r>
              <a:rPr lang="sv-SE" sz="2000" dirty="0"/>
              <a:t>Ex: </a:t>
            </a:r>
          </a:p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endParaRPr lang="sv-SE" dirty="0"/>
          </a:p>
        </p:txBody>
      </p:sp>
      <p:graphicFrame>
        <p:nvGraphicFramePr>
          <p:cNvPr id="4" name="Tabell 3">
            <a:extLst>
              <a:ext uri="{FF2B5EF4-FFF2-40B4-BE49-F238E27FC236}">
                <a16:creationId xmlns:a16="http://schemas.microsoft.com/office/drawing/2014/main" id="{1F709464-A1C6-6794-50F9-34C404FDBB8B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4790211"/>
          <a:ext cx="10515600" cy="7315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74014608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7305768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705839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b="1" dirty="0" err="1"/>
                        <a:t>Participant</a:t>
                      </a:r>
                      <a:r>
                        <a:rPr lang="sv-SE" b="1" dirty="0"/>
                        <a:t> 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b="1" dirty="0"/>
                        <a:t>Real </a:t>
                      </a:r>
                      <a:r>
                        <a:rPr lang="sv-SE" b="1" dirty="0" err="1"/>
                        <a:t>name</a:t>
                      </a:r>
                      <a:endParaRPr lang="sv-SE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b="1" dirty="0"/>
                        <a:t>Contact </a:t>
                      </a:r>
                      <a:r>
                        <a:rPr lang="sv-SE" b="1" dirty="0" err="1"/>
                        <a:t>details</a:t>
                      </a:r>
                      <a:endParaRPr lang="sv-SE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672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dirty="0"/>
                        <a:t>P001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dirty="0"/>
                        <a:t>Jane Doe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dirty="0"/>
                        <a:t>Email/</a:t>
                      </a:r>
                      <a:r>
                        <a:rPr lang="sv-SE" dirty="0" err="1"/>
                        <a:t>phone</a:t>
                      </a:r>
                      <a:endParaRPr lang="sv-SE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9471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61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DA874B0-916D-C079-052C-A5F3C917D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3. Pseudonyms for </a:t>
            </a:r>
            <a:r>
              <a:rPr lang="sv-SE" dirty="0" err="1"/>
              <a:t>roles</a:t>
            </a:r>
            <a:r>
              <a:rPr lang="sv-SE" dirty="0"/>
              <a:t>, organisations, </a:t>
            </a:r>
            <a:r>
              <a:rPr lang="sv-SE" dirty="0" err="1"/>
              <a:t>geographical</a:t>
            </a:r>
            <a:r>
              <a:rPr lang="sv-SE" dirty="0"/>
              <a:t> regions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3A7D88AD-EC1B-7FD9-E340-31452BFDA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50613"/>
            <a:ext cx="10515600" cy="3864437"/>
          </a:xfrm>
        </p:spPr>
        <p:txBody>
          <a:bodyPr>
            <a:normAutofit lnSpcReduction="10000"/>
          </a:bodyPr>
          <a:lstStyle/>
          <a:p>
            <a:r>
              <a:rPr lang="sv-SE" dirty="0"/>
              <a:t>[</a:t>
            </a:r>
            <a:r>
              <a:rPr lang="sv-SE" dirty="0" err="1"/>
              <a:t>Teacher</a:t>
            </a:r>
            <a:r>
              <a:rPr lang="sv-SE" dirty="0"/>
              <a:t> 1]</a:t>
            </a:r>
          </a:p>
          <a:p>
            <a:r>
              <a:rPr lang="sv-SE" dirty="0"/>
              <a:t>[</a:t>
            </a:r>
            <a:r>
              <a:rPr lang="sv-SE" dirty="0" err="1"/>
              <a:t>Teacher</a:t>
            </a:r>
            <a:r>
              <a:rPr lang="sv-SE" dirty="0"/>
              <a:t> 2]</a:t>
            </a:r>
          </a:p>
          <a:p>
            <a:r>
              <a:rPr lang="sv-SE" dirty="0"/>
              <a:t>[</a:t>
            </a:r>
            <a:r>
              <a:rPr lang="sv-SE" dirty="0" err="1"/>
              <a:t>School</a:t>
            </a:r>
            <a:r>
              <a:rPr lang="sv-SE" dirty="0"/>
              <a:t> 1]</a:t>
            </a:r>
          </a:p>
          <a:p>
            <a:r>
              <a:rPr lang="sv-SE" dirty="0"/>
              <a:t>[</a:t>
            </a:r>
            <a:r>
              <a:rPr lang="sv-SE" dirty="0" err="1"/>
              <a:t>School</a:t>
            </a:r>
            <a:r>
              <a:rPr lang="sv-SE" dirty="0"/>
              <a:t> 2]</a:t>
            </a:r>
          </a:p>
          <a:p>
            <a:r>
              <a:rPr lang="sv-SE" dirty="0"/>
              <a:t>[Region 3]</a:t>
            </a:r>
          </a:p>
          <a:p>
            <a:r>
              <a:rPr lang="sv-SE" dirty="0"/>
              <a:t>[University]</a:t>
            </a:r>
          </a:p>
          <a:p>
            <a:r>
              <a:rPr lang="sv-SE" dirty="0"/>
              <a:t>[major </a:t>
            </a:r>
            <a:r>
              <a:rPr lang="sv-SE" dirty="0" err="1"/>
              <a:t>newspaper</a:t>
            </a:r>
            <a:r>
              <a:rPr lang="sv-SE" dirty="0"/>
              <a:t>]</a:t>
            </a:r>
          </a:p>
          <a:p>
            <a:r>
              <a:rPr lang="sv-SE" dirty="0"/>
              <a:t>[</a:t>
            </a:r>
            <a:r>
              <a:rPr lang="sv-SE" dirty="0" err="1"/>
              <a:t>municipality</a:t>
            </a:r>
            <a:r>
              <a:rPr lang="sv-SE" dirty="0"/>
              <a:t>]</a:t>
            </a:r>
          </a:p>
          <a:p>
            <a:endParaRPr lang="sv-SE" dirty="0"/>
          </a:p>
          <a:p>
            <a:pPr marL="0" indent="0">
              <a:buNone/>
            </a:pPr>
            <a:endParaRPr lang="sv-SE" dirty="0"/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580440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FF32BCE-6617-2ADB-B039-B3CCEA372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4. Pseudonymise </a:t>
            </a:r>
            <a:r>
              <a:rPr lang="sv-SE" dirty="0" err="1"/>
              <a:t>places</a:t>
            </a:r>
            <a:r>
              <a:rPr lang="sv-SE" dirty="0"/>
              <a:t>, organisations/</a:t>
            </a:r>
            <a:r>
              <a:rPr lang="sv-SE" dirty="0" err="1"/>
              <a:t>companies</a:t>
            </a:r>
            <a:r>
              <a:rPr lang="sv-SE" dirty="0"/>
              <a:t>, and </a:t>
            </a:r>
            <a:r>
              <a:rPr lang="sv-SE" dirty="0" err="1"/>
              <a:t>networks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95CF791-0B12-76BC-5DA0-9BFB41A90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r>
              <a:rPr lang="sv-SE" b="1" dirty="0"/>
              <a:t>Original:</a:t>
            </a:r>
          </a:p>
          <a:p>
            <a:pPr marL="0" indent="0">
              <a:buNone/>
            </a:pPr>
            <a:r>
              <a:rPr lang="sv-SE" i="1" dirty="0"/>
              <a:t>“I </a:t>
            </a:r>
            <a:r>
              <a:rPr lang="sv-SE" i="1" dirty="0" err="1"/>
              <a:t>worked</a:t>
            </a:r>
            <a:r>
              <a:rPr lang="sv-SE" i="1" dirty="0"/>
              <a:t> at Volvo Torslanda under my </a:t>
            </a:r>
            <a:r>
              <a:rPr lang="sv-SE" i="1" dirty="0" err="1"/>
              <a:t>foreman</a:t>
            </a:r>
            <a:r>
              <a:rPr lang="sv-SE" i="1" dirty="0"/>
              <a:t> Anders at T3.”</a:t>
            </a:r>
          </a:p>
          <a:p>
            <a:pPr marL="0" indent="0">
              <a:buNone/>
            </a:pPr>
            <a:endParaRPr lang="sv-SE" i="1" dirty="0"/>
          </a:p>
          <a:p>
            <a:pPr marL="0" indent="0">
              <a:buNone/>
            </a:pPr>
            <a:r>
              <a:rPr lang="sv-SE" b="1" dirty="0" err="1"/>
              <a:t>Replace</a:t>
            </a:r>
            <a:r>
              <a:rPr lang="sv-SE" b="1" dirty="0"/>
              <a:t> </a:t>
            </a:r>
            <a:r>
              <a:rPr lang="sv-SE" b="1" dirty="0" err="1"/>
              <a:t>with</a:t>
            </a:r>
            <a:r>
              <a:rPr lang="sv-SE" b="1" dirty="0"/>
              <a:t> </a:t>
            </a:r>
            <a:r>
              <a:rPr lang="sv-SE" b="1" dirty="0" err="1"/>
              <a:t>something</a:t>
            </a:r>
            <a:r>
              <a:rPr lang="sv-SE" b="1" dirty="0"/>
              <a:t> like:</a:t>
            </a:r>
          </a:p>
          <a:p>
            <a:pPr marL="0" indent="0">
              <a:buNone/>
            </a:pPr>
            <a:r>
              <a:rPr lang="sv-SE" i="1" dirty="0"/>
              <a:t>“I </a:t>
            </a:r>
            <a:r>
              <a:rPr lang="sv-SE" i="1" dirty="0" err="1"/>
              <a:t>worked</a:t>
            </a:r>
            <a:r>
              <a:rPr lang="sv-SE" i="1" dirty="0"/>
              <a:t> for a </a:t>
            </a:r>
            <a:r>
              <a:rPr lang="sv-SE" i="1" dirty="0" err="1"/>
              <a:t>large</a:t>
            </a:r>
            <a:r>
              <a:rPr lang="sv-SE" i="1" dirty="0"/>
              <a:t> </a:t>
            </a:r>
            <a:r>
              <a:rPr lang="sv-SE" i="1" dirty="0" err="1"/>
              <a:t>manufacturing</a:t>
            </a:r>
            <a:r>
              <a:rPr lang="sv-SE" i="1" dirty="0"/>
              <a:t> </a:t>
            </a:r>
            <a:r>
              <a:rPr lang="sv-SE" i="1" dirty="0" err="1"/>
              <a:t>company</a:t>
            </a:r>
            <a:r>
              <a:rPr lang="sv-SE" i="1" dirty="0"/>
              <a:t> in a major Swedish city under a senior manager.”</a:t>
            </a:r>
          </a:p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r>
              <a:rPr lang="sv-S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83722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6D31CFC-7F44-DFC0-514E-68D397BA5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5. </a:t>
            </a:r>
            <a:r>
              <a:rPr lang="sv-SE" dirty="0" err="1"/>
              <a:t>Modify</a:t>
            </a:r>
            <a:r>
              <a:rPr lang="sv-SE" dirty="0"/>
              <a:t> dates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DF267BC6-F8C1-E368-FEA7-94DAA5C41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 dirty="0"/>
              <a:t>Dates </a:t>
            </a:r>
            <a:r>
              <a:rPr lang="sv-SE" dirty="0" err="1"/>
              <a:t>can</a:t>
            </a:r>
            <a:r>
              <a:rPr lang="sv-SE" dirty="0"/>
              <a:t> be </a:t>
            </a:r>
            <a:r>
              <a:rPr lang="sv-SE" dirty="0" err="1"/>
              <a:t>identifying</a:t>
            </a:r>
            <a:r>
              <a:rPr lang="sv-SE" dirty="0"/>
              <a:t>, </a:t>
            </a:r>
            <a:r>
              <a:rPr lang="sv-SE" dirty="0" err="1"/>
              <a:t>especially</a:t>
            </a:r>
            <a:r>
              <a:rPr lang="sv-SE" dirty="0"/>
              <a:t> </a:t>
            </a:r>
            <a:r>
              <a:rPr lang="sv-SE" dirty="0" err="1"/>
              <a:t>around</a:t>
            </a:r>
            <a:r>
              <a:rPr lang="sv-SE" dirty="0"/>
              <a:t> incidents, </a:t>
            </a:r>
            <a:r>
              <a:rPr lang="sv-SE" dirty="0" err="1"/>
              <a:t>complaints</a:t>
            </a:r>
            <a:r>
              <a:rPr lang="sv-SE" dirty="0"/>
              <a:t>, </a:t>
            </a:r>
            <a:r>
              <a:rPr lang="sv-SE" dirty="0" err="1"/>
              <a:t>hospitalisation</a:t>
            </a:r>
            <a:r>
              <a:rPr lang="sv-SE" dirty="0"/>
              <a:t>, legal </a:t>
            </a:r>
            <a:r>
              <a:rPr lang="sv-SE" dirty="0" err="1"/>
              <a:t>proceedings</a:t>
            </a:r>
            <a:r>
              <a:rPr lang="sv-SE" dirty="0"/>
              <a:t>, or media-</a:t>
            </a:r>
            <a:r>
              <a:rPr lang="sv-SE" dirty="0" err="1"/>
              <a:t>covered</a:t>
            </a:r>
            <a:r>
              <a:rPr lang="sv-SE" dirty="0"/>
              <a:t> events.</a:t>
            </a:r>
          </a:p>
          <a:p>
            <a:endParaRPr lang="sv-SE" dirty="0"/>
          </a:p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r>
              <a:rPr lang="sv-SE" dirty="0"/>
              <a:t>								 </a:t>
            </a:r>
          </a:p>
          <a:p>
            <a:pPr marL="0" indent="0">
              <a:buNone/>
            </a:pPr>
            <a:r>
              <a:rPr lang="sv-SE" sz="1400" dirty="0"/>
              <a:t>									Source: </a:t>
            </a:r>
            <a:r>
              <a:rPr lang="sv-SE" sz="1400" dirty="0" err="1"/>
              <a:t>ChatGPT</a:t>
            </a:r>
            <a:r>
              <a:rPr lang="sv-SE" sz="1400" dirty="0"/>
              <a:t> Edu</a:t>
            </a:r>
            <a:endParaRPr lang="sv-SE" dirty="0"/>
          </a:p>
        </p:txBody>
      </p:sp>
      <p:graphicFrame>
        <p:nvGraphicFramePr>
          <p:cNvPr id="4" name="Tabell 3">
            <a:extLst>
              <a:ext uri="{FF2B5EF4-FFF2-40B4-BE49-F238E27FC236}">
                <a16:creationId xmlns:a16="http://schemas.microsoft.com/office/drawing/2014/main" id="{17AC90F1-825D-525A-5DD9-9533FB6F5244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376930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72987571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107898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b="1" dirty="0"/>
                        <a:t>Original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b="1" dirty="0" err="1"/>
                        <a:t>Safer</a:t>
                      </a:r>
                      <a:r>
                        <a:rPr lang="sv-SE" b="1" dirty="0"/>
                        <a:t> version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709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/>
                        <a:t>“on 17 September 2023”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dirty="0"/>
                        <a:t>“in </a:t>
                      </a:r>
                      <a:r>
                        <a:rPr lang="sv-SE" dirty="0" err="1"/>
                        <a:t>autumn</a:t>
                      </a:r>
                      <a:r>
                        <a:rPr lang="sv-SE" dirty="0"/>
                        <a:t> 2023” or ”2023”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069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/>
                        <a:t>“three days after the public inquiry”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dirty="0"/>
                        <a:t>“</a:t>
                      </a:r>
                      <a:r>
                        <a:rPr lang="sv-SE" dirty="0" err="1"/>
                        <a:t>shortly</a:t>
                      </a:r>
                      <a:r>
                        <a:rPr lang="sv-SE" dirty="0"/>
                        <a:t> </a:t>
                      </a:r>
                      <a:r>
                        <a:rPr lang="sv-SE" dirty="0" err="1"/>
                        <a:t>after</a:t>
                      </a:r>
                      <a:r>
                        <a:rPr lang="sv-SE" dirty="0"/>
                        <a:t> a major public event”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679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dirty="0"/>
                        <a:t>“</a:t>
                      </a:r>
                      <a:r>
                        <a:rPr lang="sv-SE" dirty="0" err="1"/>
                        <a:t>during</a:t>
                      </a:r>
                      <a:r>
                        <a:rPr lang="sv-SE" dirty="0"/>
                        <a:t> the 2020 </a:t>
                      </a:r>
                      <a:r>
                        <a:rPr lang="sv-SE" dirty="0" err="1"/>
                        <a:t>election</a:t>
                      </a:r>
                      <a:r>
                        <a:rPr lang="sv-SE" dirty="0"/>
                        <a:t> </a:t>
                      </a:r>
                      <a:r>
                        <a:rPr lang="sv-SE" dirty="0" err="1"/>
                        <a:t>campaign</a:t>
                      </a:r>
                      <a:r>
                        <a:rPr lang="sv-SE" dirty="0"/>
                        <a:t>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dirty="0"/>
                        <a:t>“</a:t>
                      </a:r>
                      <a:r>
                        <a:rPr lang="sv-SE" dirty="0" err="1"/>
                        <a:t>during</a:t>
                      </a:r>
                      <a:r>
                        <a:rPr lang="sv-SE" dirty="0"/>
                        <a:t> a national </a:t>
                      </a:r>
                      <a:r>
                        <a:rPr lang="sv-SE" dirty="0" err="1"/>
                        <a:t>campaign</a:t>
                      </a:r>
                      <a:r>
                        <a:rPr lang="sv-SE" dirty="0"/>
                        <a:t> period”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8369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8567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5EAA0F8-1F3A-1D10-3397-A2B56EC71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6. </a:t>
            </a:r>
            <a:r>
              <a:rPr lang="sv-SE" dirty="0" err="1"/>
              <a:t>Generalise</a:t>
            </a:r>
            <a:r>
              <a:rPr lang="sv-SE" dirty="0"/>
              <a:t> and </a:t>
            </a:r>
            <a:r>
              <a:rPr lang="sv-SE" dirty="0" err="1"/>
              <a:t>categorise</a:t>
            </a:r>
            <a:r>
              <a:rPr lang="sv-SE" dirty="0"/>
              <a:t> </a:t>
            </a:r>
            <a:r>
              <a:rPr lang="sv-SE" dirty="0" err="1"/>
              <a:t>background</a:t>
            </a:r>
            <a:r>
              <a:rPr lang="sv-SE" dirty="0"/>
              <a:t> information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5A6DC72-EF91-9E84-E57B-C2DA86E74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v-SE" b="1" dirty="0"/>
          </a:p>
          <a:p>
            <a:pPr marL="0" indent="0">
              <a:buNone/>
            </a:pPr>
            <a:r>
              <a:rPr lang="sv-SE" b="1" dirty="0" err="1"/>
              <a:t>Examples</a:t>
            </a:r>
            <a:r>
              <a:rPr lang="sv-SE" b="1" dirty="0"/>
              <a:t>:</a:t>
            </a:r>
          </a:p>
          <a:p>
            <a:r>
              <a:rPr lang="sv-SE" dirty="0" err="1"/>
              <a:t>converting</a:t>
            </a:r>
            <a:r>
              <a:rPr lang="sv-SE" dirty="0"/>
              <a:t> age to age </a:t>
            </a:r>
            <a:r>
              <a:rPr lang="sv-SE" dirty="0" err="1"/>
              <a:t>brackets</a:t>
            </a:r>
            <a:endParaRPr lang="sv-SE" dirty="0"/>
          </a:p>
          <a:p>
            <a:r>
              <a:rPr lang="sv-SE" dirty="0" err="1"/>
              <a:t>recoding</a:t>
            </a:r>
            <a:r>
              <a:rPr lang="sv-SE" dirty="0"/>
              <a:t> </a:t>
            </a:r>
            <a:r>
              <a:rPr lang="sv-SE" dirty="0" err="1"/>
              <a:t>municipality</a:t>
            </a:r>
            <a:r>
              <a:rPr lang="sv-SE" dirty="0"/>
              <a:t> </a:t>
            </a:r>
            <a:r>
              <a:rPr lang="sv-SE" dirty="0" err="1"/>
              <a:t>into</a:t>
            </a:r>
            <a:r>
              <a:rPr lang="sv-SE" dirty="0"/>
              <a:t> </a:t>
            </a:r>
            <a:r>
              <a:rPr lang="sv-SE" dirty="0" err="1"/>
              <a:t>county</a:t>
            </a:r>
            <a:endParaRPr lang="sv-SE" dirty="0"/>
          </a:p>
          <a:p>
            <a:r>
              <a:rPr lang="sv-SE" dirty="0" err="1"/>
              <a:t>classifying</a:t>
            </a:r>
            <a:r>
              <a:rPr lang="sv-SE" dirty="0"/>
              <a:t> </a:t>
            </a:r>
            <a:r>
              <a:rPr lang="sv-SE" dirty="0" err="1"/>
              <a:t>income</a:t>
            </a:r>
            <a:r>
              <a:rPr lang="sv-SE" dirty="0"/>
              <a:t> as </a:t>
            </a:r>
            <a:r>
              <a:rPr lang="sv-SE" dirty="0" err="1"/>
              <a:t>low</a:t>
            </a:r>
            <a:r>
              <a:rPr lang="sv-SE" dirty="0"/>
              <a:t>, medium, or </a:t>
            </a:r>
            <a:r>
              <a:rPr lang="sv-SE" dirty="0" err="1"/>
              <a:t>high</a:t>
            </a:r>
            <a:endParaRPr lang="sv-SE" dirty="0"/>
          </a:p>
          <a:p>
            <a:r>
              <a:rPr lang="sv-SE" dirty="0" err="1"/>
              <a:t>recoding</a:t>
            </a:r>
            <a:r>
              <a:rPr lang="sv-SE" dirty="0"/>
              <a:t> </a:t>
            </a:r>
            <a:r>
              <a:rPr lang="sv-SE" dirty="0" err="1"/>
              <a:t>political</a:t>
            </a:r>
            <a:r>
              <a:rPr lang="sv-SE" dirty="0"/>
              <a:t> </a:t>
            </a:r>
            <a:r>
              <a:rPr lang="sv-SE" dirty="0" err="1"/>
              <a:t>affiliation</a:t>
            </a:r>
            <a:r>
              <a:rPr lang="sv-SE" dirty="0"/>
              <a:t> as right or </a:t>
            </a:r>
            <a:r>
              <a:rPr lang="sv-SE" dirty="0" err="1"/>
              <a:t>left</a:t>
            </a:r>
            <a:endParaRPr lang="sv-SE" dirty="0"/>
          </a:p>
          <a:p>
            <a:r>
              <a:rPr lang="sv-SE" dirty="0" err="1"/>
              <a:t>grouping</a:t>
            </a:r>
            <a:r>
              <a:rPr lang="sv-SE" dirty="0"/>
              <a:t> </a:t>
            </a:r>
            <a:r>
              <a:rPr lang="sv-SE" dirty="0" err="1"/>
              <a:t>occupation</a:t>
            </a:r>
            <a:r>
              <a:rPr lang="sv-SE" dirty="0"/>
              <a:t> or </a:t>
            </a:r>
            <a:r>
              <a:rPr lang="sv-SE" dirty="0" err="1"/>
              <a:t>workplace</a:t>
            </a:r>
            <a:r>
              <a:rPr lang="sv-SE" dirty="0"/>
              <a:t> </a:t>
            </a:r>
            <a:r>
              <a:rPr lang="sv-SE" dirty="0" err="1"/>
              <a:t>into</a:t>
            </a:r>
            <a:r>
              <a:rPr lang="sv-SE" dirty="0"/>
              <a:t> public or private </a:t>
            </a:r>
            <a:r>
              <a:rPr lang="sv-SE" dirty="0" err="1"/>
              <a:t>sector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								  </a:t>
            </a:r>
          </a:p>
          <a:p>
            <a:pPr marL="0" indent="0">
              <a:buNone/>
            </a:pPr>
            <a:r>
              <a:rPr lang="sv-SE" sz="1400" dirty="0"/>
              <a:t>								Source: </a:t>
            </a:r>
            <a:r>
              <a:rPr lang="sv-SE" sz="1400" dirty="0" err="1"/>
              <a:t>www.researchdata.se</a:t>
            </a:r>
            <a:endParaRPr lang="sv-SE" sz="1400" dirty="0"/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170421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6BC143E-DF45-A4B9-6F44-429513182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ACTIVITY 1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CCF51A06-7588-A5DA-2EA6-630E4B0357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sv-SE" dirty="0"/>
              <a:t>3-5 min</a:t>
            </a:r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5A7A292A-B3D0-3A99-8586-2966CA4BD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00823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192E88B-82DA-EC14-D6C2-CBB19B7E2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ACTIVITY 1: </a:t>
            </a:r>
            <a:r>
              <a:rPr lang="sv-SE" dirty="0" err="1"/>
              <a:t>Pseudonymised</a:t>
            </a:r>
            <a:r>
              <a:rPr lang="sv-SE" dirty="0"/>
              <a:t> </a:t>
            </a:r>
            <a:r>
              <a:rPr lang="sv-SE" dirty="0" err="1"/>
              <a:t>examples</a:t>
            </a:r>
            <a:r>
              <a:rPr lang="sv-SE" dirty="0"/>
              <a:t> from </a:t>
            </a:r>
            <a:r>
              <a:rPr lang="sv-SE" dirty="0" err="1"/>
              <a:t>ChatGPT</a:t>
            </a:r>
            <a:r>
              <a:rPr lang="sv-SE" dirty="0"/>
              <a:t> </a:t>
            </a:r>
          </a:p>
        </p:txBody>
      </p:sp>
      <p:graphicFrame>
        <p:nvGraphicFramePr>
          <p:cNvPr id="4" name="Platshållare för innehåll 3">
            <a:extLst>
              <a:ext uri="{FF2B5EF4-FFF2-40B4-BE49-F238E27FC236}">
                <a16:creationId xmlns:a16="http://schemas.microsoft.com/office/drawing/2014/main" id="{48D95814-9C43-26D6-5558-30242C325DC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086377"/>
          <a:ext cx="10515600" cy="3601953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6283134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669938678"/>
                    </a:ext>
                  </a:extLst>
                </a:gridCol>
              </a:tblGrid>
              <a:tr h="423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b="1" dirty="0"/>
                        <a:t>Original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b="1" dirty="0" err="1"/>
                        <a:t>Pseudonymised</a:t>
                      </a:r>
                      <a:endParaRPr lang="sv-SE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542854"/>
                  </a:ext>
                </a:extLst>
              </a:tr>
              <a:tr h="423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/>
                        <a:t>“I live in Kiruna”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sv-SE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8005813"/>
                  </a:ext>
                </a:extLst>
              </a:tr>
              <a:tr h="423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/>
                        <a:t>“I am a 47-year-old neurosurgeon”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sv-S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544616"/>
                  </a:ext>
                </a:extLst>
              </a:tr>
              <a:tr h="423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dirty="0"/>
                        <a:t>“My son </a:t>
                      </a:r>
                      <a:r>
                        <a:rPr lang="sv-SE" dirty="0" err="1"/>
                        <a:t>attends</a:t>
                      </a:r>
                      <a:r>
                        <a:rPr lang="sv-SE" dirty="0"/>
                        <a:t> </a:t>
                      </a:r>
                      <a:r>
                        <a:rPr lang="sv-SE" dirty="0" err="1"/>
                        <a:t>Greenfield</a:t>
                      </a:r>
                      <a:r>
                        <a:rPr lang="sv-SE" dirty="0"/>
                        <a:t> </a:t>
                      </a:r>
                      <a:r>
                        <a:rPr lang="sv-SE" dirty="0" err="1"/>
                        <a:t>Primary</a:t>
                      </a:r>
                      <a:r>
                        <a:rPr lang="sv-SE" dirty="0"/>
                        <a:t>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sv-S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150172"/>
                  </a:ext>
                </a:extLst>
              </a:tr>
              <a:tr h="423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/>
                        <a:t>“I started on 12 March 2024”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sv-S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4455061"/>
                  </a:ext>
                </a:extLst>
              </a:tr>
              <a:tr h="7415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/>
                        <a:t>“My research is on hygiene practices in post-WW2 Finland and Sweden”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sv-S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295079"/>
                  </a:ext>
                </a:extLst>
              </a:tr>
              <a:tr h="7415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dirty="0"/>
                        <a:t>“As the </a:t>
                      </a:r>
                      <a:r>
                        <a:rPr lang="sv-SE" dirty="0" err="1"/>
                        <a:t>only</a:t>
                      </a:r>
                      <a:r>
                        <a:rPr lang="sv-SE" dirty="0"/>
                        <a:t> </a:t>
                      </a:r>
                      <a:r>
                        <a:rPr lang="sv-SE" dirty="0" err="1"/>
                        <a:t>Arabic-speaking</a:t>
                      </a:r>
                      <a:r>
                        <a:rPr lang="sv-SE" dirty="0"/>
                        <a:t> </a:t>
                      </a:r>
                      <a:r>
                        <a:rPr lang="sv-SE" dirty="0" err="1"/>
                        <a:t>pediatric</a:t>
                      </a:r>
                      <a:r>
                        <a:rPr lang="sv-SE" dirty="0"/>
                        <a:t> </a:t>
                      </a:r>
                      <a:r>
                        <a:rPr lang="sv-SE" dirty="0" err="1"/>
                        <a:t>nurse</a:t>
                      </a:r>
                      <a:r>
                        <a:rPr lang="sv-SE" dirty="0"/>
                        <a:t> in </a:t>
                      </a:r>
                      <a:r>
                        <a:rPr lang="sv-SE" dirty="0" err="1"/>
                        <a:t>town</a:t>
                      </a:r>
                      <a:r>
                        <a:rPr lang="sv-SE" dirty="0"/>
                        <a:t>…”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sv-SE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671862"/>
                  </a:ext>
                </a:extLst>
              </a:tr>
            </a:tbl>
          </a:graphicData>
        </a:graphic>
      </p:graphicFrame>
      <p:pic>
        <p:nvPicPr>
          <p:cNvPr id="6" name="Bildobjekt 5" descr="Free illustration: Question, Mark, Symbol, Sign, Ask - Free Image on ...">
            <a:extLst>
              <a:ext uri="{FF2B5EF4-FFF2-40B4-BE49-F238E27FC236}">
                <a16:creationId xmlns:a16="http://schemas.microsoft.com/office/drawing/2014/main" id="{EE2B705C-9873-F2E8-FD48-F1C707EEFD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096000" y="2611003"/>
            <a:ext cx="2232460" cy="223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895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6047C-70F3-5421-2D8E-81AC77563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DA8B2BD-AE5E-9776-0BA7-E9D648004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Pseudonymised</a:t>
            </a:r>
            <a:r>
              <a:rPr lang="sv-SE" dirty="0"/>
              <a:t> </a:t>
            </a:r>
            <a:r>
              <a:rPr lang="sv-SE" dirty="0" err="1"/>
              <a:t>examples</a:t>
            </a:r>
            <a:r>
              <a:rPr lang="sv-SE" dirty="0"/>
              <a:t> from </a:t>
            </a:r>
            <a:r>
              <a:rPr lang="sv-SE" dirty="0" err="1"/>
              <a:t>ChatGPT</a:t>
            </a:r>
            <a:r>
              <a:rPr lang="sv-SE" dirty="0"/>
              <a:t> (</a:t>
            </a:r>
            <a:r>
              <a:rPr lang="sv-SE" dirty="0" err="1"/>
              <a:t>cont</a:t>
            </a:r>
            <a:r>
              <a:rPr lang="sv-SE" dirty="0"/>
              <a:t>.) </a:t>
            </a:r>
          </a:p>
        </p:txBody>
      </p:sp>
      <p:graphicFrame>
        <p:nvGraphicFramePr>
          <p:cNvPr id="4" name="Platshållare för innehåll 3">
            <a:extLst>
              <a:ext uri="{FF2B5EF4-FFF2-40B4-BE49-F238E27FC236}">
                <a16:creationId xmlns:a16="http://schemas.microsoft.com/office/drawing/2014/main" id="{8A23FF40-1ADD-9E6C-80F4-901EB10F75F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086377"/>
          <a:ext cx="10515600" cy="3601953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6283134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669938678"/>
                    </a:ext>
                  </a:extLst>
                </a:gridCol>
              </a:tblGrid>
              <a:tr h="423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b="1" dirty="0"/>
                        <a:t>Original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b="1" dirty="0" err="1"/>
                        <a:t>Pseudonymised</a:t>
                      </a:r>
                      <a:endParaRPr lang="sv-SE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542854"/>
                  </a:ext>
                </a:extLst>
              </a:tr>
              <a:tr h="423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/>
                        <a:t>“I live in Kiruna”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dirty="0"/>
                        <a:t>“I live in a small </a:t>
                      </a:r>
                      <a:r>
                        <a:rPr lang="sv-SE" dirty="0" err="1"/>
                        <a:t>town</a:t>
                      </a:r>
                      <a:r>
                        <a:rPr lang="sv-SE" dirty="0"/>
                        <a:t> in </a:t>
                      </a:r>
                      <a:r>
                        <a:rPr lang="sv-SE" dirty="0" err="1"/>
                        <a:t>northern</a:t>
                      </a:r>
                      <a:r>
                        <a:rPr lang="sv-SE" dirty="0"/>
                        <a:t> Sweden”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8005813"/>
                  </a:ext>
                </a:extLst>
              </a:tr>
              <a:tr h="423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/>
                        <a:t>“I am a 47-year-old neurosurgeon”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/>
                        <a:t>“I am a mid-career specialist doctor”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544616"/>
                  </a:ext>
                </a:extLst>
              </a:tr>
              <a:tr h="423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dirty="0"/>
                        <a:t>“My son </a:t>
                      </a:r>
                      <a:r>
                        <a:rPr lang="sv-SE" dirty="0" err="1"/>
                        <a:t>attends</a:t>
                      </a:r>
                      <a:r>
                        <a:rPr lang="sv-SE" dirty="0"/>
                        <a:t> </a:t>
                      </a:r>
                      <a:r>
                        <a:rPr lang="sv-SE" dirty="0" err="1"/>
                        <a:t>Tullbro</a:t>
                      </a:r>
                      <a:r>
                        <a:rPr lang="sv-SE" dirty="0"/>
                        <a:t> </a:t>
                      </a:r>
                      <a:r>
                        <a:rPr lang="sv-SE" dirty="0" err="1"/>
                        <a:t>School</a:t>
                      </a:r>
                      <a:r>
                        <a:rPr lang="sv-SE" dirty="0"/>
                        <a:t>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/>
                        <a:t>“My child attends a local primary school”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150172"/>
                  </a:ext>
                </a:extLst>
              </a:tr>
              <a:tr h="423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/>
                        <a:t>“I started on 12 March 2024”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/>
                        <a:t>“I started in early 2024”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4455061"/>
                  </a:ext>
                </a:extLst>
              </a:tr>
              <a:tr h="7415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dirty="0"/>
                        <a:t>“My research is on </a:t>
                      </a:r>
                      <a:r>
                        <a:rPr lang="sv-SE" dirty="0" err="1"/>
                        <a:t>hygiene</a:t>
                      </a:r>
                      <a:r>
                        <a:rPr lang="sv-SE" dirty="0"/>
                        <a:t> </a:t>
                      </a:r>
                      <a:r>
                        <a:rPr lang="sv-SE" dirty="0" err="1"/>
                        <a:t>practices</a:t>
                      </a:r>
                      <a:r>
                        <a:rPr lang="sv-SE" dirty="0"/>
                        <a:t> in post-WW2 Finland and Sweden”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/>
                        <a:t>“My research is on public health practices in two Nordic countries during the mid-20th century”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295079"/>
                  </a:ext>
                </a:extLst>
              </a:tr>
              <a:tr h="7415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/>
                        <a:t>“As the only Arabic-speaking pediatric nurse in town…”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dirty="0"/>
                        <a:t>“As </a:t>
                      </a:r>
                      <a:r>
                        <a:rPr lang="sv-SE" dirty="0" err="1"/>
                        <a:t>one</a:t>
                      </a:r>
                      <a:r>
                        <a:rPr lang="sv-SE" dirty="0"/>
                        <a:t> </a:t>
                      </a:r>
                      <a:r>
                        <a:rPr lang="sv-SE" dirty="0" err="1"/>
                        <a:t>of</a:t>
                      </a:r>
                      <a:r>
                        <a:rPr lang="sv-SE" dirty="0"/>
                        <a:t> </a:t>
                      </a:r>
                      <a:r>
                        <a:rPr lang="sv-SE" dirty="0" err="1"/>
                        <a:t>few</a:t>
                      </a:r>
                      <a:r>
                        <a:rPr lang="sv-SE" dirty="0"/>
                        <a:t> </a:t>
                      </a:r>
                      <a:r>
                        <a:rPr lang="sv-SE" dirty="0" err="1"/>
                        <a:t>multilingual</a:t>
                      </a:r>
                      <a:r>
                        <a:rPr lang="sv-SE" dirty="0"/>
                        <a:t> </a:t>
                      </a:r>
                      <a:r>
                        <a:rPr lang="sv-SE" dirty="0" err="1"/>
                        <a:t>pediatric</a:t>
                      </a:r>
                      <a:r>
                        <a:rPr lang="sv-SE" dirty="0"/>
                        <a:t> </a:t>
                      </a:r>
                      <a:r>
                        <a:rPr lang="sv-SE" dirty="0" err="1"/>
                        <a:t>healthcare</a:t>
                      </a:r>
                      <a:r>
                        <a:rPr lang="sv-SE" dirty="0"/>
                        <a:t> </a:t>
                      </a:r>
                      <a:r>
                        <a:rPr lang="sv-SE" dirty="0" err="1"/>
                        <a:t>workers</a:t>
                      </a:r>
                      <a:r>
                        <a:rPr lang="sv-SE" dirty="0"/>
                        <a:t> in the area…”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6718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0747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8CB61E5-6933-704D-9C52-0A5048B94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Read </a:t>
            </a:r>
            <a:r>
              <a:rPr lang="sv-SE" dirty="0" err="1"/>
              <a:t>more</a:t>
            </a:r>
            <a:r>
              <a:rPr lang="sv-SE" dirty="0"/>
              <a:t>…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65447F5-33C3-85CC-871B-89B959CA5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 dirty="0">
                <a:hlinkClick r:id="rId3"/>
              </a:rPr>
              <a:t>https://researchdata.se/en/manage-data/data-containing-personal-information/handbook-data-containing-personal-information/methods/methods-for-qualitative-data</a:t>
            </a:r>
            <a:endParaRPr lang="sv-SE" dirty="0"/>
          </a:p>
          <a:p>
            <a:endParaRPr lang="sv-SE" dirty="0"/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774594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801AE-4C62-AF1C-13C9-F17CA617E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B3AF66F-1BE9-65CE-9E57-A9E45B36A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ACTIVITY 2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3A685DDC-0BC1-BA19-B2D1-92494B4ADB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sv-SE" dirty="0"/>
              <a:t>10 min</a:t>
            </a:r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AAF1A975-3FB4-6533-91B2-255C58072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734002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32A2E-B011-EE8D-E736-89745E986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D1AC49F-CA9A-33D9-3A79-C0B3273B1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CLASS DISCUSSION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7AECE070-5783-3977-2EB0-2B37E223F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sv-SE" dirty="0"/>
              <a:t>10 min</a:t>
            </a:r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765595FD-4BA9-FC5F-8D7D-025328EE0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803039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DC74A0B-6D9E-033D-C417-4F8BE6C79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Also</a:t>
            </a:r>
            <a:r>
              <a:rPr lang="sv-SE" dirty="0"/>
              <a:t>, to </a:t>
            </a:r>
            <a:r>
              <a:rPr lang="sv-SE" dirty="0" err="1"/>
              <a:t>think</a:t>
            </a:r>
            <a:r>
              <a:rPr lang="sv-SE" dirty="0"/>
              <a:t> </a:t>
            </a:r>
            <a:r>
              <a:rPr lang="sv-SE" dirty="0" err="1"/>
              <a:t>about</a:t>
            </a:r>
            <a:r>
              <a:rPr lang="sv-SE" dirty="0"/>
              <a:t>…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3442796-23FF-655A-A72E-C4CD3A652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Square [</a:t>
            </a:r>
            <a:r>
              <a:rPr lang="sv-SE" dirty="0" err="1"/>
              <a:t>brackets</a:t>
            </a:r>
            <a:r>
              <a:rPr lang="sv-SE" dirty="0"/>
              <a:t>] for substitutions </a:t>
            </a:r>
          </a:p>
          <a:p>
            <a:r>
              <a:rPr lang="sv-SE" dirty="0"/>
              <a:t>Double-check </a:t>
            </a:r>
            <a:r>
              <a:rPr lang="sv-SE" dirty="0" err="1"/>
              <a:t>masking</a:t>
            </a:r>
            <a:r>
              <a:rPr lang="sv-SE" dirty="0"/>
              <a:t> </a:t>
            </a:r>
            <a:r>
              <a:rPr lang="sv-SE" dirty="0" err="1"/>
              <a:t>function</a:t>
            </a:r>
            <a:r>
              <a:rPr lang="sv-SE" dirty="0"/>
              <a:t> </a:t>
            </a:r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use</a:t>
            </a:r>
            <a:endParaRPr lang="sv-SE" dirty="0"/>
          </a:p>
          <a:p>
            <a:r>
              <a:rPr lang="sv-SE" dirty="0"/>
              <a:t>Save in PDF/A format  </a:t>
            </a:r>
          </a:p>
          <a:p>
            <a:r>
              <a:rPr lang="sv-SE" dirty="0" err="1"/>
              <a:t>Editable</a:t>
            </a:r>
            <a:r>
              <a:rPr lang="sv-SE" dirty="0"/>
              <a:t> and </a:t>
            </a:r>
            <a:r>
              <a:rPr lang="sv-SE" dirty="0" err="1"/>
              <a:t>machine-readable</a:t>
            </a:r>
            <a:r>
              <a:rPr lang="sv-SE" dirty="0"/>
              <a:t> version, </a:t>
            </a:r>
            <a:r>
              <a:rPr lang="sv-SE" dirty="0" err="1"/>
              <a:t>such</a:t>
            </a:r>
            <a:r>
              <a:rPr lang="sv-SE" dirty="0"/>
              <a:t> as UTF-8 TXT, DOCX/ODT, or XML, </a:t>
            </a:r>
            <a:r>
              <a:rPr lang="sv-SE" dirty="0" err="1"/>
              <a:t>might</a:t>
            </a:r>
            <a:r>
              <a:rPr lang="sv-SE" dirty="0"/>
              <a:t> be relevant, </a:t>
            </a:r>
            <a:r>
              <a:rPr lang="sv-SE" dirty="0" err="1"/>
              <a:t>depending</a:t>
            </a:r>
            <a:r>
              <a:rPr lang="sv-SE" dirty="0"/>
              <a:t> on </a:t>
            </a:r>
            <a:r>
              <a:rPr lang="sv-SE" dirty="0" err="1"/>
              <a:t>type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research as </a:t>
            </a:r>
            <a:r>
              <a:rPr lang="sv-SE" dirty="0" err="1"/>
              <a:t>well</a:t>
            </a:r>
            <a:r>
              <a:rPr lang="sv-SE" dirty="0"/>
              <a:t> as </a:t>
            </a:r>
            <a:r>
              <a:rPr lang="sv-SE" dirty="0" err="1"/>
              <a:t>repository</a:t>
            </a:r>
            <a:r>
              <a:rPr lang="sv-SE" dirty="0"/>
              <a:t> </a:t>
            </a:r>
            <a:r>
              <a:rPr lang="sv-SE" dirty="0" err="1"/>
              <a:t>requirements</a:t>
            </a:r>
            <a:endParaRPr lang="sv-SE" dirty="0"/>
          </a:p>
          <a:p>
            <a:r>
              <a:rPr lang="sv-SE" dirty="0"/>
              <a:t>Before </a:t>
            </a:r>
            <a:r>
              <a:rPr lang="sv-SE" dirty="0" err="1"/>
              <a:t>depositing</a:t>
            </a:r>
            <a:r>
              <a:rPr lang="sv-SE" dirty="0"/>
              <a:t>, check for </a:t>
            </a:r>
            <a:r>
              <a:rPr lang="sv-SE" dirty="0" err="1"/>
              <a:t>identifiers</a:t>
            </a:r>
            <a:r>
              <a:rPr lang="sv-SE" dirty="0"/>
              <a:t> </a:t>
            </a:r>
            <a:r>
              <a:rPr lang="sv-SE" dirty="0" err="1"/>
              <a:t>outside</a:t>
            </a:r>
            <a:r>
              <a:rPr lang="sv-SE" dirty="0"/>
              <a:t> the </a:t>
            </a:r>
            <a:r>
              <a:rPr lang="sv-SE" dirty="0" err="1"/>
              <a:t>visible</a:t>
            </a:r>
            <a:r>
              <a:rPr lang="sv-SE" dirty="0"/>
              <a:t> transcript text (</a:t>
            </a:r>
            <a:r>
              <a:rPr lang="sv-SE" dirty="0" err="1"/>
              <a:t>next</a:t>
            </a:r>
            <a:r>
              <a:rPr lang="sv-SE" dirty="0"/>
              <a:t> </a:t>
            </a:r>
            <a:r>
              <a:rPr lang="sv-SE" dirty="0" err="1"/>
              <a:t>slide</a:t>
            </a:r>
            <a:r>
              <a:rPr lang="sv-SE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4545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 1">
            <a:extLst>
              <a:ext uri="{FF2B5EF4-FFF2-40B4-BE49-F238E27FC236}">
                <a16:creationId xmlns:a16="http://schemas.microsoft.com/office/drawing/2014/main" id="{05B5CBF5-034D-A1F6-DA09-9F53E3BBFC4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160060"/>
          <a:ext cx="10515600" cy="4960068"/>
        </p:xfrm>
        <a:graphic>
          <a:graphicData uri="http://schemas.openxmlformats.org/drawingml/2006/table">
            <a:tbl>
              <a:tblPr/>
              <a:tblGrid>
                <a:gridCol w="4030014">
                  <a:extLst>
                    <a:ext uri="{9D8B030D-6E8A-4147-A177-3AD203B41FA5}">
                      <a16:colId xmlns:a16="http://schemas.microsoft.com/office/drawing/2014/main" val="2094220230"/>
                    </a:ext>
                  </a:extLst>
                </a:gridCol>
                <a:gridCol w="6485586">
                  <a:extLst>
                    <a:ext uri="{9D8B030D-6E8A-4147-A177-3AD203B41FA5}">
                      <a16:colId xmlns:a16="http://schemas.microsoft.com/office/drawing/2014/main" val="82603013"/>
                    </a:ext>
                  </a:extLst>
                </a:gridCol>
              </a:tblGrid>
              <a:tr h="4509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20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Risk area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2000" b="1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What</a:t>
                      </a:r>
                      <a:r>
                        <a:rPr lang="sv-SE" sz="20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 to check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3943966"/>
                  </a:ext>
                </a:extLst>
              </a:tr>
              <a:tr h="789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b="1"/>
                        <a:t>File metadata</a:t>
                      </a:r>
                      <a:endParaRPr lang="sv-S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/>
                        <a:t>Author name, institution, path names, creation history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6338679"/>
                  </a:ext>
                </a:extLst>
              </a:tr>
              <a:tr h="4509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b="1"/>
                        <a:t>Track changes</a:t>
                      </a:r>
                      <a:endParaRPr lang="sv-S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/>
                        <a:t>Deleted names or places may remain recoverable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7485316"/>
                  </a:ext>
                </a:extLst>
              </a:tr>
              <a:tr h="4509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b="1" dirty="0" err="1"/>
                        <a:t>Comments</a:t>
                      </a:r>
                      <a:endParaRPr lang="sv-SE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/>
                        <a:t>Researcher notes may contain real identities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4887189"/>
                  </a:ext>
                </a:extLst>
              </a:tr>
              <a:tr h="4509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b="1"/>
                        <a:t>Embedded objects</a:t>
                      </a:r>
                      <a:endParaRPr lang="sv-S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dirty="0"/>
                        <a:t>Images, audio clips, </a:t>
                      </a:r>
                      <a:r>
                        <a:rPr lang="sv-SE" dirty="0" err="1"/>
                        <a:t>linked</a:t>
                      </a:r>
                      <a:r>
                        <a:rPr lang="sv-SE" dirty="0"/>
                        <a:t> </a:t>
                      </a:r>
                      <a:r>
                        <a:rPr lang="sv-SE" dirty="0" err="1"/>
                        <a:t>files</a:t>
                      </a:r>
                      <a:r>
                        <a:rPr lang="sv-SE" dirty="0"/>
                        <a:t>, </a:t>
                      </a:r>
                      <a:r>
                        <a:rPr lang="sv-SE" dirty="0" err="1"/>
                        <a:t>spreadsheets</a:t>
                      </a:r>
                      <a:endParaRPr lang="sv-SE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458912"/>
                  </a:ext>
                </a:extLst>
              </a:tr>
              <a:tr h="789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b="1"/>
                        <a:t>File names</a:t>
                      </a:r>
                      <a:endParaRPr lang="sv-S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dirty="0" err="1"/>
                        <a:t>Avoid</a:t>
                      </a:r>
                      <a:r>
                        <a:rPr lang="sv-SE" dirty="0"/>
                        <a:t> </a:t>
                      </a:r>
                      <a:r>
                        <a:rPr lang="sv-SE" dirty="0">
                          <a:latin typeface="Courier New" panose="02070309020205020404" pitchFamily="49" charset="0"/>
                        </a:rPr>
                        <a:t>Interview_Anders_Andersson_2024.docx</a:t>
                      </a:r>
                      <a:r>
                        <a:rPr lang="sv-SE" dirty="0"/>
                        <a:t>; </a:t>
                      </a:r>
                      <a:r>
                        <a:rPr lang="sv-SE" dirty="0" err="1"/>
                        <a:t>use</a:t>
                      </a:r>
                      <a:r>
                        <a:rPr lang="sv-SE" dirty="0"/>
                        <a:t> </a:t>
                      </a:r>
                      <a:r>
                        <a:rPr lang="sv-SE" dirty="0">
                          <a:latin typeface="Courier New" panose="02070309020205020404" pitchFamily="49" charset="0"/>
                        </a:rPr>
                        <a:t>P01_transcript.docx</a:t>
                      </a:r>
                      <a:endParaRPr lang="sv-SE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510711"/>
                  </a:ext>
                </a:extLst>
              </a:tr>
              <a:tr h="789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b="1"/>
                        <a:t>PDF redactions</a:t>
                      </a:r>
                      <a:endParaRPr lang="sv-S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/>
                        <a:t>Do not just draw black boxes over text; use proper redaction/export workflows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4294406"/>
                  </a:ext>
                </a:extLst>
              </a:tr>
              <a:tr h="789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b="1"/>
                        <a:t>Audio/video transcripts</a:t>
                      </a:r>
                      <a:endParaRPr lang="sv-S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dirty="0"/>
                        <a:t>Check </a:t>
                      </a:r>
                      <a:r>
                        <a:rPr lang="sv-SE" dirty="0" err="1"/>
                        <a:t>timestamps</a:t>
                      </a:r>
                      <a:r>
                        <a:rPr lang="sv-SE" dirty="0"/>
                        <a:t> and speaker </a:t>
                      </a:r>
                      <a:r>
                        <a:rPr lang="sv-SE" dirty="0" err="1"/>
                        <a:t>labels</a:t>
                      </a:r>
                      <a:r>
                        <a:rPr lang="sv-SE" dirty="0"/>
                        <a:t> for </a:t>
                      </a:r>
                      <a:r>
                        <a:rPr lang="sv-SE" dirty="0" err="1"/>
                        <a:t>identifiers</a:t>
                      </a:r>
                      <a:endParaRPr lang="sv-SE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599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3651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text 1">
            <a:extLst>
              <a:ext uri="{FF2B5EF4-FFF2-40B4-BE49-F238E27FC236}">
                <a16:creationId xmlns:a16="http://schemas.microsoft.com/office/drawing/2014/main" id="{79998E47-507B-F4A5-1B6B-DE0F19D89E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sv-SE" dirty="0" err="1"/>
              <a:t>Was</a:t>
            </a:r>
            <a:r>
              <a:rPr lang="sv-SE" dirty="0"/>
              <a:t> </a:t>
            </a:r>
            <a:r>
              <a:rPr lang="sv-SE" dirty="0" err="1"/>
              <a:t>there</a:t>
            </a:r>
            <a:r>
              <a:rPr lang="sv-SE" dirty="0"/>
              <a:t> </a:t>
            </a:r>
            <a:r>
              <a:rPr lang="sv-SE" dirty="0" err="1"/>
              <a:t>anything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I </a:t>
            </a:r>
            <a:r>
              <a:rPr lang="sv-SE" dirty="0" err="1"/>
              <a:t>didn’t</a:t>
            </a:r>
            <a:r>
              <a:rPr lang="sv-SE" dirty="0"/>
              <a:t> cover? Or </a:t>
            </a:r>
            <a:r>
              <a:rPr lang="sv-SE" dirty="0" err="1"/>
              <a:t>didn’t</a:t>
            </a:r>
            <a:r>
              <a:rPr lang="sv-SE" dirty="0"/>
              <a:t> cover </a:t>
            </a:r>
            <a:r>
              <a:rPr lang="sv-SE" dirty="0" err="1"/>
              <a:t>enough</a:t>
            </a:r>
            <a:r>
              <a:rPr lang="sv-SE" dirty="0"/>
              <a:t>?</a:t>
            </a:r>
          </a:p>
        </p:txBody>
      </p:sp>
      <p:sp>
        <p:nvSpPr>
          <p:cNvPr id="3" name="Rubrik 2">
            <a:extLst>
              <a:ext uri="{FF2B5EF4-FFF2-40B4-BE49-F238E27FC236}">
                <a16:creationId xmlns:a16="http://schemas.microsoft.com/office/drawing/2014/main" id="{AEB0EACD-AD43-0331-41BD-0AA8EC850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Questions</a:t>
            </a:r>
            <a:r>
              <a:rPr lang="sv-SE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28609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75F4566-ABF2-D7B6-E5F9-516C6158E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0933" y="2048725"/>
            <a:ext cx="3152516" cy="1532676"/>
          </a:xfrm>
        </p:spPr>
        <p:txBody>
          <a:bodyPr>
            <a:normAutofit/>
          </a:bodyPr>
          <a:lstStyle/>
          <a:p>
            <a:r>
              <a:rPr lang="sv-SE" dirty="0" err="1"/>
              <a:t>Thanks</a:t>
            </a:r>
            <a:r>
              <a:rPr lang="sv-SE" dirty="0"/>
              <a:t> for </a:t>
            </a:r>
            <a:r>
              <a:rPr lang="sv-SE" dirty="0" err="1"/>
              <a:t>listening</a:t>
            </a:r>
            <a:endParaRPr lang="sv-SE" dirty="0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FED626ED-D195-EB95-82BF-68D2D63B59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sv-SE" dirty="0"/>
              <a:t>Arin Tham </a:t>
            </a:r>
            <a:r>
              <a:rPr lang="sv-SE" dirty="0" err="1"/>
              <a:t>Savran</a:t>
            </a:r>
            <a:endParaRPr lang="sv-SE" dirty="0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5C8AC1EF-B676-594D-75B6-33FCAEE9F8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sv-SE" dirty="0" err="1"/>
              <a:t>arin.tham@snd.se</a:t>
            </a:r>
            <a:endParaRPr lang="sv-SE" dirty="0"/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3CC8184D-5CA3-6C09-4E80-747E114AC9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sv-SE" dirty="0" err="1"/>
              <a:t>www.researchdata.se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776854343"/>
      </p:ext>
    </p:extLst>
  </p:cSld>
  <p:clrMapOvr>
    <a:masterClrMapping/>
  </p:clrMapOvr>
</p:sld>
</file>

<file path=ppt/theme/theme1.xml><?xml version="1.0" encoding="utf-8"?>
<a:theme xmlns:a="http://schemas.openxmlformats.org/drawingml/2006/main" name="SND_theme">
  <a:themeElements>
    <a:clrScheme name="SND">
      <a:dk1>
        <a:srgbClr val="262626"/>
      </a:dk1>
      <a:lt1>
        <a:sysClr val="window" lastClr="FFFFFF"/>
      </a:lt1>
      <a:dk2>
        <a:srgbClr val="3F3F3F"/>
      </a:dk2>
      <a:lt2>
        <a:srgbClr val="E7E6E6"/>
      </a:lt2>
      <a:accent1>
        <a:srgbClr val="1E3962"/>
      </a:accent1>
      <a:accent2>
        <a:srgbClr val="659DD2"/>
      </a:accent2>
      <a:accent3>
        <a:srgbClr val="E4472B"/>
      </a:accent3>
      <a:accent4>
        <a:srgbClr val="C7D9E5"/>
      </a:accent4>
      <a:accent5>
        <a:srgbClr val="F0F0F0"/>
      </a:accent5>
      <a:accent6>
        <a:srgbClr val="FFFFFF"/>
      </a:accent6>
      <a:hlink>
        <a:srgbClr val="659DD2"/>
      </a:hlink>
      <a:folHlink>
        <a:srgbClr val="954F72"/>
      </a:folHlink>
    </a:clrScheme>
    <a:fontScheme name="SND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2F75E35-3429-A745-B7DC-89427B33C851}" vid="{2FE0F11F-15BB-EC4C-B482-A9BB542AF391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GU Dokument" ma:contentTypeID="0x010100C7C811754E204E47A665D3B7C5D98E1E001F75F1B42379004D873139F5D95D4129" ma:contentTypeVersion="60" ma:contentTypeDescription="" ma:contentTypeScope="" ma:versionID="ad07f3caedc400790bf27972f31d2ce4">
  <xsd:schema xmlns:xsd="http://www.w3.org/2001/XMLSchema" xmlns:xs="http://www.w3.org/2001/XMLSchema" xmlns:p="http://schemas.microsoft.com/office/2006/metadata/properties" xmlns:ns2="2a53a6d5-ab28-44f4-b2f8-9fe72ce3cf60" xmlns:ns3="231fe8cf-ccc0-454c-9b48-ac3bf72b5807" xmlns:ns4="4160d47a-ddaf-4f96-aa5a-ac84a930d3d1" xmlns:ns5="ae9dd6ea-c2e4-4869-976b-8dbce2ea94e0" xmlns:ns6="a94ff575-881d-444c-a15f-28f2022b7885" xmlns:ns7="b79d7df0-f7a9-4c01-adec-37d90b5fddf1" targetNamespace="http://schemas.microsoft.com/office/2006/metadata/properties" ma:root="true" ma:fieldsID="68fb1d6febd0d0320ace89177473126a" ns2:_="" ns3:_="" ns4:_="" ns5:_="" ns6:_="" ns7:_="">
    <xsd:import namespace="2a53a6d5-ab28-44f4-b2f8-9fe72ce3cf60"/>
    <xsd:import namespace="231fe8cf-ccc0-454c-9b48-ac3bf72b5807"/>
    <xsd:import namespace="4160d47a-ddaf-4f96-aa5a-ac84a930d3d1"/>
    <xsd:import namespace="ae9dd6ea-c2e4-4869-976b-8dbce2ea94e0"/>
    <xsd:import namespace="a94ff575-881d-444c-a15f-28f2022b7885"/>
    <xsd:import namespace="b79d7df0-f7a9-4c01-adec-37d90b5fddf1"/>
    <xsd:element name="properties">
      <xsd:complexType>
        <xsd:sequence>
          <xsd:element name="documentManagement">
            <xsd:complexType>
              <xsd:all>
                <xsd:element ref="ns3:GU_DocDescription" minOccurs="0"/>
                <xsd:element ref="ns2:TaxKeywordTaxHTField" minOccurs="0"/>
                <xsd:element ref="ns2:TaxCatchAll" minOccurs="0"/>
                <xsd:element ref="ns2:TaxCatchAllLabel" minOccurs="0"/>
                <xsd:element ref="ns3:GU_DocStatus" minOccurs="0"/>
                <xsd:element ref="ns3:ffd98747c26642ec8caf6ec3431d5d08" minOccurs="0"/>
                <xsd:element ref="ns4:b96f7c442203436fbdf8d4ebf5de5e7a" minOccurs="0"/>
                <xsd:element ref="ns4:GU_AccessRight" minOccurs="0"/>
                <xsd:element ref="ns4:GU_EstablishedDate" minOccurs="0"/>
                <xsd:element ref="ns4:GU_ArchivedDate" minOccurs="0"/>
                <xsd:element ref="ns2:GU_ArchivedBy" minOccurs="0"/>
                <xsd:element ref="ns4:GU_ArchiveDocId" minOccurs="0"/>
                <xsd:element ref="ns4:GU_ArchiveDocGuid" minOccurs="0"/>
                <xsd:element ref="ns4:GU_ArchiveDocVersionId" minOccurs="0"/>
                <xsd:element ref="ns5:GU_SiteGuid" minOccurs="0"/>
                <xsd:element ref="ns4:GU_ArchiveDocUrl" minOccurs="0"/>
                <xsd:element ref="ns2:GU_DocumentApprover" minOccurs="0"/>
                <xsd:element ref="ns2:GU_DocumentApprovedBy" minOccurs="0"/>
                <xsd:element ref="ns6:GU_DocumentApprovedDate" minOccurs="0"/>
                <xsd:element ref="ns6:GU_DocumentApproval" minOccurs="0"/>
                <xsd:element ref="ns6:GU_CommentsAuthor" minOccurs="0"/>
                <xsd:element ref="ns6:GU_DiaryNumber" minOccurs="0"/>
                <xsd:element ref="ns6:GU_DiaryDirectionType" minOccurs="0"/>
                <xsd:element ref="ns6:GU_DiaryDirectionOrg" minOccurs="0"/>
                <xsd:element ref="ns5:GU_SendToDiary" minOccurs="0"/>
                <xsd:element ref="ns2:SharedWithUsers" minOccurs="0"/>
                <xsd:element ref="ns2:SharedWithDetails" minOccurs="0"/>
                <xsd:element ref="ns7:MediaServiceAutoKeyPoints" minOccurs="0"/>
                <xsd:element ref="ns7:MediaServiceKeyPoints" minOccurs="0"/>
                <xsd:element ref="ns7:MediaServiceAutoTags" minOccurs="0"/>
                <xsd:element ref="ns7:MediaServiceOCR" minOccurs="0"/>
                <xsd:element ref="ns7:MediaServiceGenerationTime" minOccurs="0"/>
                <xsd:element ref="ns7:MediaServiceEventHashCode" minOccurs="0"/>
                <xsd:element ref="ns7:MediaServiceDateTaken" minOccurs="0"/>
                <xsd:element ref="ns7:MediaServiceLocation" minOccurs="0"/>
                <xsd:element ref="ns7:Typavdokument" minOccurs="0"/>
                <xsd:element ref="ns2:_dlc_DocIdPersistId" minOccurs="0"/>
                <xsd:element ref="ns2:_dlc_DocId" minOccurs="0"/>
                <xsd:element ref="ns2:_dlc_DocIdUrl" minOccurs="0"/>
                <xsd:element ref="ns7:MediaServiceMetadata" minOccurs="0"/>
                <xsd:element ref="ns7:MediaServiceFastMetadata" minOccurs="0"/>
                <xsd:element ref="ns7:MediaLengthInSeconds" minOccurs="0"/>
                <xsd:element ref="ns7:lcf76f155ced4ddcb4097134ff3c332f" minOccurs="0"/>
                <xsd:element ref="ns7:MediaServiceObjectDetectorVersions" minOccurs="0"/>
                <xsd:element ref="ns7:MediaServiceSearchProperties" minOccurs="0"/>
                <xsd:element ref="ns7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53a6d5-ab28-44f4-b2f8-9fe72ce3cf60" elementFormDefault="qualified">
    <xsd:import namespace="http://schemas.microsoft.com/office/2006/documentManagement/types"/>
    <xsd:import namespace="http://schemas.microsoft.com/office/infopath/2007/PartnerControls"/>
    <xsd:element name="TaxKeywordTaxHTField" ma:index="8" nillable="true" ma:taxonomy="true" ma:internalName="TaxKeywordTaxHTField" ma:taxonomyFieldName="TaxKeyword" ma:displayName="Företagsnyckelord" ma:fieldId="{23f27201-bee3-471e-b2e7-b64fd8b7ca38}" ma:taxonomyMulti="true" ma:sspId="85cde726-cec2-4dbf-bde0-2c3495ee07fa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3d3cce8e-fd49-451a-ab27-572d08e46c2b}" ma:internalName="TaxCatchAll" ma:showField="CatchAllData" ma:web="2a53a6d5-ab28-44f4-b2f8-9fe72ce3cf6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3d3cce8e-fd49-451a-ab27-572d08e46c2b}" ma:internalName="TaxCatchAllLabel" ma:readOnly="true" ma:showField="CatchAllDataLabel" ma:web="2a53a6d5-ab28-44f4-b2f8-9fe72ce3cf6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GU_ArchivedBy" ma:index="21" nillable="true" ma:displayName="Arkiverad av" ma:list="UserInfo" ma:SharePointGroup="0" ma:internalName="GU_ArchivedBy" ma:readOnly="tru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GU_DocumentApprover" ma:index="27" nillable="true" ma:displayName="Dokumentgodkännare" ma:list="UserInfo" ma:SharePointGroup="0" ma:internalName="GU_DocumentApprover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GU_DocumentApprovedBy" ma:index="28" nillable="true" ma:displayName="Attest genomfört av" ma:list="UserInfo" ma:SharePointGroup="0" ma:internalName="GU_DocumentApprovedBy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Users" ma:index="36" nillable="true" ma:displayName="Dela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7" nillable="true" ma:displayName="Delat med information" ma:internalName="SharedWithDetails" ma:readOnly="true">
      <xsd:simpleType>
        <xsd:restriction base="dms:Note">
          <xsd:maxLength value="255"/>
        </xsd:restriction>
      </xsd:simpleType>
    </xsd:element>
    <xsd:element name="_dlc_DocIdPersistId" ma:index="47" nillable="true" ma:displayName="Spara ID" ma:description="Behåll ID vid tillägg." ma:hidden="true" ma:internalName="_dlc_DocIdPersistId" ma:readOnly="true">
      <xsd:simpleType>
        <xsd:restriction base="dms:Boolean"/>
      </xsd:simpleType>
    </xsd:element>
    <xsd:element name="_dlc_DocId" ma:index="48" nillable="true" ma:displayName="Dokument-ID-värde" ma:description="" ma:internalName="_dlc_DocId" ma:readOnly="true">
      <xsd:simpleType>
        <xsd:restriction base="dms:Text"/>
      </xsd:simpleType>
    </xsd:element>
    <xsd:element name="_dlc_DocIdUrl" ma:index="49" nillable="true" ma:displayName="Dokument-ID" ma:description="Permanent länk till det här dokumente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1fe8cf-ccc0-454c-9b48-ac3bf72b5807" elementFormDefault="qualified">
    <xsd:import namespace="http://schemas.microsoft.com/office/2006/documentManagement/types"/>
    <xsd:import namespace="http://schemas.microsoft.com/office/infopath/2007/PartnerControls"/>
    <xsd:element name="GU_DocDescription" ma:index="3" nillable="true" ma:displayName="Dokumentbeskrivning" ma:internalName="GU_DocDescription">
      <xsd:simpleType>
        <xsd:restriction base="dms:Note">
          <xsd:maxLength value="255"/>
        </xsd:restriction>
      </xsd:simpleType>
    </xsd:element>
    <xsd:element name="GU_DocStatus" ma:index="13" nillable="true" ma:displayName="Dokumentstatus" ma:default="Arbetsmaterial" ma:format="Dropdown" ma:internalName="GU_DocStatus" ma:readOnly="true">
      <xsd:simpleType>
        <xsd:restriction base="dms:Choice">
          <xsd:enumeration value="Arbetsmaterial"/>
          <xsd:enumeration value="Fastställande pågår"/>
          <xsd:enumeration value="Fastställd"/>
          <xsd:enumeration value="Väntar på attest"/>
          <xsd:enumeration value="Fel vid fastställande"/>
        </xsd:restriction>
      </xsd:simpleType>
    </xsd:element>
    <xsd:element name="ffd98747c26642ec8caf6ec3431d5d08" ma:index="14" nillable="true" ma:taxonomy="true" ma:internalName="ffd98747c26642ec8caf6ec3431d5d08" ma:taxonomyFieldName="GU_DocOrganisation" ma:displayName="Ansvarig enhet" ma:readOnly="false" ma:default="" ma:fieldId="{ffd98747-c266-42ec-8caf-6ec3431d5d08}" ma:sspId="85cde726-cec2-4dbf-bde0-2c3495ee07fa" ma:termSetId="938bbb0a-f50e-4d72-96c1-d7b7216eae12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60d47a-ddaf-4f96-aa5a-ac84a930d3d1" elementFormDefault="qualified">
    <xsd:import namespace="http://schemas.microsoft.com/office/2006/documentManagement/types"/>
    <xsd:import namespace="http://schemas.microsoft.com/office/infopath/2007/PartnerControls"/>
    <xsd:element name="b96f7c442203436fbdf8d4ebf5de5e7a" ma:index="16" nillable="true" ma:taxonomy="true" ma:internalName="b96f7c442203436fbdf8d4ebf5de5e7a" ma:taxonomyFieldName="GU_RecordType" ma:displayName="Handlingstyp" ma:readOnly="false" ma:default="" ma:fieldId="{b96f7c44-2203-436f-bdf8-d4ebf5de5e7a}" ma:sspId="85cde726-cec2-4dbf-bde0-2c3495ee07fa" ma:termSetId="f64da07e-df9c-4500-a5ac-815ac121141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GU_AccessRight" ma:index="18" nillable="true" ma:displayName="Åtkomsträtt" ma:default="0" ma:format="Dropdown" ma:internalName="GU_AccessRight" ma:readOnly="true">
      <xsd:simpleType>
        <xsd:restriction base="dms:Choice">
          <xsd:enumeration value="0"/>
          <xsd:enumeration value="1"/>
          <xsd:enumeration value="2"/>
          <xsd:enumeration value="3"/>
          <xsd:enumeration value="4"/>
          <xsd:enumeration value="5"/>
        </xsd:restriction>
      </xsd:simpleType>
    </xsd:element>
    <xsd:element name="GU_EstablishedDate" ma:index="19" nillable="true" ma:displayName="Fastställd datum" ma:format="DateTime" ma:internalName="GU_EstablishedDate" ma:readOnly="true">
      <xsd:simpleType>
        <xsd:restriction base="dms:DateTime"/>
      </xsd:simpleType>
    </xsd:element>
    <xsd:element name="GU_ArchivedDate" ma:index="20" nillable="true" ma:displayName="Arkivdatum" ma:format="DateTime" ma:indexed="true" ma:internalName="GU_ArchivedDate" ma:readOnly="true">
      <xsd:simpleType>
        <xsd:restriction base="dms:DateTime"/>
      </xsd:simpleType>
    </xsd:element>
    <xsd:element name="GU_ArchiveDocId" ma:index="22" nillable="true" ma:displayName="ArkivDokument-ID" ma:internalName="GU_ArchiveDocId" ma:readOnly="true">
      <xsd:simpleType>
        <xsd:restriction base="dms:Text">
          <xsd:maxLength value="255"/>
        </xsd:restriction>
      </xsd:simpleType>
    </xsd:element>
    <xsd:element name="GU_ArchiveDocGuid" ma:index="23" nillable="true" ma:displayName="ArkivDokument-GUID" ma:internalName="GU_ArchiveDocGuid" ma:readOnly="true">
      <xsd:simpleType>
        <xsd:restriction base="dms:Text">
          <xsd:maxLength value="255"/>
        </xsd:restriction>
      </xsd:simpleType>
    </xsd:element>
    <xsd:element name="GU_ArchiveDocVersionId" ma:index="24" nillable="true" ma:displayName="ArkivDokument-VerID" ma:internalName="GU_ArchiveDocVersionId" ma:readOnly="true">
      <xsd:simpleType>
        <xsd:restriction base="dms:Text">
          <xsd:maxLength value="255"/>
        </xsd:restriction>
      </xsd:simpleType>
    </xsd:element>
    <xsd:element name="GU_ArchiveDocUrl" ma:index="26" nillable="true" ma:displayName="Arkivlänk" ma:internalName="GU_ArchiveDocUrl" ma:readOnly="tru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9dd6ea-c2e4-4869-976b-8dbce2ea94e0" elementFormDefault="qualified">
    <xsd:import namespace="http://schemas.microsoft.com/office/2006/documentManagement/types"/>
    <xsd:import namespace="http://schemas.microsoft.com/office/infopath/2007/PartnerControls"/>
    <xsd:element name="GU_SiteGuid" ma:index="25" nillable="true" ma:displayName="Site Guid" ma:internalName="GU_SiteGuid" ma:readOnly="true">
      <xsd:simpleType>
        <xsd:restriction base="dms:Text">
          <xsd:maxLength value="255"/>
        </xsd:restriction>
      </xsd:simpleType>
    </xsd:element>
    <xsd:element name="GU_SendToDiary" ma:index="35" nillable="true" ma:displayName="Diarieförs" ma:default="0" ma:description="Anger om handlingen också ska skickas till diariet när den fastställs" ma:indexed="true" ma:internalName="GU_SendToDiary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4ff575-881d-444c-a15f-28f2022b7885" elementFormDefault="qualified">
    <xsd:import namespace="http://schemas.microsoft.com/office/2006/documentManagement/types"/>
    <xsd:import namespace="http://schemas.microsoft.com/office/infopath/2007/PartnerControls"/>
    <xsd:element name="GU_DocumentApprovedDate" ma:index="29" nillable="true" ma:displayName="Attest genomfört" ma:format="DateTime" ma:internalName="GU_DocumentApprovedDate" ma:readOnly="true">
      <xsd:simpleType>
        <xsd:restriction base="dms:DateTime"/>
      </xsd:simpleType>
    </xsd:element>
    <xsd:element name="GU_DocumentApproval" ma:index="30" nillable="true" ma:displayName="Attest" ma:default="0" ma:indexed="true" ma:internalName="GU_DocumentApproval" ma:readOnly="true">
      <xsd:simpleType>
        <xsd:restriction base="dms:Boolean"/>
      </xsd:simpleType>
    </xsd:element>
    <xsd:element name="GU_CommentsAuthor" ma:index="31" nillable="true" ma:displayName="Attest kommentarer" ma:internalName="GU_CommentsAuthor" ma:readOnly="true">
      <xsd:simpleType>
        <xsd:restriction base="dms:Note"/>
      </xsd:simpleType>
    </xsd:element>
    <xsd:element name="GU_DiaryNumber" ma:index="32" nillable="true" ma:displayName="Diarienr" ma:description="Diarienr som kan användas vid fastställande" ma:internalName="GU_DiaryNumber" ma:readOnly="true">
      <xsd:simpleType>
        <xsd:restriction base="dms:Text">
          <xsd:maxLength value="255"/>
        </xsd:restriction>
      </xsd:simpleType>
    </xsd:element>
    <xsd:element name="GU_DiaryDirectionType" ma:index="33" nillable="true" ma:displayName="Riktning" ma:description="Avser riktning typ för handling som diarieförs" ma:internalName="GU_DiaryDirectionType" ma:readOnly="true">
      <xsd:simpleType>
        <xsd:restriction base="dms:Text">
          <xsd:maxLength value="255"/>
        </xsd:restriction>
      </xsd:simpleType>
    </xsd:element>
    <xsd:element name="GU_DiaryDirectionOrg" ma:index="34" nillable="true" ma:displayName="Riktning organisation" ma:description="Avser avsändare mottagare för handlingen (beroende på vald typ riktning)" ma:internalName="GU_DiaryDirectionOrg" ma:readOnly="tru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9d7df0-f7a9-4c01-adec-37d90b5fddf1" elementFormDefault="qualified">
    <xsd:import namespace="http://schemas.microsoft.com/office/2006/documentManagement/types"/>
    <xsd:import namespace="http://schemas.microsoft.com/office/infopath/2007/PartnerControls"/>
    <xsd:element name="MediaServiceAutoKeyPoints" ma:index="3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3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40" nillable="true" ma:displayName="Tags" ma:internalName="MediaServiceAutoTags" ma:readOnly="true">
      <xsd:simpleType>
        <xsd:restriction base="dms:Text"/>
      </xsd:simpleType>
    </xsd:element>
    <xsd:element name="MediaServiceOCR" ma:index="4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4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4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4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45" nillable="true" ma:displayName="Location" ma:internalName="MediaServiceLocation" ma:readOnly="true">
      <xsd:simpleType>
        <xsd:restriction base="dms:Text"/>
      </xsd:simpleType>
    </xsd:element>
    <xsd:element name="Typavdokument" ma:index="46" nillable="true" ma:displayName="Typ av dokument" ma:format="Dropdown" ma:internalName="Typavdokument">
      <xsd:simpleType>
        <xsd:restriction base="dms:Choice">
          <xsd:enumeration value="Styrdokument"/>
          <xsd:enumeration value="Administration"/>
          <xsd:enumeration value="Val 3"/>
        </xsd:restriction>
      </xsd:simpleType>
    </xsd:element>
    <xsd:element name="MediaServiceMetadata" ma:index="5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51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5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54" nillable="true" ma:taxonomy="true" ma:internalName="lcf76f155ced4ddcb4097134ff3c332f" ma:taxonomyFieldName="MediaServiceImageTags" ma:displayName="Bildmarkeringar" ma:readOnly="false" ma:fieldId="{5cf76f15-5ced-4ddc-b409-7134ff3c332f}" ma:taxonomyMulti="true" ma:sspId="85cde726-cec2-4dbf-bde0-2c3495ee07f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5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5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5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1" ma:displayName="Innehållstyp"/>
        <xsd:element ref="dc:title" minOccurs="0" maxOccurs="1" ma:index="1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a53a6d5-ab28-44f4-b2f8-9fe72ce3cf60">
      <Value>1</Value>
    </TaxCatchAll>
    <ffd98747c26642ec8caf6ec3431d5d08 xmlns="231fe8cf-ccc0-454c-9b48-ac3bf72b5807">
      <Terms xmlns="http://schemas.microsoft.com/office/infopath/2007/PartnerControls">
        <TermInfo xmlns="http://schemas.microsoft.com/office/infopath/2007/PartnerControls">
          <TermName xmlns="http://schemas.microsoft.com/office/infopath/2007/PartnerControls">Svensk Nationell Datatjänst SND - orgnivå 1</TermName>
          <TermId xmlns="http://schemas.microsoft.com/office/infopath/2007/PartnerControls">eb16b71e-131d-4e9e-bed5-c2172a9e4a1a</TermId>
        </TermInfo>
      </Terms>
    </ffd98747c26642ec8caf6ec3431d5d08>
    <TaxKeywordTaxHTField xmlns="2a53a6d5-ab28-44f4-b2f8-9fe72ce3cf60">
      <Terms xmlns="http://schemas.microsoft.com/office/infopath/2007/PartnerControls"/>
    </TaxKeywordTaxHTField>
    <GU_DocStatus xmlns="231fe8cf-ccc0-454c-9b48-ac3bf72b5807">Arbetsmaterial</GU_DocStatus>
    <GU_DocDescription xmlns="231fe8cf-ccc0-454c-9b48-ac3bf72b5807" xsi:nil="true"/>
    <_dlc_DocId xmlns="2a53a6d5-ab28-44f4-b2f8-9fe72ce3cf60">GU191-810933164-43598</_dlc_DocId>
    <_dlc_DocIdUrl xmlns="2a53a6d5-ab28-44f4-b2f8-9fe72ce3cf60">
      <Url>https://gunet.sharepoint.com/sites/sy-org-svensk-nationell-datatjanst-snd/_layouts/15/DocIdRedir.aspx?ID=GU191-810933164-43598</Url>
      <Description>GU191-810933164-43598</Description>
    </_dlc_DocIdUrl>
    <Typavdokument xmlns="b79d7df0-f7a9-4c01-adec-37d90b5fddf1" xsi:nil="true"/>
    <GU_EstablishedDate xmlns="4160d47a-ddaf-4f96-aa5a-ac84a930d3d1" xsi:nil="true"/>
    <GU_ArchiveDocId xmlns="4160d47a-ddaf-4f96-aa5a-ac84a930d3d1" xsi:nil="true"/>
    <GU_SendToDiary xmlns="ae9dd6ea-c2e4-4869-976b-8dbce2ea94e0">false</GU_SendToDiary>
    <GU_ArchivedBy xmlns="2a53a6d5-ab28-44f4-b2f8-9fe72ce3cf60">
      <UserInfo>
        <DisplayName/>
        <AccountId xsi:nil="true"/>
        <AccountType/>
      </UserInfo>
    </GU_ArchivedBy>
    <GU_DocumentApprover xmlns="2a53a6d5-ab28-44f4-b2f8-9fe72ce3cf60">
      <UserInfo>
        <DisplayName/>
        <AccountId xsi:nil="true"/>
        <AccountType/>
      </UserInfo>
    </GU_DocumentApprover>
    <GU_ArchiveDocVersionId xmlns="4160d47a-ddaf-4f96-aa5a-ac84a930d3d1" xsi:nil="true"/>
    <GU_DocumentApprovedBy xmlns="2a53a6d5-ab28-44f4-b2f8-9fe72ce3cf60">
      <UserInfo>
        <DisplayName/>
        <AccountId xsi:nil="true"/>
        <AccountType/>
      </UserInfo>
    </GU_DocumentApprovedBy>
    <GU_DiaryNumber xmlns="a94ff575-881d-444c-a15f-28f2022b7885" xsi:nil="true"/>
    <GU_AccessRight xmlns="4160d47a-ddaf-4f96-aa5a-ac84a930d3d1">0</GU_AccessRight>
    <GU_DiaryDirectionOrg xmlns="a94ff575-881d-444c-a15f-28f2022b7885" xsi:nil="true"/>
    <b96f7c442203436fbdf8d4ebf5de5e7a xmlns="4160d47a-ddaf-4f96-aa5a-ac84a930d3d1">
      <Terms xmlns="http://schemas.microsoft.com/office/infopath/2007/PartnerControls"/>
    </b96f7c442203436fbdf8d4ebf5de5e7a>
    <GU_ArchiveDocGuid xmlns="4160d47a-ddaf-4f96-aa5a-ac84a930d3d1" xsi:nil="true"/>
    <GU_SiteGuid xmlns="ae9dd6ea-c2e4-4869-976b-8dbce2ea94e0" xsi:nil="true"/>
    <GU_DiaryDirectionType xmlns="a94ff575-881d-444c-a15f-28f2022b7885" xsi:nil="true"/>
    <GU_ArchiveDocUrl xmlns="4160d47a-ddaf-4f96-aa5a-ac84a930d3d1" xsi:nil="true"/>
    <GU_DocumentApprovedDate xmlns="a94ff575-881d-444c-a15f-28f2022b7885" xsi:nil="true"/>
    <GU_CommentsAuthor xmlns="a94ff575-881d-444c-a15f-28f2022b7885" xsi:nil="true"/>
    <GU_DocumentApproval xmlns="a94ff575-881d-444c-a15f-28f2022b7885">false</GU_DocumentApproval>
    <lcf76f155ced4ddcb4097134ff3c332f xmlns="b79d7df0-f7a9-4c01-adec-37d90b5fddf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F966C92-B1C9-4F9D-81CC-D01C1BE352B2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00D9D5BC-2B80-44D0-92C4-A596EEDDB5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53a6d5-ab28-44f4-b2f8-9fe72ce3cf60"/>
    <ds:schemaRef ds:uri="231fe8cf-ccc0-454c-9b48-ac3bf72b5807"/>
    <ds:schemaRef ds:uri="4160d47a-ddaf-4f96-aa5a-ac84a930d3d1"/>
    <ds:schemaRef ds:uri="ae9dd6ea-c2e4-4869-976b-8dbce2ea94e0"/>
    <ds:schemaRef ds:uri="a94ff575-881d-444c-a15f-28f2022b7885"/>
    <ds:schemaRef ds:uri="b79d7df0-f7a9-4c01-adec-37d90b5fddf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5A085B8-FC27-4883-B2D8-A2203C7A1F34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FA23DD33-B78E-4559-9B0B-6F285DFC50E7}">
  <ds:schemaRefs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a94ff575-881d-444c-a15f-28f2022b7885"/>
    <ds:schemaRef ds:uri="http://www.w3.org/XML/1998/namespace"/>
    <ds:schemaRef ds:uri="http://purl.org/dc/elements/1.1/"/>
    <ds:schemaRef ds:uri="b79d7df0-f7a9-4c01-adec-37d90b5fddf1"/>
    <ds:schemaRef ds:uri="http://purl.org/dc/dcmitype/"/>
    <ds:schemaRef ds:uri="ae9dd6ea-c2e4-4869-976b-8dbce2ea94e0"/>
    <ds:schemaRef ds:uri="4160d47a-ddaf-4f96-aa5a-ac84a930d3d1"/>
    <ds:schemaRef ds:uri="http://purl.org/dc/terms/"/>
    <ds:schemaRef ds:uri="231fe8cf-ccc0-454c-9b48-ac3bf72b5807"/>
    <ds:schemaRef ds:uri="2a53a6d5-ab28-44f4-b2f8-9fe72ce3cf60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</TotalTime>
  <Words>1769</Words>
  <Application>Microsoft Office PowerPoint</Application>
  <PresentationFormat>Widescreen</PresentationFormat>
  <Paragraphs>232</Paragraphs>
  <Slides>24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Courier New</vt:lpstr>
      <vt:lpstr>Wingdings</vt:lpstr>
      <vt:lpstr>SND_theme</vt:lpstr>
      <vt:lpstr>Sensitive qualitative data and pseudonymisation</vt:lpstr>
      <vt:lpstr>Session plan</vt:lpstr>
      <vt:lpstr>Types of qualitative ”sensitive data collection”</vt:lpstr>
      <vt:lpstr>Sensitive data</vt:lpstr>
      <vt:lpstr>GDPR (Dataskyddsförordningen)</vt:lpstr>
      <vt:lpstr>Pseudonymisation &amp; Anonymisation:  In a nutshell</vt:lpstr>
      <vt:lpstr>Here’s the thing though…</vt:lpstr>
      <vt:lpstr>RE-IDENTIFICATION  Indirect identifiers and bakground variables</vt:lpstr>
      <vt:lpstr>1. Remove the ”obvious” and generalise identifying details </vt:lpstr>
      <vt:lpstr>2. Create code/alias key</vt:lpstr>
      <vt:lpstr>3. Pseudonyms for roles, organisations, geographical regions</vt:lpstr>
      <vt:lpstr>4. Pseudonymise places, organisations/companies, and networks</vt:lpstr>
      <vt:lpstr>5. Modify dates</vt:lpstr>
      <vt:lpstr>6. Generalise and categorise background information</vt:lpstr>
      <vt:lpstr>ACTIVITY 1</vt:lpstr>
      <vt:lpstr>ACTIVITY 1: Pseudonymised examples from ChatGPT </vt:lpstr>
      <vt:lpstr>Pseudonymised examples from ChatGPT (cont.) </vt:lpstr>
      <vt:lpstr>Read more…</vt:lpstr>
      <vt:lpstr>ACTIVITY 2</vt:lpstr>
      <vt:lpstr>CLASS DISCUSSION</vt:lpstr>
      <vt:lpstr>Also, to think about…</vt:lpstr>
      <vt:lpstr>PowerPoint Presentation</vt:lpstr>
      <vt:lpstr>Questions?</vt:lpstr>
      <vt:lpstr>Thanks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Matilda Lindmark</dc:creator>
  <cp:lastModifiedBy>David Rayner</cp:lastModifiedBy>
  <cp:revision>4</cp:revision>
  <dcterms:created xsi:type="dcterms:W3CDTF">2021-12-09T11:49:20Z</dcterms:created>
  <dcterms:modified xsi:type="dcterms:W3CDTF">2026-05-18T10:23:32Z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0x010100C7C811754E204E47A665D3B7C5D98E1E001F75F1B42379004D873139F5D95D4129</vt:lpwstr>
  </property>
  <property fmtid="{D5CDD505-2E9C-101B-9397-08002B2CF9AE}" pid="3" name="Dokumentslag">
    <vt:lpwstr/>
  </property>
  <property fmtid="{D5CDD505-2E9C-101B-9397-08002B2CF9AE}" pid="4" name="Dokumenttyp">
    <vt:lpwstr/>
  </property>
  <property fmtid="{D5CDD505-2E9C-101B-9397-08002B2CF9AE}" pid="5" name="_dlc_DocIdItemGuid">
    <vt:lpwstr>be600691-58b2-4f76-bb65-2de2d42fdc18</vt:lpwstr>
  </property>
  <property fmtid="{D5CDD505-2E9C-101B-9397-08002B2CF9AE}" pid="6" name="TaxKeyword">
    <vt:lpwstr/>
  </property>
  <property fmtid="{D5CDD505-2E9C-101B-9397-08002B2CF9AE}" pid="7" name="GU_DocOrganisation">
    <vt:lpwstr>1;#Svensk Nationell Datatjänst SND - orgnivå 1|eb16b71e-131d-4e9e-bed5-c2172a9e4a1a</vt:lpwstr>
  </property>
  <property fmtid="{D5CDD505-2E9C-101B-9397-08002B2CF9AE}" pid="8" name="GU_RecordType">
    <vt:lpwstr/>
  </property>
  <property fmtid="{D5CDD505-2E9C-101B-9397-08002B2CF9AE}" pid="9" name="MediaServiceImageTags">
    <vt:lpwstr/>
  </property>
</Properties>
</file>