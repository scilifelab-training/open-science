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embeddedFontLst>
    <p:embeddedFont>
      <p:font typeface="Roboto"/>
      <p:regular r:id="rId36"/>
      <p:bold r:id="rId37"/>
      <p:italic r:id="rId38"/>
      <p:boldItalic r:id="rId39"/>
    </p:embeddedFont>
    <p:embeddedFont>
      <p:font typeface="Lato"/>
      <p:regular r:id="rId40"/>
      <p:bold r:id="rId41"/>
      <p:italic r:id="rId42"/>
      <p:boldItalic r:id="rId43"/>
    </p:embeddedFont>
    <p:embeddedFont>
      <p:font typeface="Lato Light"/>
      <p:regular r:id="rId44"/>
      <p:bold r:id="rId45"/>
      <p:italic r:id="rId46"/>
      <p:boldItalic r:id="rId47"/>
    </p:embeddedFont>
    <p:embeddedFont>
      <p:font typeface="Lato Hairline"/>
      <p:regular r:id="rId48"/>
      <p:bold r:id="rId49"/>
      <p:italic r:id="rId50"/>
      <p:boldItalic r:id="rId51"/>
    </p:embeddedFont>
    <p:embeddedFont>
      <p:font typeface="Lora"/>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gIVRv/VlRvzHtiEzNkC0A4Oxan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42" Type="http://schemas.openxmlformats.org/officeDocument/2006/relationships/font" Target="fonts/Lato-italic.fntdata"/><Relationship Id="rId41" Type="http://schemas.openxmlformats.org/officeDocument/2006/relationships/font" Target="fonts/Lato-bold.fntdata"/><Relationship Id="rId44" Type="http://schemas.openxmlformats.org/officeDocument/2006/relationships/font" Target="fonts/LatoLight-regular.fntdata"/><Relationship Id="rId43" Type="http://schemas.openxmlformats.org/officeDocument/2006/relationships/font" Target="fonts/Lato-boldItalic.fntdata"/><Relationship Id="rId46" Type="http://schemas.openxmlformats.org/officeDocument/2006/relationships/font" Target="fonts/LatoLight-italic.fntdata"/><Relationship Id="rId45" Type="http://schemas.openxmlformats.org/officeDocument/2006/relationships/font" Target="fonts/Lato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LatoHairline-regular.fntdata"/><Relationship Id="rId47" Type="http://schemas.openxmlformats.org/officeDocument/2006/relationships/font" Target="fonts/LatoLight-boldItalic.fntdata"/><Relationship Id="rId49" Type="http://schemas.openxmlformats.org/officeDocument/2006/relationships/font" Target="fonts/LatoHairline-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LatoHairline-boldItalic.fntdata"/><Relationship Id="rId50" Type="http://schemas.openxmlformats.org/officeDocument/2006/relationships/font" Target="fonts/LatoHairline-italic.fntdata"/><Relationship Id="rId53" Type="http://schemas.openxmlformats.org/officeDocument/2006/relationships/font" Target="fonts/Lora-bold.fntdata"/><Relationship Id="rId52" Type="http://schemas.openxmlformats.org/officeDocument/2006/relationships/font" Target="fonts/Lora-regular.fntdata"/><Relationship Id="rId11" Type="http://schemas.openxmlformats.org/officeDocument/2006/relationships/slide" Target="slides/slide7.xml"/><Relationship Id="rId55" Type="http://schemas.openxmlformats.org/officeDocument/2006/relationships/font" Target="fonts/Lora-boldItalic.fntdata"/><Relationship Id="rId10" Type="http://schemas.openxmlformats.org/officeDocument/2006/relationships/slide" Target="slides/slide6.xml"/><Relationship Id="rId54" Type="http://schemas.openxmlformats.org/officeDocument/2006/relationships/font" Target="fonts/Lora-italic.fntdata"/><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mailto:ineke.luijten@scilifelab.se" TargetMode="External"/><Relationship Id="rId3" Type="http://schemas.openxmlformats.org/officeDocument/2006/relationships/hyperlink" Target="https://scilifelab-training.github.io/open-science/2605/day1.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reative_Commons"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cbi.nlm.nih.gov/genbank/" TargetMode="External"/><Relationship Id="rId3" Type="http://schemas.openxmlformats.org/officeDocument/2006/relationships/hyperlink" Target="https://www.uniprot.org/" TargetMode="External"/><Relationship Id="rId4" Type="http://schemas.openxmlformats.org/officeDocument/2006/relationships/hyperlink" Target="https://pmc.ncbi.nlm.nih.gov/articles/PMC10617723/#pbio.3002362.ref084" TargetMode="External"/><Relationship Id="rId5" Type="http://schemas.openxmlformats.org/officeDocument/2006/relationships/hyperlink" Target="https://pmc.ncbi.nlm.nih.gov/articles/PMC10617723/#pbio.3002362.ref087"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royalsocietypublishing.org/doi/10.1098/rsos.240286#RSOS240286F2" TargetMode="External"/><Relationship Id="rId3" Type="http://schemas.openxmlformats.org/officeDocument/2006/relationships/hyperlink" Target="https://royalsocietypublishing.org/doi/10.1098/rsos.240286#RSOS240286F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dba7b619d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g32dba7b619d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Title: "Open Science in the Swedish Context"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Slides author:</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name: "Ineke Luijten"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ORCID: 0000-0001-5768-275X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email: </a:t>
            </a:r>
            <a:r>
              <a:rPr lang="en-US" sz="1000" u="sng">
                <a:solidFill>
                  <a:srgbClr val="0000FF"/>
                </a:solidFill>
                <a:latin typeface="Lora"/>
                <a:ea typeface="Lora"/>
                <a:cs typeface="Lora"/>
                <a:sym typeface="Lora"/>
                <a:hlinkClick r:id="rId2">
                  <a:extLst>
                    <a:ext uri="{A12FA001-AC4F-418D-AE19-62706E023703}">
                      <ahyp:hlinkClr val="tx"/>
                    </a:ext>
                  </a:extLst>
                </a:hlinkClick>
              </a:rPr>
              <a:t>ineke.luijten@scilifelab.se</a:t>
            </a:r>
            <a:r>
              <a:rPr lang="en-US" sz="1000">
                <a:solidFill>
                  <a:srgbClr val="5E5E5E"/>
                </a:solidFill>
                <a:latin typeface="Lora"/>
                <a:ea typeface="Lora"/>
                <a:cs typeface="Lora"/>
                <a:sym typeface="Lora"/>
              </a:rPr>
              <a:t> </a:t>
            </a:r>
            <a:endParaRPr sz="1000">
              <a:solidFill>
                <a:srgbClr val="2222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Part of: Open Science in the Swedish Context, SciLifeLab / NBIS / SND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Url: </a:t>
            </a:r>
            <a:r>
              <a:rPr lang="en-US" u="sng">
                <a:solidFill>
                  <a:schemeClr val="hlink"/>
                </a:solidFill>
                <a:hlinkClick r:id="rId3"/>
              </a:rPr>
              <a:t>https://scilifelab-training.github.io/open-science/2605/day1.html</a:t>
            </a:r>
            <a:endParaRPr sz="1000">
              <a:solidFill>
                <a:schemeClr val="dk1"/>
              </a:solidFill>
              <a:latin typeface="Lora"/>
              <a:ea typeface="Lora"/>
              <a:cs typeface="Lora"/>
              <a:sym typeface="Lora"/>
            </a:endParaRPr>
          </a:p>
          <a:p>
            <a:pPr indent="0" lvl="0" marL="0" marR="448191"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duration: 45 min </a:t>
            </a:r>
            <a:endParaRPr sz="1000">
              <a:latin typeface="Lora"/>
              <a:ea typeface="Lora"/>
              <a:cs typeface="Lora"/>
              <a:sym typeface="Lora"/>
            </a:endParaRPr>
          </a:p>
        </p:txBody>
      </p:sp>
      <p:sp>
        <p:nvSpPr>
          <p:cNvPr id="91" name="Google Shape;91;g32dba7b619d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dba7b619d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2dba7b619d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4" name="Google Shape;104;g32dba7b619d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52662de69e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52662de69e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Open Science, by its nature, is philosophical, it's not a fixed set of rules or a checklist to follow. There’s no universal formula that guarantees your research is fully "open" in every context. Instead, it's a mindset, a work in progress, and very much shaped by evolving practices, technologies, and policies.</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course isn’t about prescribing </a:t>
            </a:r>
            <a:r>
              <a:rPr i="1" lang="en-US" sz="1000">
                <a:solidFill>
                  <a:schemeClr val="dk1"/>
                </a:solidFill>
                <a:latin typeface="Lora"/>
                <a:ea typeface="Lora"/>
                <a:cs typeface="Lora"/>
                <a:sym typeface="Lora"/>
              </a:rPr>
              <a:t>one</a:t>
            </a:r>
            <a:r>
              <a:rPr lang="en-US" sz="1000">
                <a:solidFill>
                  <a:schemeClr val="dk1"/>
                </a:solidFill>
                <a:latin typeface="Lora"/>
                <a:ea typeface="Lora"/>
                <a:cs typeface="Lora"/>
                <a:sym typeface="Lora"/>
              </a:rPr>
              <a:t> right way to do Open Science. It’s designed to raise awareness of the current landscape, to show what’s out there, what’s possible, and what’s already being done.</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goal is to help you think critically about how to make your own research </a:t>
            </a:r>
            <a:r>
              <a:rPr i="1" lang="en-US" sz="1000">
                <a:solidFill>
                  <a:schemeClr val="dk1"/>
                </a:solidFill>
                <a:latin typeface="Lora"/>
                <a:ea typeface="Lora"/>
                <a:cs typeface="Lora"/>
                <a:sym typeface="Lora"/>
              </a:rPr>
              <a:t>as open as possible, and as closed as necessary</a:t>
            </a:r>
            <a:r>
              <a:rPr lang="en-US" sz="1000">
                <a:solidFill>
                  <a:schemeClr val="dk1"/>
                </a:solidFill>
                <a:latin typeface="Lora"/>
                <a:ea typeface="Lora"/>
                <a:cs typeface="Lora"/>
                <a:sym typeface="Lora"/>
              </a:rPr>
              <a:t>, recognizing that every project has different needs and constraints.</a:t>
            </a:r>
            <a:endParaRPr sz="1000">
              <a:solidFill>
                <a:schemeClr val="dk1"/>
              </a:solidFill>
              <a:latin typeface="Lora"/>
              <a:ea typeface="Lora"/>
              <a:cs typeface="Lora"/>
              <a:sym typeface="Lora"/>
            </a:endParaRPr>
          </a:p>
          <a:p>
            <a:pPr indent="0" lvl="0" marL="0" marR="38100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Policies are still being shaped, best practices are still emerging, and what works in one field or institution might not in another. So throughout the course, stay curious, ask questions, and think about how these principles can apply to your own work.</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latin typeface="Lora"/>
              <a:ea typeface="Lora"/>
              <a:cs typeface="Lora"/>
              <a:sym typeface="Lora"/>
            </a:endParaRPr>
          </a:p>
        </p:txBody>
      </p:sp>
      <p:sp>
        <p:nvSpPr>
          <p:cNvPr id="116" name="Google Shape;116;g352662de69e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2662de69e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352662de69e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8" name="Google Shape;128;g352662de69e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e24684e7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4e24684e7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latin typeface="Lora"/>
                <a:ea typeface="Lora"/>
                <a:cs typeface="Lora"/>
                <a:sym typeface="Lora"/>
              </a:rPr>
              <a:t>The Swedish National Data service - SND - is the national infrastructure responsible for helping Swedish research organizations with accessibility, preservation, and reuse of research data and related materials. SND provides </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Researchdata.se, a national data portal offering integrated access to datasets from multiple repositories,</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SND DORIS – a service for publishing and sharing datasets, and </a:t>
            </a:r>
            <a:endParaRPr sz="1000">
              <a:latin typeface="Lora"/>
              <a:ea typeface="Lora"/>
              <a:cs typeface="Lora"/>
              <a:sym typeface="Lora"/>
            </a:endParaRPr>
          </a:p>
          <a:p>
            <a:pPr indent="-292100" lvl="0" marL="457200" rtl="0" algn="l">
              <a:lnSpc>
                <a:spcPct val="100000"/>
              </a:lnSpc>
              <a:spcBef>
                <a:spcPts val="0"/>
              </a:spcBef>
              <a:spcAft>
                <a:spcPts val="0"/>
              </a:spcAft>
              <a:buSzPts val="1000"/>
              <a:buFont typeface="Lora"/>
              <a:buChar char="●"/>
            </a:pPr>
            <a:r>
              <a:rPr lang="en-US" sz="1000">
                <a:latin typeface="Lora"/>
                <a:ea typeface="Lora"/>
                <a:cs typeface="Lora"/>
                <a:sym typeface="Lora"/>
              </a:rPr>
              <a:t>the SND Network – a nationwide community promoting best practices in data management across institutions.</a:t>
            </a:r>
            <a:endParaRPr sz="1000">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
        <p:nvSpPr>
          <p:cNvPr id="140" name="Google Shape;140;g34e24684e7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d1cf5dcd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4d1cf5dcd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solidFill>
                  <a:schemeClr val="dk1"/>
                </a:solidFill>
                <a:latin typeface="Lora"/>
                <a:ea typeface="Lora"/>
                <a:cs typeface="Lora"/>
                <a:sym typeface="Lora"/>
              </a:rPr>
              <a:t>SciLifeLab is a national infrastructure for life science, which provides researchers in fields such as biomedicine, ecology, and evolution with access to advanced technologies and expertise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400"/>
              <a:buNone/>
            </a:pPr>
            <a:r>
              <a:t/>
            </a:r>
            <a:endParaRPr sz="1000">
              <a:solidFill>
                <a:srgbClr val="FFFFFF"/>
              </a:solidFill>
            </a:endParaRPr>
          </a:p>
          <a:p>
            <a:pPr indent="0" lvl="0" marL="0" rtl="0" algn="l">
              <a:lnSpc>
                <a:spcPct val="100000"/>
              </a:lnSpc>
              <a:spcBef>
                <a:spcPts val="0"/>
              </a:spcBef>
              <a:spcAft>
                <a:spcPts val="0"/>
              </a:spcAft>
              <a:buSzPts val="1400"/>
              <a:buNone/>
            </a:pPr>
            <a:r>
              <a:rPr lang="en-US" sz="1000">
                <a:solidFill>
                  <a:schemeClr val="dk1"/>
                </a:solidFill>
                <a:latin typeface="Lora"/>
                <a:ea typeface="Lora"/>
                <a:cs typeface="Lora"/>
                <a:sym typeface="Lora"/>
              </a:rPr>
              <a:t>Training Hub mission: to capture an accessible, up-to-date Open and FAIR library of SciLifeLab knowledge to connect the life science community in Sweden with skills enabling cutting-edge, collaborative research. Supporting community access to SciLifeLab knowledge, skills, and expertise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4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400"/>
              <a:buFont typeface="Arial"/>
              <a:buNone/>
            </a:pPr>
            <a:r>
              <a:rPr lang="en-US" sz="1000">
                <a:solidFill>
                  <a:schemeClr val="dk1"/>
                </a:solidFill>
                <a:latin typeface="Lora"/>
                <a:ea typeface="Lora"/>
                <a:cs typeface="Lora"/>
                <a:sym typeface="Lora"/>
              </a:rPr>
              <a:t>Within the Training Hub, we are creating our support and services to the SciLifeLab community according to 5 pillars, namely infrastructure, support, training, SE/EU projects, and community building.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We provide the technical infrastructure with the Training Portal and other tools and resources that will help the trainers to design, develop and deliver training and the community to find and consume the training materials</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We will have the pillar Support where we provide support to the SciLifeLab ecosystem,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The third pillar is Training and here we aim to grow a training catalogue aiming to develop the staff across SciLifeLab as a RI. </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Training Hub is also involved, directly or via other entities at SciLifeLab, in various national and European projects.</a:t>
            </a:r>
            <a:endParaRPr sz="1000">
              <a:solidFill>
                <a:schemeClr val="dk1"/>
              </a:solidFill>
              <a:latin typeface="Lora"/>
              <a:ea typeface="Lora"/>
              <a:cs typeface="Lora"/>
              <a:sym typeface="Lora"/>
            </a:endParaRPr>
          </a:p>
          <a:p>
            <a:pPr indent="-304800" lvl="0" marL="457200" rtl="0" algn="l">
              <a:lnSpc>
                <a:spcPct val="100000"/>
              </a:lnSpc>
              <a:spcBef>
                <a:spcPts val="0"/>
              </a:spcBef>
              <a:spcAft>
                <a:spcPts val="0"/>
              </a:spcAft>
              <a:buClr>
                <a:schemeClr val="dk1"/>
              </a:buClr>
              <a:buSzPts val="1200"/>
              <a:buChar char="●"/>
            </a:pPr>
            <a:r>
              <a:rPr lang="en-US" sz="1000">
                <a:solidFill>
                  <a:schemeClr val="dk1"/>
                </a:solidFill>
                <a:latin typeface="Lora"/>
                <a:ea typeface="Lora"/>
                <a:cs typeface="Lora"/>
                <a:sym typeface="Lora"/>
              </a:rPr>
              <a:t>Community building is an activity that is transversal across all that we do.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We are guided by Open Science and FAIR principles across all these pillars, and are uniquely positioned to further strengthen the implementation of Open Science and FAIR into the SciLifeLab community</a:t>
            </a:r>
            <a:endParaRPr sz="900">
              <a:latin typeface="Lora"/>
              <a:ea typeface="Lora"/>
              <a:cs typeface="Lora"/>
              <a:sym typeface="Lora"/>
            </a:endParaRPr>
          </a:p>
        </p:txBody>
      </p:sp>
      <p:sp>
        <p:nvSpPr>
          <p:cNvPr id="153" name="Google Shape;153;g34d1cf5dcd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e24684e7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4e24684e7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latin typeface="Lora"/>
                <a:ea typeface="Lora"/>
                <a:cs typeface="Lora"/>
                <a:sym typeface="Lora"/>
              </a:rPr>
              <a:t>NBIS is a national research infrastructure and SciLifeLab’s bioinformatics platform as well as the Swedish node of ELIXIR - the European infrastructure for life sciences.</a:t>
            </a:r>
            <a:br>
              <a:rPr lang="en-US" sz="1000">
                <a:latin typeface="Lora"/>
                <a:ea typeface="Lora"/>
                <a:cs typeface="Lora"/>
                <a:sym typeface="Lora"/>
              </a:rPr>
            </a:br>
            <a:r>
              <a:rPr lang="en-US" sz="1000">
                <a:latin typeface="Lora"/>
                <a:ea typeface="Lora"/>
                <a:cs typeface="Lora"/>
                <a:sym typeface="Lora"/>
              </a:rPr>
              <a:t>We are a distributed infrastructure with staff at six locations in Sweden. We provide three core services in order to help the Swedish research community to build knowledge and make bioinformatics easily accessible for life science researchers. These are:</a:t>
            </a:r>
            <a:br>
              <a:rPr lang="en-US" sz="1000">
                <a:latin typeface="Lora"/>
                <a:ea typeface="Lora"/>
                <a:cs typeface="Lora"/>
                <a:sym typeface="Lora"/>
              </a:rPr>
            </a:br>
            <a:r>
              <a:rPr lang="en-US" sz="1000">
                <a:latin typeface="Lora"/>
                <a:ea typeface="Lora"/>
                <a:cs typeface="Lora"/>
                <a:sym typeface="Lora"/>
              </a:rPr>
              <a:t>- Support - individual support ranging from short consultations to embedded bioinformaticians</a:t>
            </a:r>
            <a:br>
              <a:rPr lang="en-US" sz="1000">
                <a:latin typeface="Lora"/>
                <a:ea typeface="Lora"/>
                <a:cs typeface="Lora"/>
                <a:sym typeface="Lora"/>
              </a:rPr>
            </a:br>
            <a:r>
              <a:rPr lang="en-US" sz="1000">
                <a:latin typeface="Lora"/>
                <a:ea typeface="Lora"/>
                <a:cs typeface="Lora"/>
                <a:sym typeface="Lora"/>
              </a:rPr>
              <a:t>- Infrastructure - computational tools, guidelines etc.</a:t>
            </a:r>
            <a:br>
              <a:rPr lang="en-US" sz="1000">
                <a:latin typeface="Lora"/>
                <a:ea typeface="Lora"/>
                <a:cs typeface="Lora"/>
                <a:sym typeface="Lora"/>
              </a:rPr>
            </a:br>
            <a:r>
              <a:rPr lang="en-US" sz="1000">
                <a:latin typeface="Lora"/>
                <a:ea typeface="Lora"/>
                <a:cs typeface="Lora"/>
                <a:sym typeface="Lora"/>
              </a:rPr>
              <a:t>- Training - short form training events and mentoring programmes at postgraduate level</a:t>
            </a:r>
            <a:br>
              <a:rPr lang="en-US" sz="1000">
                <a:latin typeface="Lora"/>
                <a:ea typeface="Lora"/>
                <a:cs typeface="Lora"/>
                <a:sym typeface="Lora"/>
              </a:rPr>
            </a:br>
            <a:br>
              <a:rPr lang="en-US" sz="1000">
                <a:latin typeface="Lora"/>
                <a:ea typeface="Lora"/>
                <a:cs typeface="Lora"/>
                <a:sym typeface="Lora"/>
              </a:rPr>
            </a:br>
            <a:r>
              <a:rPr lang="en-US" sz="1000">
                <a:latin typeface="Lora"/>
                <a:ea typeface="Lora"/>
                <a:cs typeface="Lora"/>
                <a:sym typeface="Lora"/>
              </a:rPr>
              <a:t>visit nbis.se to learn more</a:t>
            </a:r>
            <a:endParaRPr sz="1000">
              <a:latin typeface="Lora"/>
              <a:ea typeface="Lora"/>
              <a:cs typeface="Lora"/>
              <a:sym typeface="Lora"/>
            </a:endParaRPr>
          </a:p>
        </p:txBody>
      </p:sp>
      <p:sp>
        <p:nvSpPr>
          <p:cNvPr id="213" name="Google Shape;213;g34e24684e76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52662de69e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g352662de69e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latin typeface="Lora"/>
                <a:ea typeface="Lora"/>
                <a:cs typeface="Lora"/>
                <a:sym typeface="Lora"/>
              </a:rPr>
              <a:t>15min</a:t>
            </a:r>
            <a:endParaRPr>
              <a:latin typeface="Lora"/>
              <a:ea typeface="Lora"/>
              <a:cs typeface="Lora"/>
              <a:sym typeface="Lora"/>
            </a:endParaRPr>
          </a:p>
        </p:txBody>
      </p:sp>
      <p:sp>
        <p:nvSpPr>
          <p:cNvPr id="255" name="Google Shape;255;g352662de69e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fce246725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4fce246725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To start the course, we first need to define what Open Science is. What words come to mind when you hear Open Science? What kind of practices are included in Open Science?</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rPr lang="en-US" sz="1000">
                <a:solidFill>
                  <a:srgbClr val="0F1114"/>
                </a:solidFill>
                <a:latin typeface="Lora"/>
                <a:ea typeface="Lora"/>
                <a:cs typeface="Lora"/>
                <a:sym typeface="Lora"/>
              </a:rPr>
              <a:t>Perhaps you have already heard the term open science. You might have encountered it at your work or on social media. You might have heard good and bad things about it. But what does open science mean exactly?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a:solidFill>
                <a:schemeClr val="dk1"/>
              </a:solidFill>
              <a:latin typeface="Lora"/>
              <a:ea typeface="Lora"/>
              <a:cs typeface="Lora"/>
              <a:sym typeface="Lora"/>
            </a:endParaRPr>
          </a:p>
        </p:txBody>
      </p:sp>
      <p:sp>
        <p:nvSpPr>
          <p:cNvPr id="265" name="Google Shape;265;g34fce246725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01d60e36d_0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501d60e36d_0_3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To start the course, we first need to define what Open Science is. What words come to mind when you hear Open Science? What kind of practices are included in Open Science?</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rPr lang="en-US" sz="1000">
                <a:solidFill>
                  <a:srgbClr val="0F1114"/>
                </a:solidFill>
                <a:latin typeface="Lora"/>
                <a:ea typeface="Lora"/>
                <a:cs typeface="Lora"/>
                <a:sym typeface="Lora"/>
              </a:rPr>
              <a:t>Perhaps you have already heard the term open science. You might have encountered it at your work or on social media. You might have heard good and bad things about it. But what does open science mean exactly? </a:t>
            </a:r>
            <a:endParaRPr sz="1000">
              <a:solidFill>
                <a:srgbClr val="0F1114"/>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What words come to mind when you hear Open Science?</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What kind of practices are included?</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a:solidFill>
                <a:schemeClr val="dk1"/>
              </a:solidFill>
              <a:latin typeface="Lora"/>
              <a:ea typeface="Lora"/>
              <a:cs typeface="Lora"/>
              <a:sym typeface="Lora"/>
            </a:endParaRPr>
          </a:p>
        </p:txBody>
      </p:sp>
      <p:sp>
        <p:nvSpPr>
          <p:cNvPr id="273" name="Google Shape;273;g3501d60e36d_0_3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798d99b92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3798d99b92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2021 UNESCO recommendation on Open Science provides a framework with principles and approaches for creating globally equitable access to scientific results and research processes, aiming to accelerate the implementation of the global Sustainable Development Goals</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From the recommendation (page 6):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“The  aim  of  this  Recommendation  is  to  provide  an  international  framework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for open science policy and practice that recognizes disciplinary and regional</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differences  in  open  science  perspectives,  takes  into  account  academic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freedom,  gender-transformative  approaches  and  the  specific  challenges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of  scientists  and  other  open  science  actors  in  different  countries  and  in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particular  in  developing  countries,  and  contributes  to  reducing  the  digital, </a:t>
            </a:r>
            <a:endParaRPr i="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technological and knowledge divides existing between and within countries.”</a:t>
            </a:r>
            <a:endParaRPr i="1"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Open Science, as defined above, encompasses a huge number of potential structural changes to academic practice, whose culture can often be hierarchical and conservative. Moreover, even where researchers are sympathetic to the aims of Open Science, they might not yet see the worth in taking them up, as existing incentive mechanisms do not yet reflect this new culture of openness and collaboration.</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Open science is an umbrella term that includes various movements with a common goal: to remove barriers to knowledge so that output, resources, methods, and tools can be freely shared and accessed by anyone at any stage of the research process. This means that adopting open science practices intrinsically favors collaboration, collectivism, and societal participation instead of individualism and career-oriented behavior. </a:t>
            </a:r>
            <a:endParaRPr sz="1000">
              <a:solidFill>
                <a:schemeClr val="dk1"/>
              </a:solidFill>
              <a:latin typeface="Lora"/>
              <a:ea typeface="Lora"/>
              <a:cs typeface="Lora"/>
              <a:sym typeface="Lora"/>
            </a:endParaRPr>
          </a:p>
          <a:p>
            <a:pPr indent="0" lvl="0" marL="0" rtl="0" algn="l">
              <a:lnSpc>
                <a:spcPct val="90000"/>
              </a:lnSpc>
              <a:spcBef>
                <a:spcPts val="1000"/>
              </a:spcBef>
              <a:spcAft>
                <a:spcPts val="0"/>
              </a:spcAft>
              <a:buSzPts val="1100"/>
              <a:buNone/>
            </a:pPr>
            <a:r>
              <a:rPr lang="en-US" sz="1000">
                <a:solidFill>
                  <a:schemeClr val="dk1"/>
                </a:solidFill>
                <a:latin typeface="Lora"/>
                <a:ea typeface="Lora"/>
                <a:cs typeface="Lora"/>
                <a:sym typeface="Lora"/>
              </a:rPr>
              <a:t>Synonyms: you may also encounter terms like open research or open scholarship. That's because the basic principles of responsible openness and transparency apply not only to scientific disciplines, but any activity aimed at producing knowledge. </a:t>
            </a:r>
            <a:endParaRPr sz="1000">
              <a:solidFill>
                <a:schemeClr val="dk1"/>
              </a:solidFill>
              <a:latin typeface="Lora"/>
              <a:ea typeface="Lora"/>
              <a:cs typeface="Lora"/>
              <a:sym typeface="Lora"/>
            </a:endParaRPr>
          </a:p>
        </p:txBody>
      </p:sp>
      <p:sp>
        <p:nvSpPr>
          <p:cNvPr id="285" name="Google Shape;285;g33798d99b92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fce246725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4fce246725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rPr lang="en-US" sz="1000" u="sng">
                <a:latin typeface="Lora"/>
                <a:ea typeface="Lora"/>
                <a:cs typeface="Lora"/>
                <a:sym typeface="Lora"/>
              </a:rPr>
              <a:t>On the slide it shows the components of Open Scientific knowledge. </a:t>
            </a:r>
            <a:r>
              <a:rPr lang="en-US" sz="1000">
                <a:latin typeface="Lora"/>
                <a:ea typeface="Lora"/>
                <a:cs typeface="Lora"/>
                <a:sym typeface="Lora"/>
              </a:rPr>
              <a:t>It also refers to the possibility of opening research methodologies and evaluation processes.</a:t>
            </a:r>
            <a:endParaRPr sz="1000">
              <a:latin typeface="Lora"/>
              <a:ea typeface="Lora"/>
              <a:cs typeface="Lora"/>
              <a:sym typeface="Lora"/>
            </a:endParaRPr>
          </a:p>
          <a:p>
            <a:pPr indent="0" lvl="0" marL="0" rtl="0" algn="l">
              <a:lnSpc>
                <a:spcPct val="90000"/>
              </a:lnSpc>
              <a:spcBef>
                <a:spcPts val="1000"/>
              </a:spcBef>
              <a:spcAft>
                <a:spcPts val="0"/>
              </a:spcAft>
              <a:buSzPts val="1100"/>
              <a:buNone/>
            </a:pPr>
            <a:r>
              <a:rPr lang="en-US" sz="1000" u="sng">
                <a:latin typeface="Lora"/>
                <a:ea typeface="Lora"/>
                <a:cs typeface="Lora"/>
                <a:sym typeface="Lora"/>
              </a:rPr>
              <a:t>Open science infrastructures</a:t>
            </a:r>
            <a:r>
              <a:rPr lang="en-US" sz="1000">
                <a:latin typeface="Lora"/>
                <a:ea typeface="Lora"/>
                <a:cs typeface="Lora"/>
                <a:sym typeface="Lora"/>
              </a:rPr>
              <a:t> refer to shared research infrastructures that are needed to support open science and serve the needs of different communities. Open science infrastructures can provide </a:t>
            </a:r>
            <a:r>
              <a:rPr b="1" lang="en-US" sz="1000">
                <a:latin typeface="Lora"/>
                <a:ea typeface="Lora"/>
                <a:cs typeface="Lora"/>
                <a:sym typeface="Lora"/>
              </a:rPr>
              <a:t>common access to physical facilities </a:t>
            </a:r>
            <a:r>
              <a:rPr lang="en-US" sz="1000">
                <a:latin typeface="Lora"/>
                <a:ea typeface="Lora"/>
                <a:cs typeface="Lora"/>
                <a:sym typeface="Lora"/>
              </a:rPr>
              <a:t>as well as essential</a:t>
            </a:r>
            <a:r>
              <a:rPr b="1" lang="en-US" sz="1000">
                <a:latin typeface="Lora"/>
                <a:ea typeface="Lora"/>
                <a:cs typeface="Lora"/>
                <a:sym typeface="Lora"/>
              </a:rPr>
              <a:t> open and standardized services </a:t>
            </a:r>
            <a:r>
              <a:rPr lang="en-US" sz="1000">
                <a:latin typeface="Lora"/>
                <a:ea typeface="Lora"/>
                <a:cs typeface="Lora"/>
                <a:sym typeface="Lora"/>
              </a:rPr>
              <a:t>and capabilities to manage and create access, portability, analysis and federation of data, scientific literature, thematic science priorities or community engagement. These infrastructures can be virtual or physical, including </a:t>
            </a:r>
            <a:r>
              <a:rPr b="1" lang="en-US" sz="1000">
                <a:latin typeface="Lora"/>
                <a:ea typeface="Lora"/>
                <a:cs typeface="Lora"/>
                <a:sym typeface="Lora"/>
              </a:rPr>
              <a:t>major scientific equipment,</a:t>
            </a:r>
            <a:r>
              <a:rPr lang="en-US" sz="1000">
                <a:latin typeface="Lora"/>
                <a:ea typeface="Lora"/>
                <a:cs typeface="Lora"/>
                <a:sym typeface="Lora"/>
              </a:rPr>
              <a:t> knowledge-based resources such as </a:t>
            </a:r>
            <a:r>
              <a:rPr b="1" lang="en-US" sz="1000">
                <a:latin typeface="Lora"/>
                <a:ea typeface="Lora"/>
                <a:cs typeface="Lora"/>
                <a:sym typeface="Lora"/>
              </a:rPr>
              <a:t>collections, journals and open access publication platforms, open bibliometrics and scientometrics systems</a:t>
            </a:r>
            <a:r>
              <a:rPr lang="en-US" sz="1000">
                <a:latin typeface="Lora"/>
                <a:ea typeface="Lora"/>
                <a:cs typeface="Lora"/>
                <a:sym typeface="Lora"/>
              </a:rPr>
              <a:t> for assessing and analyzing scientific domains. </a:t>
            </a:r>
            <a:r>
              <a:rPr b="1" lang="en-US" sz="1000">
                <a:latin typeface="Lora"/>
                <a:ea typeface="Lora"/>
                <a:cs typeface="Lora"/>
                <a:sym typeface="Lora"/>
              </a:rPr>
              <a:t>Open laboratories, digital research services, innovation incubators and science parks</a:t>
            </a:r>
            <a:r>
              <a:rPr lang="en-US" sz="1000">
                <a:latin typeface="Lora"/>
                <a:ea typeface="Lora"/>
                <a:cs typeface="Lora"/>
                <a:sym typeface="Lora"/>
              </a:rPr>
              <a:t> are among the many types of infrastructure components that can support open science</a:t>
            </a:r>
            <a:endParaRPr sz="1000">
              <a:latin typeface="Lora"/>
              <a:ea typeface="Lora"/>
              <a:cs typeface="Lora"/>
              <a:sym typeface="Lora"/>
            </a:endParaRPr>
          </a:p>
          <a:p>
            <a:pPr indent="0" lvl="0" marL="0" rtl="0" algn="l">
              <a:lnSpc>
                <a:spcPct val="90000"/>
              </a:lnSpc>
              <a:spcBef>
                <a:spcPts val="1000"/>
              </a:spcBef>
              <a:spcAft>
                <a:spcPts val="0"/>
              </a:spcAft>
              <a:buSzPts val="1100"/>
              <a:buNone/>
            </a:pPr>
            <a:r>
              <a:rPr lang="en-US" sz="1000" u="sng">
                <a:latin typeface="Lora"/>
                <a:ea typeface="Lora"/>
                <a:cs typeface="Lora"/>
                <a:sym typeface="Lora"/>
              </a:rPr>
              <a:t>Open engagement of societal actors</a:t>
            </a:r>
            <a:r>
              <a:rPr lang="en-US" sz="1000">
                <a:latin typeface="Lora"/>
                <a:ea typeface="Lora"/>
                <a:cs typeface="Lora"/>
                <a:sym typeface="Lora"/>
              </a:rPr>
              <a:t> refers to </a:t>
            </a:r>
            <a:r>
              <a:rPr b="1" lang="en-US" sz="1000">
                <a:latin typeface="Lora"/>
                <a:ea typeface="Lora"/>
                <a:cs typeface="Lora"/>
                <a:sym typeface="Lora"/>
              </a:rPr>
              <a:t>extended collaboration between scientists and societal actors beyond the scientific community,</a:t>
            </a:r>
            <a:r>
              <a:rPr lang="en-US" sz="1000">
                <a:latin typeface="Lora"/>
                <a:ea typeface="Lora"/>
                <a:cs typeface="Lora"/>
                <a:sym typeface="Lora"/>
              </a:rPr>
              <a:t> by opening up practices and tools that are part of the research cycle and by making the scientific process more inclusive and accessible to the broader inquiring society. New forms of collaboration and work can be used, such as crowdfunding, crowdsourcing, scientific volunteering and citizen science. Open science provides the basis for</a:t>
            </a:r>
            <a:r>
              <a:rPr b="1" lang="en-US" sz="1000">
                <a:latin typeface="Lora"/>
                <a:ea typeface="Lora"/>
                <a:cs typeface="Lora"/>
                <a:sym typeface="Lora"/>
              </a:rPr>
              <a:t> citizens and communities to be involved in the generation of knowledge</a:t>
            </a:r>
            <a:r>
              <a:rPr lang="en-US" sz="1000">
                <a:latin typeface="Lora"/>
                <a:ea typeface="Lora"/>
                <a:cs typeface="Lora"/>
                <a:sym typeface="Lora"/>
              </a:rPr>
              <a:t> and shared problem-solving. Open science allows for an</a:t>
            </a:r>
            <a:r>
              <a:rPr b="1" lang="en-US" sz="1000">
                <a:latin typeface="Lora"/>
                <a:ea typeface="Lora"/>
                <a:cs typeface="Lora"/>
                <a:sym typeface="Lora"/>
              </a:rPr>
              <a:t> enhanced dialogue between scientists, policymakers and practitioners, entrepreneurs and community members, giving all stakeholders a voice in developing research </a:t>
            </a:r>
            <a:r>
              <a:rPr lang="en-US" sz="1000">
                <a:latin typeface="Lora"/>
                <a:ea typeface="Lora"/>
                <a:cs typeface="Lora"/>
                <a:sym typeface="Lora"/>
              </a:rPr>
              <a:t>that is compatible with their concerns, needs and aspirations</a:t>
            </a:r>
            <a:endParaRPr sz="1000">
              <a:latin typeface="Lora"/>
              <a:ea typeface="Lora"/>
              <a:cs typeface="Lora"/>
              <a:sym typeface="Lora"/>
            </a:endParaRPr>
          </a:p>
          <a:p>
            <a:pPr indent="0" lvl="0" marL="0" rtl="0" algn="l">
              <a:lnSpc>
                <a:spcPct val="100000"/>
              </a:lnSpc>
              <a:spcBef>
                <a:spcPts val="0"/>
              </a:spcBef>
              <a:spcAft>
                <a:spcPts val="0"/>
              </a:spcAft>
              <a:buSzPts val="1100"/>
              <a:buNone/>
            </a:pPr>
            <a:r>
              <a:t/>
            </a:r>
            <a:endParaRPr sz="1000" u="sng">
              <a:latin typeface="Lora"/>
              <a:ea typeface="Lora"/>
              <a:cs typeface="Lora"/>
              <a:sym typeface="Lora"/>
            </a:endParaRPr>
          </a:p>
          <a:p>
            <a:pPr indent="0" lvl="0" marL="0" rtl="0" algn="l">
              <a:lnSpc>
                <a:spcPct val="100000"/>
              </a:lnSpc>
              <a:spcBef>
                <a:spcPts val="0"/>
              </a:spcBef>
              <a:spcAft>
                <a:spcPts val="0"/>
              </a:spcAft>
              <a:buSzPts val="1100"/>
              <a:buNone/>
            </a:pPr>
            <a:r>
              <a:rPr lang="en-US" sz="1000" u="sng">
                <a:latin typeface="Lora"/>
                <a:ea typeface="Lora"/>
                <a:cs typeface="Lora"/>
                <a:sym typeface="Lora"/>
              </a:rPr>
              <a:t>Open dialogue with other knowledge systems</a:t>
            </a:r>
            <a:r>
              <a:rPr lang="en-US" sz="1000">
                <a:latin typeface="Lora"/>
                <a:ea typeface="Lora"/>
                <a:cs typeface="Lora"/>
                <a:sym typeface="Lora"/>
              </a:rPr>
              <a:t> refers to the dialogue between different knowledge holders, that recognizes the richness of diverse knowledge systems and epistemologies and diversity of knowledge producers, in line with the 2001 UNESCO Universal Declaration on Cultural Diversity. Open dialogue aims to:</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a:t>
            </a:r>
            <a:r>
              <a:rPr b="1" lang="en-US" sz="1000">
                <a:latin typeface="Lora"/>
                <a:ea typeface="Lora"/>
                <a:cs typeface="Lora"/>
                <a:sym typeface="Lora"/>
              </a:rPr>
              <a:t>promote the inclusion of knowledge from traditionally marginalized scholar</a:t>
            </a:r>
            <a:r>
              <a:rPr lang="en-US" sz="1000">
                <a:latin typeface="Lora"/>
                <a:ea typeface="Lora"/>
                <a:cs typeface="Lora"/>
                <a:sym typeface="Lora"/>
              </a:rPr>
              <a:t>s and </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-enhance - inter-relationships and complementarities between diverse epistemologies</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adherence to international human rights norms and standards</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respect for knowledge sovereignty and governance</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                   - recognition of the rights of knowledge holders to receive a fair and equitable share of benefits that may arise from the use of their knowledge. </a:t>
            </a:r>
            <a:endParaRPr sz="1000">
              <a:latin typeface="Lora"/>
              <a:ea typeface="Lora"/>
              <a:cs typeface="Lora"/>
              <a:sym typeface="Lora"/>
            </a:endParaRPr>
          </a:p>
          <a:p>
            <a:pPr indent="0" lvl="0" marL="0" rtl="0" algn="l">
              <a:lnSpc>
                <a:spcPct val="100000"/>
              </a:lnSpc>
              <a:spcBef>
                <a:spcPts val="0"/>
              </a:spcBef>
              <a:spcAft>
                <a:spcPts val="0"/>
              </a:spcAft>
              <a:buSzPts val="1100"/>
              <a:buNone/>
            </a:pPr>
            <a:r>
              <a:rPr lang="en-US" sz="1000">
                <a:latin typeface="Lora"/>
                <a:ea typeface="Lora"/>
                <a:cs typeface="Lora"/>
                <a:sym typeface="Lora"/>
              </a:rPr>
              <a:t>In particular, li</a:t>
            </a:r>
            <a:r>
              <a:rPr b="1" lang="en-US" sz="1000">
                <a:latin typeface="Lora"/>
                <a:ea typeface="Lora"/>
                <a:cs typeface="Lora"/>
                <a:sym typeface="Lora"/>
              </a:rPr>
              <a:t>nks with indigenous knowledge systems</a:t>
            </a:r>
            <a:r>
              <a:rPr lang="en-US" sz="1000">
                <a:latin typeface="Lora"/>
                <a:ea typeface="Lora"/>
                <a:cs typeface="Lora"/>
                <a:sym typeface="Lora"/>
              </a:rPr>
              <a:t> must be built in line with the 2007 United Nations Declaration on the Rights of Indigenous Peoples and principles for Indigenous Data Governance, such as the CARE (Collective Benefit, Authority to Control, Responsibility and Ethics) data principles. Such efforts acknowledge the rights of indigenous peoples and local communities to govern and make decisions on the custodianship, ownership and administration of data on traditional knowledge and on their lands and resources.</a:t>
            </a:r>
            <a:endParaRPr sz="1000">
              <a:latin typeface="Lora"/>
              <a:ea typeface="Lora"/>
              <a:cs typeface="Lora"/>
              <a:sym typeface="Lora"/>
            </a:endParaRPr>
          </a:p>
          <a:p>
            <a:pPr indent="0" lvl="0" marL="0" rtl="0" algn="l">
              <a:lnSpc>
                <a:spcPct val="100000"/>
              </a:lnSpc>
              <a:spcBef>
                <a:spcPts val="0"/>
              </a:spcBef>
              <a:spcAft>
                <a:spcPts val="0"/>
              </a:spcAft>
              <a:buSzPts val="1100"/>
              <a:buNone/>
            </a:pPr>
            <a:r>
              <a:t/>
            </a:r>
            <a:endParaRPr>
              <a:latin typeface="Lora"/>
              <a:ea typeface="Lora"/>
              <a:cs typeface="Lora"/>
              <a:sym typeface="Lora"/>
            </a:endParaRPr>
          </a:p>
        </p:txBody>
      </p:sp>
      <p:sp>
        <p:nvSpPr>
          <p:cNvPr id="295" name="Google Shape;295;g34fce246725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d1cf5dcd5_0_10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4d1cf5dcd5_0_10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rgbClr val="0F1114"/>
                </a:solidFill>
                <a:latin typeface="Lora"/>
                <a:ea typeface="Lora"/>
                <a:cs typeface="Lora"/>
                <a:sym typeface="Lora"/>
              </a:rPr>
              <a:t>So now we have a working definition of Open Science, what it is and what it aims to do. But to really understand why Open Science matters, it helps to know where it came from. Because Open Science isn’t a brand-new concept, it’s the result of decades, even centuries, of evolving ideas about how knowledge should be created, shared, and used. The push for openness didn’t happen overnight. It was shaped by moments of crisis, technological changes, and growing public demand for access to research, especially when it's publicly funded. Let’s take a quick look at how we got here.</a:t>
            </a:r>
            <a:endParaRPr sz="1000">
              <a:solidFill>
                <a:srgbClr val="001E38"/>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rgbClr val="001E38"/>
              </a:solidFill>
              <a:highlight>
                <a:srgbClr val="FFFFFF"/>
              </a:highlight>
              <a:latin typeface="Lora"/>
              <a:ea typeface="Lora"/>
              <a:cs typeface="Lora"/>
              <a:sym typeface="Lora"/>
            </a:endParaRPr>
          </a:p>
        </p:txBody>
      </p:sp>
      <p:sp>
        <p:nvSpPr>
          <p:cNvPr id="307" name="Google Shape;307;g34d1cf5dcd5_0_10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fce246725_0_16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4fce246725_0_16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the pre-modern era (Middle Ages + start of Renaissance), the sharing of scientific knowledge was rare and often discouraged. Knowledge production took place in </a:t>
            </a:r>
            <a:r>
              <a:rPr b="1" lang="en-US" sz="1000">
                <a:solidFill>
                  <a:schemeClr val="dk1"/>
                </a:solidFill>
                <a:latin typeface="Lora"/>
                <a:ea typeface="Lora"/>
                <a:cs typeface="Lora"/>
                <a:sym typeface="Lora"/>
              </a:rPr>
              <a:t>fragmented communities</a:t>
            </a:r>
            <a:r>
              <a:rPr lang="en-US" sz="1000">
                <a:solidFill>
                  <a:schemeClr val="dk1"/>
                </a:solidFill>
                <a:latin typeface="Lora"/>
                <a:ea typeface="Lora"/>
                <a:cs typeface="Lora"/>
                <a:sym typeface="Lora"/>
              </a:rPr>
              <a:t>, such as natural philosophers, alchemists, and craft guilds, each with their own motives for keeping discoveries secret.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1. Knowledge as Trade Secret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Alchemists and early practitioners of what we now consider science often encoded their findings in cryptic language or symbolism, aiming to protect their intellectual property and avoid scrutiny.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Craft guilds in fields like metallurgy, glassmaking, or dyeing treated techniques as closely guarded secrets, passed down through apprenticeships. This secrecy preserved economic monopolies and competitive advantage.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2. Patronage and Elitism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Many scholars relied on the support of aristocratic or ecclesiastical patrons. Knowledge was a personal asset, not something shared openly but used to gain favor, prestige, or positions.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Sharing too widely could jeopardize one’s social standing or diminish the value of one's discovery.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3. Absence of Formal Institutions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With no universities focused on empirical science and no standardized publishing or peer review, there were few incentives to share findings openly.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idea of science as a collaborative or cumulative effort had not yet taken hold.</a:t>
            </a:r>
            <a:endParaRPr sz="1000">
              <a:solidFill>
                <a:srgbClr val="001E38"/>
              </a:solidFill>
              <a:highlight>
                <a:srgbClr val="FFFFFF"/>
              </a:highlight>
              <a:latin typeface="Lora"/>
              <a:ea typeface="Lora"/>
              <a:cs typeface="Lora"/>
              <a:sym typeface="Lora"/>
            </a:endParaRPr>
          </a:p>
        </p:txBody>
      </p:sp>
      <p:sp>
        <p:nvSpPr>
          <p:cNvPr id="315" name="Google Shape;315;g34fce246725_0_16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4d1cf5dcd5_0_1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34d1cf5dcd5_0_1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rgbClr val="0F1114"/>
                </a:solidFill>
                <a:latin typeface="Lora"/>
                <a:ea typeface="Lora"/>
                <a:cs typeface="Lora"/>
                <a:sym typeface="Lora"/>
              </a:rPr>
              <a:t>Between 1600 and 1660, the culture of scientific sharing began to shift in Europe as aristocratic patronage became a dominant force. Kings, dukes, and other elites funded scientists to solve practical problems (e.g. improving agricultural yields or navigation) which served both economic and political goals. While secrecy still prevailed to ensure that prestige remained with the patron, reputation increasingly became a valuable asset for scientists. To </a:t>
            </a:r>
            <a:r>
              <a:rPr b="1" lang="en-US" sz="1000">
                <a:solidFill>
                  <a:srgbClr val="0F1114"/>
                </a:solidFill>
                <a:latin typeface="Lora"/>
                <a:ea typeface="Lora"/>
                <a:cs typeface="Lora"/>
                <a:sym typeface="Lora"/>
              </a:rPr>
              <a:t>attract support and distinguish themselves from charlatans</a:t>
            </a:r>
            <a:r>
              <a:rPr lang="en-US" sz="1000">
                <a:solidFill>
                  <a:srgbClr val="0F1114"/>
                </a:solidFill>
                <a:latin typeface="Lora"/>
                <a:ea typeface="Lora"/>
                <a:cs typeface="Lora"/>
                <a:sym typeface="Lora"/>
              </a:rPr>
              <a:t>, researchers began sharing their findings selectively, initiating a slow move toward openness as a means of gaining credibility and recognition within elite circles.</a:t>
            </a:r>
            <a:endParaRPr sz="1300">
              <a:solidFill>
                <a:srgbClr val="001E38"/>
              </a:solidFill>
              <a:highlight>
                <a:srgbClr val="FFFFFF"/>
              </a:highlight>
            </a:endParaRPr>
          </a:p>
        </p:txBody>
      </p:sp>
      <p:sp>
        <p:nvSpPr>
          <p:cNvPr id="376" name="Google Shape;376;g34d1cf5dcd5_0_1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4d1cf5dcd5_0_1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4d1cf5dcd5_0_1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000">
                <a:solidFill>
                  <a:schemeClr val="dk1"/>
                </a:solidFill>
                <a:latin typeface="Lora"/>
                <a:ea typeface="Lora"/>
                <a:cs typeface="Lora"/>
                <a:sym typeface="Lora"/>
              </a:rPr>
              <a:t>Between 1660 and 1700,</a:t>
            </a:r>
            <a:r>
              <a:rPr b="1" lang="en-US" sz="1000">
                <a:solidFill>
                  <a:schemeClr val="dk1"/>
                </a:solidFill>
                <a:latin typeface="Lora"/>
                <a:ea typeface="Lora"/>
                <a:cs typeface="Lora"/>
                <a:sym typeface="Lora"/>
              </a:rPr>
              <a:t> the growth of scientific inquiry began to exceed what aristocratic patronage alone could sustain. </a:t>
            </a:r>
            <a:r>
              <a:rPr lang="en-US" sz="1000">
                <a:solidFill>
                  <a:schemeClr val="dk1"/>
                </a:solidFill>
                <a:latin typeface="Lora"/>
                <a:ea typeface="Lora"/>
                <a:cs typeface="Lora"/>
                <a:sym typeface="Lora"/>
              </a:rPr>
              <a:t>As more individuals engaged in scientific pursuits, the demand for funding, recognition, and intellectual exchange o</a:t>
            </a:r>
            <a:r>
              <a:rPr b="1" lang="en-US" sz="1000">
                <a:solidFill>
                  <a:schemeClr val="dk1"/>
                </a:solidFill>
                <a:latin typeface="Lora"/>
                <a:ea typeface="Lora"/>
                <a:cs typeface="Lora"/>
                <a:sym typeface="Lora"/>
              </a:rPr>
              <a:t>utpaced the capacity and interests of individual patrons.</a:t>
            </a:r>
            <a:r>
              <a:rPr lang="en-US" sz="1000">
                <a:solidFill>
                  <a:schemeClr val="dk1"/>
                </a:solidFill>
                <a:latin typeface="Lora"/>
                <a:ea typeface="Lora"/>
                <a:cs typeface="Lora"/>
                <a:sym typeface="Lora"/>
              </a:rPr>
              <a:t> Aristocratic support was often inconsistent, tied to personal tastes or political motives, and limited to a small number of protégés. This created the need for more stable and collective forms of support</a:t>
            </a:r>
            <a:r>
              <a:rPr b="1" lang="en-US" sz="1000">
                <a:solidFill>
                  <a:schemeClr val="dk1"/>
                </a:solidFill>
                <a:latin typeface="Lora"/>
                <a:ea typeface="Lora"/>
                <a:cs typeface="Lora"/>
                <a:sym typeface="Lora"/>
              </a:rPr>
              <a:t>, leading to the establishment of formal scientific societies such as the Royal Society of London in 1660 and the Académie Royale des Sciences in Paris in 1666.</a:t>
            </a:r>
            <a:r>
              <a:rPr lang="en-US" sz="1000">
                <a:solidFill>
                  <a:schemeClr val="dk1"/>
                </a:solidFill>
                <a:latin typeface="Lora"/>
                <a:ea typeface="Lora"/>
                <a:cs typeface="Lora"/>
                <a:sym typeface="Lora"/>
              </a:rPr>
              <a:t> Between the 1660s and 1793, governments gave official recognition to 70 other scientific organizations modeled after those two academies. These institutions were designed to </a:t>
            </a:r>
            <a:r>
              <a:rPr b="1" lang="en-US" sz="1000">
                <a:solidFill>
                  <a:schemeClr val="dk1"/>
                </a:solidFill>
                <a:latin typeface="Lora"/>
                <a:ea typeface="Lora"/>
                <a:cs typeface="Lora"/>
                <a:sym typeface="Lora"/>
              </a:rPr>
              <a:t>pool resources, coordinate research, and create spaces where scientists could exchange knowledge in a more structured and reliable way.</a:t>
            </a:r>
            <a:endParaRPr b="1" sz="1000">
              <a:solidFill>
                <a:schemeClr val="dk1"/>
              </a:solidFill>
              <a:latin typeface="Lora"/>
              <a:ea typeface="Lora"/>
              <a:cs typeface="Lora"/>
              <a:sym typeface="Lora"/>
            </a:endParaRPr>
          </a:p>
          <a:p>
            <a:pPr indent="0" lvl="0" marL="0" rtl="0" algn="l">
              <a:lnSpc>
                <a:spcPct val="115000"/>
              </a:lnSpc>
              <a:spcBef>
                <a:spcPts val="1200"/>
              </a:spcBef>
              <a:spcAft>
                <a:spcPts val="0"/>
              </a:spcAft>
              <a:buSzPts val="1100"/>
              <a:buNone/>
            </a:pPr>
            <a:r>
              <a:rPr lang="en-US" sz="1000">
                <a:solidFill>
                  <a:schemeClr val="dk1"/>
                </a:solidFill>
                <a:latin typeface="Lora"/>
                <a:ea typeface="Lora"/>
                <a:cs typeface="Lora"/>
                <a:sym typeface="Lora"/>
              </a:rPr>
              <a:t>At the same time, sharing scientific work became increasingly important as a means of establishing credibility and attracting institutional support. Informal peer review practices emerged as a solution to help patrons and societies assess the quality and authenticity of scientific claims. </a:t>
            </a:r>
            <a:r>
              <a:rPr b="1" lang="en-US" sz="1000">
                <a:solidFill>
                  <a:schemeClr val="dk1"/>
                </a:solidFill>
                <a:latin typeface="Lora"/>
                <a:ea typeface="Lora"/>
                <a:cs typeface="Lora"/>
                <a:sym typeface="Lora"/>
              </a:rPr>
              <a:t>Membership in these societies became prestigious, offering access to valuable networks and information</a:t>
            </a:r>
            <a:r>
              <a:rPr lang="en-US" sz="1000">
                <a:solidFill>
                  <a:schemeClr val="dk1"/>
                </a:solidFill>
                <a:latin typeface="Lora"/>
                <a:ea typeface="Lora"/>
                <a:cs typeface="Lora"/>
                <a:sym typeface="Lora"/>
              </a:rPr>
              <a:t>. Scientists were expected to contribute to collective knowledge, which encouraged a shift from secrecy to openness. This transformation was reflected in new forms of scientific communication, most notably the founding of Europe’s first academic journals, </a:t>
            </a:r>
            <a:r>
              <a:rPr i="1" lang="en-US" sz="1000">
                <a:solidFill>
                  <a:schemeClr val="dk1"/>
                </a:solidFill>
                <a:latin typeface="Lora"/>
                <a:ea typeface="Lora"/>
                <a:cs typeface="Lora"/>
                <a:sym typeface="Lora"/>
              </a:rPr>
              <a:t>Journal des sçavans</a:t>
            </a:r>
            <a:r>
              <a:rPr lang="en-US" sz="1000">
                <a:solidFill>
                  <a:schemeClr val="dk1"/>
                </a:solidFill>
                <a:latin typeface="Lora"/>
                <a:ea typeface="Lora"/>
                <a:cs typeface="Lora"/>
                <a:sym typeface="Lora"/>
              </a:rPr>
              <a:t> and </a:t>
            </a:r>
            <a:r>
              <a:rPr i="1" lang="en-US" sz="1000">
                <a:solidFill>
                  <a:schemeClr val="dk1"/>
                </a:solidFill>
                <a:latin typeface="Lora"/>
                <a:ea typeface="Lora"/>
                <a:cs typeface="Lora"/>
                <a:sym typeface="Lora"/>
              </a:rPr>
              <a:t>Philosophical Transactions</a:t>
            </a:r>
            <a:r>
              <a:rPr lang="en-US" sz="1000">
                <a:solidFill>
                  <a:schemeClr val="dk1"/>
                </a:solidFill>
                <a:latin typeface="Lora"/>
                <a:ea typeface="Lora"/>
                <a:cs typeface="Lora"/>
                <a:sym typeface="Lora"/>
              </a:rPr>
              <a:t> in 1665. These publications marked a key moment in the institutionalization of science, laying the foundation for modern scientific publishing and the norms of transparency and collaboration that define Open Science today. </a:t>
            </a:r>
            <a:r>
              <a:rPr b="1" lang="en-US" sz="1000">
                <a:solidFill>
                  <a:schemeClr val="dk1"/>
                </a:solidFill>
                <a:latin typeface="Lora"/>
                <a:ea typeface="Lora"/>
                <a:cs typeface="Lora"/>
                <a:sym typeface="Lora"/>
              </a:rPr>
              <a:t>By 1699 there were 30 scientific journals; by 1790 there were 1052.</a:t>
            </a:r>
            <a:endParaRPr b="1" sz="1000">
              <a:solidFill>
                <a:schemeClr val="dk1"/>
              </a:solidFill>
              <a:latin typeface="Lora"/>
              <a:ea typeface="Lora"/>
              <a:cs typeface="Lora"/>
              <a:sym typeface="Lora"/>
            </a:endParaRPr>
          </a:p>
          <a:p>
            <a:pPr indent="0" lvl="0" marL="0" rtl="0" algn="l">
              <a:lnSpc>
                <a:spcPct val="100000"/>
              </a:lnSpc>
              <a:spcBef>
                <a:spcPts val="1200"/>
              </a:spcBef>
              <a:spcAft>
                <a:spcPts val="0"/>
              </a:spcAft>
              <a:buClr>
                <a:schemeClr val="dk1"/>
              </a:buClr>
              <a:buSzPts val="1100"/>
              <a:buFont typeface="Arial"/>
              <a:buNone/>
            </a:pPr>
            <a:r>
              <a:t/>
            </a:r>
            <a:endParaRPr sz="1000">
              <a:solidFill>
                <a:srgbClr val="0F1114"/>
              </a:solidFill>
              <a:latin typeface="Lora"/>
              <a:ea typeface="Lora"/>
              <a:cs typeface="Lora"/>
              <a:sym typeface="Lora"/>
            </a:endParaRPr>
          </a:p>
        </p:txBody>
      </p:sp>
      <p:sp>
        <p:nvSpPr>
          <p:cNvPr id="437" name="Google Shape;437;g34d1cf5dcd5_0_1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4d1cf5dcd5_0_1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4d1cf5dcd5_0_1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1000">
                <a:solidFill>
                  <a:schemeClr val="dk1"/>
                </a:solidFill>
                <a:latin typeface="Lora"/>
                <a:ea typeface="Lora"/>
                <a:cs typeface="Lora"/>
                <a:sym typeface="Lora"/>
              </a:rPr>
              <a:t>Between 1700 and 1900, the sharing of scientific knowledge became increasingly formalized through the growing publication of scientific journals</a:t>
            </a:r>
            <a:r>
              <a:rPr lang="en-US" sz="1000">
                <a:solidFill>
                  <a:schemeClr val="dk1"/>
                </a:solidFill>
                <a:latin typeface="Lora"/>
                <a:ea typeface="Lora"/>
                <a:cs typeface="Lora"/>
                <a:sym typeface="Lora"/>
              </a:rPr>
              <a:t>. Building on the foundations laid by 17th-century academies, journals became a central platform for disseminating research, enabling scientists to communicate discoveries, establish priority, and engage in scholarly critique. During the 18th century alone, over a thousand journals were established (though many were short-lived) reflecting both the expanding interest in science and the fragmented nature of early scholarly publishing.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This period also saw the gradual institutionalization of peer review, providing a mechanism for quality control and credibility. However, despite this increased output, access to journals remained limited. </a:t>
            </a:r>
            <a:r>
              <a:rPr b="1" lang="en-US" sz="1000">
                <a:solidFill>
                  <a:schemeClr val="dk1"/>
                </a:solidFill>
                <a:latin typeface="Lora"/>
                <a:ea typeface="Lora"/>
                <a:cs typeface="Lora"/>
                <a:sym typeface="Lora"/>
              </a:rPr>
              <a:t>High subscription costs and restricted distribution meant that scientific communication was largely confined to elite institutions and well-connected scholars</a:t>
            </a:r>
            <a:r>
              <a:rPr lang="en-US" sz="1000">
                <a:solidFill>
                  <a:schemeClr val="dk1"/>
                </a:solidFill>
                <a:latin typeface="Lora"/>
                <a:ea typeface="Lora"/>
                <a:cs typeface="Lora"/>
                <a:sym typeface="Lora"/>
              </a:rPr>
              <a:t>, reinforcing existing hierarchies in knowledge production. Nonetheless, this era laid crucial groundwork for modern scientific communication, fostering the norms of public disclosure, replication, and cumulative knowledge that would later underpin the open science movement.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300">
              <a:solidFill>
                <a:srgbClr val="001E38"/>
              </a:solidFill>
              <a:highlight>
                <a:srgbClr val="FFFFFF"/>
              </a:highlight>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Swedish context: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Dating back to 1766, Sweden’s Freedom of the Press Act guarantees public access to official documents. This principle heavily influenced the country’s academic culture, fostering expectations that public knowledge, including research, should be openly accessible. The Swedish Freedom of the Press Ordinance of 1766 is now inscribed on the UNESCO Memory of the World Register. The first of its kind in the world, the Ordinance includes both the rights of freedom of expression and that of access to official public records.</a:t>
            </a:r>
            <a:endParaRPr sz="1000">
              <a:solidFill>
                <a:schemeClr val="dk1"/>
              </a:solidFill>
              <a:latin typeface="Lora"/>
              <a:ea typeface="Lora"/>
              <a:cs typeface="Lora"/>
              <a:sym typeface="Lora"/>
            </a:endParaRPr>
          </a:p>
        </p:txBody>
      </p:sp>
      <p:sp>
        <p:nvSpPr>
          <p:cNvPr id="500" name="Google Shape;500;g34d1cf5dcd5_0_1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4d1cf5dcd5_0_10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g34d1cf5dcd5_0_10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Between 1900 and 1950, the norms surrounding the sharing of scientific knowledge became more explicitly tied to ideals of public service and ethical conduct as science grew increasingly professionalized, and institutionalized.</a:t>
            </a:r>
            <a:r>
              <a:rPr lang="en-US" sz="1000">
                <a:solidFill>
                  <a:schemeClr val="dk1"/>
                </a:solidFill>
                <a:latin typeface="Lora"/>
                <a:ea typeface="Lora"/>
                <a:cs typeface="Lora"/>
                <a:sym typeface="Lora"/>
              </a:rPr>
              <a:t> Universities and state institutions became central to research, particularly as scientific knowledge began playing a pivotal role in industrial innovation, agriculture, public health, and national defense. With this growth came efforts to define what it meant to be a responsible and ethical member of the scientific community.</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the 1940s, sociologist Robert K. Merton articulated a foundational set of principles, known as the Mertonian norms, that helped define modern scientific ethos.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These include:</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communism (the idea that scientific knowledge should be shared collectively)</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universalism (scientific claims are judged independently of the personal attributes of the researcher)</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disinterestedness (research should be pursued for the collective good, not personal gain)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 organized skepticism (claims must undergo critical peer evaluation).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These norms helped formalize the expectation that science operates in the public interest and should remain open, transparent, and collaborative.</a:t>
            </a:r>
            <a:r>
              <a:rPr lang="en-US" sz="1000">
                <a:solidFill>
                  <a:schemeClr val="dk1"/>
                </a:solidFill>
                <a:latin typeface="Lora"/>
                <a:ea typeface="Lora"/>
                <a:cs typeface="Lora"/>
                <a:sym typeface="Lora"/>
              </a:rPr>
              <a:t> They continue to influence international standards for research integrity today, reinforcing openness as a core element of credible scientific practice.</a:t>
            </a:r>
            <a:endParaRPr sz="900">
              <a:solidFill>
                <a:srgbClr val="2021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rgbClr val="0F1114"/>
              </a:solidFill>
              <a:latin typeface="Lora"/>
              <a:ea typeface="Lora"/>
              <a:cs typeface="Lora"/>
              <a:sym typeface="Lora"/>
            </a:endParaRPr>
          </a:p>
        </p:txBody>
      </p:sp>
      <p:sp>
        <p:nvSpPr>
          <p:cNvPr id="564" name="Google Shape;564;g34d1cf5dcd5_0_10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4d1cf5dcd5_0_1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4d1cf5dcd5_0_1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World War II played a major role in shaping modern science (especially through the Manhattan Project) which demonstrated the strategic value of scientific research and triggered the rise of large-scale, government-funded science programs in its aftermath. Governments began to heavily invest in research and development (eg in areas like physics, medicine, and space exploration) seen as essential for national progress, innovation, and public good. This led to the development of major funding agencies like the NSF (USA), ERC (EU), and others.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This ushered in what some call the "Golden Age of Science", characterized by unprecedented funding levels, the expansion of universities, and a boom in scientific output. Yet despite this public investment, the dissemination of research increasingly became privatized.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During this time, commercial academic publishers began to consolidate power.</a:t>
            </a:r>
            <a:r>
              <a:rPr b="1" lang="en-US" sz="1000">
                <a:solidFill>
                  <a:schemeClr val="dk1"/>
                </a:solidFill>
                <a:latin typeface="Lora"/>
                <a:ea typeface="Lora"/>
                <a:cs typeface="Lora"/>
                <a:sym typeface="Lora"/>
              </a:rPr>
              <a:t> Scientific journals, which had previously been run by scientific societies or universities, were increasingly managed by for-profit publishers.</a:t>
            </a:r>
            <a:r>
              <a:rPr lang="en-US" sz="1000">
                <a:solidFill>
                  <a:schemeClr val="dk1"/>
                </a:solidFill>
                <a:latin typeface="Lora"/>
                <a:ea typeface="Lora"/>
                <a:cs typeface="Lora"/>
                <a:sym typeface="Lora"/>
              </a:rPr>
              <a:t> The model shifted: researchers submitted work for free (often giving up copyright), peer-reviewed for free, and readers, or more often, their institutions, had to pay increasing subscription fees to access the work. This model resulted in what many consider a fundamental contradiction: taxpayer-funded research locked behind expensive paywalls.</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The imbalance sparked early criticism. </a:t>
            </a:r>
            <a:r>
              <a:rPr b="1" lang="en-US" sz="1000">
                <a:solidFill>
                  <a:schemeClr val="dk1"/>
                </a:solidFill>
                <a:latin typeface="Lora"/>
                <a:ea typeface="Lora"/>
                <a:cs typeface="Lora"/>
                <a:sym typeface="Lora"/>
              </a:rPr>
              <a:t>The idea that public knowledge was being commodified clashed with the Mertonian ideals that were still taught as the ethical foundation of science. </a:t>
            </a:r>
            <a:r>
              <a:rPr lang="en-US" sz="1000">
                <a:solidFill>
                  <a:schemeClr val="dk1"/>
                </a:solidFill>
                <a:latin typeface="Lora"/>
                <a:ea typeface="Lora"/>
                <a:cs typeface="Lora"/>
                <a:sym typeface="Lora"/>
              </a:rPr>
              <a:t>Moreover, as the Cold War intensified, so did global scientific competition, which led to increasing pressures on researchers to publish more ("publish or perish") and protect their data, often at the expense of collaboration.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Yet seeds of resistance were also planted during this time. The development of early computing and the internet in the latter half of the century began to inspire new ways of thinking about knowledge sharing. </a:t>
            </a:r>
            <a:r>
              <a:rPr b="1" lang="en-US" sz="1000">
                <a:solidFill>
                  <a:schemeClr val="dk1"/>
                </a:solidFill>
                <a:latin typeface="Lora"/>
                <a:ea typeface="Lora"/>
                <a:cs typeface="Lora"/>
                <a:sym typeface="Lora"/>
              </a:rPr>
              <a:t>By the end of the 1980s, conversations about digital repositories, preprints, and open access models were beginning to take shape.</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The national union catalogue Libris was introduced in 1972. This marked the beginning of the digitisation of Swedish libraries. These early digital infrastructures anticipated the broader move toward accessible digital scholarship.</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Public funders like the Swedish Research Council (Vetenskapsrådet) and Riksbankens Jubileumsfond began developing policies promoting the dissemination of publicly funded research, although not yet formalized as Open Access.</a:t>
            </a:r>
            <a:endParaRPr sz="1000">
              <a:solidFill>
                <a:schemeClr val="dk1"/>
              </a:solidFill>
              <a:latin typeface="Lora"/>
              <a:ea typeface="Lora"/>
              <a:cs typeface="Lora"/>
              <a:sym typeface="Lora"/>
            </a:endParaRPr>
          </a:p>
        </p:txBody>
      </p:sp>
      <p:sp>
        <p:nvSpPr>
          <p:cNvPr id="628" name="Google Shape;628;g34d1cf5dcd5_0_1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4fce246725_0_1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34fce246725_0_15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1990s marked a turning point for science communication, driven by the rapid development of the internet and digital publishing. </a:t>
            </a:r>
            <a:r>
              <a:rPr b="1" lang="en-US" sz="1000">
                <a:solidFill>
                  <a:schemeClr val="dk1"/>
                </a:solidFill>
                <a:latin typeface="Lora"/>
                <a:ea typeface="Lora"/>
                <a:cs typeface="Lora"/>
                <a:sym typeface="Lora"/>
              </a:rPr>
              <a:t>Researchers began exploring new ways to disseminate findings outside the traditional, subscription-based journal system</a:t>
            </a:r>
            <a:r>
              <a:rPr lang="en-US" sz="1000">
                <a:solidFill>
                  <a:schemeClr val="dk1"/>
                </a:solidFill>
                <a:latin typeface="Lora"/>
                <a:ea typeface="Lora"/>
                <a:cs typeface="Lora"/>
                <a:sym typeface="Lora"/>
              </a:rPr>
              <a:t>, </a:t>
            </a:r>
            <a:r>
              <a:rPr lang="en-US" sz="1000">
                <a:solidFill>
                  <a:schemeClr val="dk1"/>
                </a:solidFill>
                <a:latin typeface="Lora"/>
                <a:ea typeface="Lora"/>
                <a:cs typeface="Lora"/>
                <a:sym typeface="Lora"/>
              </a:rPr>
              <a:t>ushering in what would soon become the Open Access movement.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A key milestone came in 1991, with the launch of arXiv, an online preprint server for physics </a:t>
            </a:r>
            <a:r>
              <a:rPr lang="en-US" sz="1000">
                <a:solidFill>
                  <a:schemeClr val="dk1"/>
                </a:solidFill>
                <a:latin typeface="Lora"/>
                <a:ea typeface="Lora"/>
                <a:cs typeface="Lora"/>
                <a:sym typeface="Lora"/>
              </a:rPr>
              <a:t>(later expanding to other fields like mathematics and computer science). Created by Paul Ginsparg, arXiv allowed researchers to share their work immediately and freely, without waiting months for peer review and journal publication. This model empowered the scientific community to take back control over access and speed, encouraging a culture of openness and rapid dissemination.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Meanwhile, dissatisfaction with the high costs of journal subscriptions (often termed the “serials crisis”) intensified. Libraries, especially in public institutions and the Global South, struggled to afford journal packages from major commercial publishers. Despite the increasing digitization of publishing, paywalls remained the norm, and the gap widened between the ideals of public knowledge and the reality of restricted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In response, a wave of activism and experimentation began. Open-access journals like the Journal of Medical Internet Research (founded in 1999) and BioMed Central (launched in 2000) demonstrated alternative publishing models where authors (or funders) paid for publication, but readers could access content freely. </a:t>
            </a:r>
            <a:r>
              <a:rPr lang="en-US" sz="1000">
                <a:solidFill>
                  <a:schemeClr val="dk1"/>
                </a:solidFill>
                <a:latin typeface="Lora"/>
                <a:ea typeface="Lora"/>
                <a:cs typeface="Lora"/>
                <a:sym typeface="Lora"/>
              </a:rPr>
              <a:t>These pioneers helped set the stage for the formalization of Open Access principles in the following decade.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By the end of the 1990s, it became increasingly clear that the technology to democratize science existed, what was needed next was coordinated action, infrastructure, and cultural change. This set the stage for the 2002 Budapest Open Access Initiative, a defining moment in the Open Access movement.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688" name="Google Shape;688;g34fce246725_0_15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4fce246725_0_16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34fce246725_0_16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a:t>
            </a:r>
            <a:r>
              <a:rPr lang="en-US" sz="1000">
                <a:solidFill>
                  <a:schemeClr val="dk1"/>
                </a:solidFill>
                <a:latin typeface="Lora"/>
                <a:ea typeface="Lora"/>
                <a:cs typeface="Lora"/>
                <a:sym typeface="Lora"/>
              </a:rPr>
              <a:t>e 2000s marked a decade of transformation, where the vision of open and equitable access to research gained formal definition, institutional backing, and grassroots momentum.</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 defining moment came in 2002 with the </a:t>
            </a:r>
            <a:r>
              <a:rPr b="1" lang="en-US" sz="1000">
                <a:solidFill>
                  <a:schemeClr val="dk1"/>
                </a:solidFill>
                <a:latin typeface="Lora"/>
                <a:ea typeface="Lora"/>
                <a:cs typeface="Lora"/>
                <a:sym typeface="Lora"/>
              </a:rPr>
              <a:t>Budapest Open Access Initiative (BOAI)</a:t>
            </a:r>
            <a:r>
              <a:rPr lang="en-US" sz="1000">
                <a:solidFill>
                  <a:schemeClr val="dk1"/>
                </a:solidFill>
                <a:latin typeface="Lora"/>
                <a:ea typeface="Lora"/>
                <a:cs typeface="Lora"/>
                <a:sym typeface="Lora"/>
              </a:rPr>
              <a:t>, which coined the term "Open Access" in its modern sense. Funded by the Open Society Foundations, the BOAI called for free and unrestricted online access to scholarly literature. It proposed two primary strategies: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US" sz="1000">
                <a:solidFill>
                  <a:schemeClr val="dk1"/>
                </a:solidFill>
                <a:latin typeface="Lora"/>
                <a:ea typeface="Lora"/>
                <a:cs typeface="Lora"/>
                <a:sym typeface="Lora"/>
              </a:rPr>
              <a:t>Self-archiving (green open access)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US" sz="1000">
                <a:solidFill>
                  <a:schemeClr val="dk1"/>
                </a:solidFill>
                <a:latin typeface="Lora"/>
                <a:ea typeface="Lora"/>
                <a:cs typeface="Lora"/>
                <a:sym typeface="Lora"/>
              </a:rPr>
              <a:t>Open-access journals (gold open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was quickly followed by the </a:t>
            </a:r>
            <a:r>
              <a:rPr b="1" lang="en-US" sz="1000">
                <a:solidFill>
                  <a:schemeClr val="dk1"/>
                </a:solidFill>
                <a:latin typeface="Lora"/>
                <a:ea typeface="Lora"/>
                <a:cs typeface="Lora"/>
                <a:sym typeface="Lora"/>
              </a:rPr>
              <a:t>Bethesda Statement (2003)</a:t>
            </a:r>
            <a:r>
              <a:rPr lang="en-US" sz="1000">
                <a:solidFill>
                  <a:schemeClr val="dk1"/>
                </a:solidFill>
                <a:latin typeface="Lora"/>
                <a:ea typeface="Lora"/>
                <a:cs typeface="Lora"/>
                <a:sym typeface="Lora"/>
              </a:rPr>
              <a:t> and the </a:t>
            </a:r>
            <a:r>
              <a:rPr b="1" lang="en-US" sz="1000">
                <a:solidFill>
                  <a:schemeClr val="dk1"/>
                </a:solidFill>
                <a:latin typeface="Lora"/>
                <a:ea typeface="Lora"/>
                <a:cs typeface="Lora"/>
                <a:sym typeface="Lora"/>
              </a:rPr>
              <a:t>Berlin Declaration (2003)</a:t>
            </a:r>
            <a:r>
              <a:rPr lang="en-US" sz="1000">
                <a:solidFill>
                  <a:schemeClr val="dk1"/>
                </a:solidFill>
                <a:latin typeface="Lora"/>
                <a:ea typeface="Lora"/>
                <a:cs typeface="Lora"/>
                <a:sym typeface="Lora"/>
              </a:rPr>
              <a:t>, both of which solidified Open Access principles and drew support from major research institutions and funding bodies worldwide.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At the same time, new open access publishers emerged. </a:t>
            </a:r>
            <a:r>
              <a:rPr b="1" lang="en-US" sz="1000">
                <a:solidFill>
                  <a:schemeClr val="dk1"/>
                </a:solidFill>
                <a:latin typeface="Lora"/>
                <a:ea typeface="Lora"/>
                <a:cs typeface="Lora"/>
                <a:sym typeface="Lora"/>
              </a:rPr>
              <a:t>Public Library of Science (PLOS),</a:t>
            </a:r>
            <a:r>
              <a:rPr lang="en-US" sz="1000">
                <a:solidFill>
                  <a:schemeClr val="dk1"/>
                </a:solidFill>
                <a:latin typeface="Lora"/>
                <a:ea typeface="Lora"/>
                <a:cs typeface="Lora"/>
                <a:sym typeface="Lora"/>
              </a:rPr>
              <a:t> founded in 2001 and launching its first journal in 2003, was a game-changer, combining rigorous pe</a:t>
            </a:r>
            <a:r>
              <a:rPr lang="en-US" sz="1000">
                <a:solidFill>
                  <a:schemeClr val="dk1"/>
                </a:solidFill>
                <a:latin typeface="Lora"/>
                <a:ea typeface="Lora"/>
                <a:cs typeface="Lora"/>
                <a:sym typeface="Lora"/>
              </a:rPr>
              <a:t>er review with fully open access content. PLOS helped legitimize open-access publishing and demonstrated that quality and openness could coexist.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 parallel, institutional repositories like </a:t>
            </a:r>
            <a:r>
              <a:rPr b="1" lang="en-US" sz="1000">
                <a:solidFill>
                  <a:schemeClr val="dk1"/>
                </a:solidFill>
                <a:latin typeface="Lora"/>
                <a:ea typeface="Lora"/>
                <a:cs typeface="Lora"/>
                <a:sym typeface="Lora"/>
              </a:rPr>
              <a:t>PubMed Central (launched in 2000) </a:t>
            </a:r>
            <a:r>
              <a:rPr lang="en-US" sz="1000">
                <a:solidFill>
                  <a:schemeClr val="dk1"/>
                </a:solidFill>
                <a:latin typeface="Lora"/>
                <a:ea typeface="Lora"/>
                <a:cs typeface="Lora"/>
                <a:sym typeface="Lora"/>
              </a:rPr>
              <a:t>offered centralized, free access to biomedical research. Universities began creating their own open repositories to house the work of their scholars, and mandates started emerging that required researchers to deposit their papers.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However, tensions were rising.</a:t>
            </a:r>
            <a:r>
              <a:rPr b="1" lang="en-US" sz="1000">
                <a:solidFill>
                  <a:schemeClr val="dk1"/>
                </a:solidFill>
                <a:latin typeface="Lora"/>
                <a:ea typeface="Lora"/>
                <a:cs typeface="Lora"/>
                <a:sym typeface="Lora"/>
              </a:rPr>
              <a:t> Commercial publishers pushed back, raising concerns about sustainability, peer review, and prestige</a:t>
            </a:r>
            <a:r>
              <a:rPr lang="en-US" sz="1000">
                <a:solidFill>
                  <a:schemeClr val="dk1"/>
                </a:solidFill>
                <a:latin typeface="Lora"/>
                <a:ea typeface="Lora"/>
                <a:cs typeface="Lora"/>
                <a:sym typeface="Lora"/>
              </a:rPr>
              <a:t>. Open Access advocates responded with new tools and metrics to challenge traditional journal hierarchies, sowing the seeds for the later push for reform in academic evaluation systems.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Meanwhile, the </a:t>
            </a:r>
            <a:r>
              <a:rPr b="1" lang="en-US" sz="1000">
                <a:solidFill>
                  <a:schemeClr val="dk1"/>
                </a:solidFill>
                <a:latin typeface="Lora"/>
                <a:ea typeface="Lora"/>
                <a:cs typeface="Lora"/>
                <a:sym typeface="Lora"/>
              </a:rPr>
              <a:t>Creative Commons licens</a:t>
            </a:r>
            <a:r>
              <a:rPr lang="en-US" sz="1000">
                <a:solidFill>
                  <a:schemeClr val="dk1"/>
                </a:solidFill>
                <a:latin typeface="Lora"/>
                <a:ea typeface="Lora"/>
                <a:cs typeface="Lora"/>
                <a:sym typeface="Lora"/>
              </a:rPr>
              <a:t>e was introduced in 2002, providing a legal framework to clearly signal how others could reuse scholarly work, a cornerstone of Open Science. </a:t>
            </a:r>
            <a:r>
              <a:rPr lang="en-US" sz="1000">
                <a:solidFill>
                  <a:schemeClr val="dk1"/>
                </a:solidFill>
                <a:latin typeface="Lora"/>
                <a:ea typeface="Lora"/>
                <a:cs typeface="Lora"/>
                <a:sym typeface="Lora"/>
              </a:rPr>
              <a:t>The idea of open access to scientific publications quickly became inseparable from the question of free licenses to guarantee the right to disseminate and possibly modify shared documents, such as the </a:t>
            </a:r>
            <a:r>
              <a:rPr lang="en-US" sz="1000">
                <a:solidFill>
                  <a:schemeClr val="dk1"/>
                </a:solidFill>
                <a:uFill>
                  <a:noFill/>
                </a:uFill>
                <a:latin typeface="Lora"/>
                <a:ea typeface="Lora"/>
                <a:cs typeface="Lora"/>
                <a:sym typeface="Lora"/>
                <a:hlinkClick r:id="rId2">
                  <a:extLst>
                    <a:ext uri="{A12FA001-AC4F-418D-AE19-62706E023703}">
                      <ahyp:hlinkClr val="tx"/>
                    </a:ext>
                  </a:extLst>
                </a:hlinkClick>
              </a:rPr>
              <a:t>Creative Commons</a:t>
            </a:r>
            <a:r>
              <a:rPr lang="en-US" sz="1000">
                <a:solidFill>
                  <a:schemeClr val="dk1"/>
                </a:solidFill>
                <a:latin typeface="Lora"/>
                <a:ea typeface="Lora"/>
                <a:cs typeface="Lora"/>
                <a:sym typeface="Lora"/>
              </a:rPr>
              <a:t> licenses, created in 2002. In 2011, a new text from the Budapest Open Initiative explicitly refers to the relevance of the CC-BY license to guarantee free dissemination and not only free access to a scientific document.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This decade also saw the beginnings of</a:t>
            </a:r>
            <a:r>
              <a:rPr b="1" lang="en-US" sz="1000">
                <a:solidFill>
                  <a:schemeClr val="dk1"/>
                </a:solidFill>
                <a:latin typeface="Lora"/>
                <a:ea typeface="Lora"/>
                <a:cs typeface="Lora"/>
                <a:sym typeface="Lora"/>
              </a:rPr>
              <a:t> open data and open educational resources (OER)</a:t>
            </a:r>
            <a:r>
              <a:rPr lang="en-US" sz="1000">
                <a:solidFill>
                  <a:schemeClr val="dk1"/>
                </a:solidFill>
                <a:latin typeface="Lora"/>
                <a:ea typeface="Lora"/>
                <a:cs typeface="Lora"/>
                <a:sym typeface="Lora"/>
              </a:rPr>
              <a:t> movements, </a:t>
            </a:r>
            <a:r>
              <a:rPr b="1" lang="en-US" sz="1000">
                <a:solidFill>
                  <a:schemeClr val="dk1"/>
                </a:solidFill>
                <a:latin typeface="Lora"/>
                <a:ea typeface="Lora"/>
                <a:cs typeface="Lora"/>
                <a:sym typeface="Lora"/>
              </a:rPr>
              <a:t>which expanded the concept of openness beyond just articles.</a:t>
            </a:r>
            <a:endParaRPr b="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By the end of the decade, Open Access had gone from niche idea to a global norm-in-the-making, gaining recognition among funders (like the NIH), universities, and early adopter scientists. Yet challenges remained: entrenched academic reward systems still prioritized prestige journals, and paywalls were far from gone.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Swedish context: </a:t>
            </a:r>
            <a:endParaRPr sz="1000">
              <a:solidFill>
                <a:schemeClr val="dk1"/>
              </a:solidFill>
              <a:latin typeface="Lora"/>
              <a:ea typeface="Lora"/>
              <a:cs typeface="Lora"/>
              <a:sym typeface="Lora"/>
            </a:endParaRPr>
          </a:p>
          <a:p>
            <a:pPr indent="-285750" lvl="0" marL="457200" rtl="0" algn="l">
              <a:lnSpc>
                <a:spcPct val="100000"/>
              </a:lnSpc>
              <a:spcBef>
                <a:spcPts val="0"/>
              </a:spcBef>
              <a:spcAft>
                <a:spcPts val="0"/>
              </a:spcAft>
              <a:buClr>
                <a:schemeClr val="dk1"/>
              </a:buClr>
              <a:buSzPts val="900"/>
              <a:buFont typeface="Lora"/>
              <a:buChar char="-"/>
            </a:pPr>
            <a:r>
              <a:rPr lang="en-US" sz="1000">
                <a:solidFill>
                  <a:schemeClr val="dk1"/>
                </a:solidFill>
                <a:latin typeface="Lora"/>
                <a:ea typeface="Lora"/>
                <a:cs typeface="Lora"/>
                <a:sym typeface="Lora"/>
              </a:rPr>
              <a:t>The SUHF was among the early signatories of the Berlin Declaration on Open Access to Knowledge in the Sciences and Humanities (2004),  a major milestone aligning Sweden with global Open Access principles.</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Swedish National Library developed SwePub (2009), a centralized database for collecting publication metadata from Swedish universities. It became a key tool for monitoring research output and supporting Open Access tracking.</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Universities like Uppsala University, Lund, and Karolinska Institutet launched institutional repositories, encouraging researchers to archive their publications.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Some universities began to adopt internal Open Access mandates, or at least encouragements, anticipating the national policies that would emerge later.</a:t>
            </a:r>
            <a:endParaRPr sz="1000">
              <a:solidFill>
                <a:schemeClr val="dk1"/>
              </a:solidFill>
              <a:latin typeface="Lora"/>
              <a:ea typeface="Lora"/>
              <a:cs typeface="Lora"/>
              <a:sym typeface="Lora"/>
            </a:endParaRPr>
          </a:p>
          <a:p>
            <a:pPr indent="-292100" lvl="0" marL="457200" rtl="0" algn="l">
              <a:lnSpc>
                <a:spcPct val="100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National Library of Sweden was given responsibility for coordinating Open Access efforts nationally, including tracking OA policies, publication output, and negotiating with publishers.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Sweden began participating in EU Framework Programmes (FP6, FP7) which increasingly promoted open access to research results, both data and publications.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Swedish ELIXIR Node was formed toward the end of this period, preparing to take a more structured approach to data openness and training in life sciences.</a:t>
            </a:r>
            <a:endParaRPr sz="1000">
              <a:solidFill>
                <a:schemeClr val="dk1"/>
              </a:solidFill>
              <a:latin typeface="Lora"/>
              <a:ea typeface="Lora"/>
              <a:cs typeface="Lora"/>
              <a:sym typeface="Lora"/>
            </a:endParaRPr>
          </a:p>
        </p:txBody>
      </p:sp>
      <p:sp>
        <p:nvSpPr>
          <p:cNvPr id="748" name="Google Shape;748;g34fce246725_0_16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4fce246725_0_17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g34fce246725_0_17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2010s were a defining decade where Open Science expanded far beyond open access publishing, evolving into a comprehensive movement encompassing open data, open software, reproducibility, transparency, and research integrity. It was no longer just about access, it was about reimagining how science is done and shared.</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Major Policy Pushes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In 2013, the White House Office of Science and Technology Policy (OSTP) directed U.S. federal agencies to make publicly funded research publicly available — a watershed moment that inspired similar actions globally.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European Commission followed suit with open access mandates under Horizon 2020, the EU’s flagship funding program.</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Most notably, in 2018, Plan S was launched by cOAlition S, a group of major funders. Plan S mandated that all research funded by its members be published in compliant open access journals or platforms by 2021. This marked a bold shift in policy enforcement around Open Access.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FAIR Principles and Research Data</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FAIR data principles (Findable, Accessible, Interoperable, Reusable) were introduced in 2016 to guide proper management of scientific data. This put open data squarely on the policy agenda, recognizing that publications alone were not enough — the underlying data had to be reusable and well-described.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Funders and institutions began requiring data management plans (DMPs), and infrastructures like Zenodo, Figshare, and Dryad made data sharing more feasible.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 Rise of Preprints and Alternative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use of preprint servers exploded. While arXiv had been around since the 1990s, the 2010s saw the emergence of bioRxiv (2013) and medRxiv (2019), enabling life sciences and medical researchers to share findings before peer review.</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This challenged the traditional journal model, emphasizing speed, openness, and public engagement.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Open Educational Resources (OER) and Citizen Science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Universities and research infrastructures began embracing OER, especially as MOOCs (Massive Open Online Courses) grew. Platforms like Coursera and edX democratized access to knowledge.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Citizen science flourished through projects like Zooniverse, encouraging public participation in research and pushing scientists to communicate more openly and inclusively.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Infrastructure and Cultural Change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Tools like GitHub, Jupyter Notebooks, Open Science Framework (OSF), and Binder allowed researchers to collaborate openly, share code, and ensure reproducibility.</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Metrics also began to shift. Altmetrics emerged as an alternative to journal impact factors, reflecting how often a work was shared, tweeted, or mentioned — not just cited.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Nonetheless, structural issues remained: academic reward systems still often favored closed, high-prestige journals, and many researchers faced “publish or perish” pressure that conflicted with open values.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By the end of the decade, Open Science was no longer fringe — it was a growing global movement backed by funders, governments, universities, and scientists. But the path toward full adoption remained rocky, as incentives, infrastructure, and cultural change had yet to fully align.</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In 2021, the Swedish Government adopted a national goal that all data resulting from publicly funded research should be openly accessible by 2026. This commitment was coordinated by the Swedish Research Council (Vetenskapsrådet) and supported by other major funders like Forte and Formas.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The Swedish Research Council also began requiring data management plans for funded projects, pushing FAIR principles forward.</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SND (founded 2008 on initiative of VR) played a critical role in supporting FAIR data management and providing infrastructure for data sharing across disciplines.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SciLifeLab, Sweden's national center for molecular biosciences, began championing open training materials, data sharing, and reproducible research practices. Its Training Hub actively promotes the FAIRification of educational resources and supports researchers in building open and reproducible workflows.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SUNET, the Swedish University Network, continued to support digital infrastructure for open access repositories and platforms.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Swedish funders were among the early adopters of Plan S, aligning with cOAlition S and committing to ensuring that research funded by public money would be openly accessible. This was a significant policy move that pushed universities and researchers to re-evaluate their publishing strategies.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Sweden was one of the first countries to take a stand in “read and publish” negotiations with big publishers. In 2018, Swedish universities, coordinated by Bibsam (the National Library of Sweden consortium), cancelled their agreement with Elsevier due to a lack of progress toward open access and unsustainable pricing models.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Char char="-"/>
            </a:pPr>
            <a:r>
              <a:rPr lang="en-US" sz="1000">
                <a:solidFill>
                  <a:schemeClr val="dk1"/>
                </a:solidFill>
                <a:latin typeface="Lora"/>
                <a:ea typeface="Lora"/>
                <a:cs typeface="Lora"/>
                <a:sym typeface="Lora"/>
              </a:rPr>
              <a:t>This bold move gained international attention and contributed to the broader conversation around transformative agreements and the cost of access to publicly funded research.</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808" name="Google Shape;808;g34fce246725_0_17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501d60e36d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g3501d60e36d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The 2020s marked a dramatic turning point for Open Science. Spurred by a global health crisis, coordinated international policy, and increasing scrutiny of commercial publishing, Open Science evolved from a grassroots movement to a policy-driven imperative.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UNESCO’s historic Open Science Recommendation (2021) formally defined Open Science and set standards for member states to promote: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Equitable access to scientific knowledge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Inclusive participation in the research process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FAIR and open research infrastructures’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b="1" lang="en-US" sz="1000">
                <a:solidFill>
                  <a:schemeClr val="dk1"/>
                </a:solidFill>
                <a:latin typeface="Lora"/>
                <a:ea typeface="Lora"/>
                <a:cs typeface="Lora"/>
                <a:sym typeface="Lora"/>
              </a:rPr>
              <a:t>This landmark was the first international policy instrument on Open Science, with over 190 countries committing to act.</a:t>
            </a:r>
            <a:endParaRPr b="1"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There's now growing momentum behind diamond open access, overlay journals, and community-owned platforms as alternatives to for-profit publishing.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Governments and funders (e.g., NIH, Horizon Europe, UKRI) are now embedding Open Science into funding requirements — from data management plans to Open Access mandates and recognition of non-traditional research outputs (like code and datasets).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At the institutional level, Open Science is being woven into research assessment, training, and infrastructure development — especially through global alliances like Coalition S, Research Data Alliance, and OpenAIRE.</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CoARA — the Coalition for Advancing Research Assessment — was officially launched in December 2022.</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Swedish context:</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 Sweden strongly supports the UNESCO Recommendation on Open Science. The Swedish Research Council (Vetenskapsrådet) and other national bodies have publicly endorsed these principles and are aligning funding policies and infrastructure accordingly.</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2. During the COVID-19 pandemic, SciLifeLab became a national leader in open and rapid data sharing, especially through initiatives like Sweden’s COVID-19 Data Portal, which provided real-time access to data, protocols, and research results. This was seen as a model for how research infrastructures can enable openness during a global crisis.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3. Sweden’s National Roadmap for Open Science (SUHF, 2022) lays out a plan for making all publicly funded research outputs openly available by 2026. It includes measures for: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FAIR data practices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Open educational resources (OER)</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Reproducible methods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Char char="●"/>
            </a:pPr>
            <a:r>
              <a:rPr lang="en-US" sz="1000">
                <a:solidFill>
                  <a:schemeClr val="dk1"/>
                </a:solidFill>
                <a:latin typeface="Lora"/>
                <a:ea typeface="Lora"/>
                <a:cs typeface="Lora"/>
                <a:sym typeface="Lora"/>
              </a:rPr>
              <a:t>Incentive structures and researcher recognition</a:t>
            </a:r>
            <a:endParaRPr sz="1000">
              <a:solidFill>
                <a:schemeClr val="dk1"/>
              </a:solidFill>
              <a:latin typeface="Lora"/>
              <a:ea typeface="Lora"/>
              <a:cs typeface="Lora"/>
              <a:sym typeface="Lora"/>
            </a:endParaRPr>
          </a:p>
          <a:p>
            <a:pPr indent="0" lvl="0" marL="45720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4. Swedish infrastructures like SciLifeLab, ELIXIR-SE, Sunet, and SND (Swedish National Data Service) have worked together to provide training, platforms, and support for FAIR and open research practices — not only within life sciences but across disciplines.</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5. Swedish universities are legally tasked with a "third mission": engaging with and contributing to society. Open Science is increasingly seen as a core vehicle for this, enabling citizen science, public engagement, and policy impact.</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868" name="Google Shape;868;g3501d60e36d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3798d99b92_0_4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g33798d99b92_0_4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Before we dive into what the research says about the pros and cons of Open Science, I want to hear from you. Take a moment and think about this question: </a:t>
            </a:r>
            <a:r>
              <a:rPr i="1" lang="en-US" sz="1000">
                <a:solidFill>
                  <a:schemeClr val="dk1"/>
                </a:solidFill>
                <a:latin typeface="Lora"/>
                <a:ea typeface="Lora"/>
                <a:cs typeface="Lora"/>
                <a:sym typeface="Lora"/>
              </a:rPr>
              <a:t>What’s one benefit of Open Science you’ve experienced or heard about? And what’s one potential drawback or challenge?</a:t>
            </a:r>
            <a:r>
              <a:rPr lang="en-US" sz="1000">
                <a:solidFill>
                  <a:schemeClr val="dk1"/>
                </a:solidFill>
                <a:latin typeface="Lora"/>
                <a:ea typeface="Lora"/>
                <a:cs typeface="Lora"/>
                <a:sym typeface="Lora"/>
              </a:rPr>
              <a:t> You can discuss your thoughts with a neighbor or in small groups for 2–3 minutes, then share your thoughts by writing down pros and cons on sticky notes.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Which benefits of Open Science have you experienced or heard about?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t/>
            </a:r>
            <a:endParaRPr sz="1000">
              <a:solidFill>
                <a:schemeClr val="dk1"/>
              </a:solidFill>
              <a:latin typeface="Lora"/>
              <a:ea typeface="Lora"/>
              <a:cs typeface="Lora"/>
              <a:sym typeface="Lora"/>
            </a:endParaRPr>
          </a:p>
          <a:p>
            <a:pPr indent="0" lvl="0" marL="0" rtl="0" algn="l">
              <a:spcBef>
                <a:spcPts val="0"/>
              </a:spcBef>
              <a:spcAft>
                <a:spcPts val="0"/>
              </a:spcAft>
              <a:buClr>
                <a:schemeClr val="dk1"/>
              </a:buClr>
              <a:buSzPts val="3700"/>
              <a:buFont typeface="Arial"/>
              <a:buNone/>
            </a:pPr>
            <a:r>
              <a:rPr lang="en-US" sz="1000">
                <a:solidFill>
                  <a:schemeClr val="dk1"/>
                </a:solidFill>
                <a:latin typeface="Lora"/>
                <a:ea typeface="Lora"/>
                <a:cs typeface="Lora"/>
                <a:sym typeface="Lora"/>
              </a:rPr>
              <a:t>And what are potential drawbacks or challenges?</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28" name="Google Shape;928;g33798d99b92_0_4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3798d99b92_0_4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33798d99b92_0_4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Collaboration</a:t>
            </a:r>
            <a:r>
              <a:rPr lang="en-US" sz="1000">
                <a:solidFill>
                  <a:srgbClr val="1B1B1B"/>
                </a:solidFill>
                <a:latin typeface="Lora"/>
                <a:ea typeface="Lora"/>
                <a:cs typeface="Lora"/>
                <a:sym typeface="Lora"/>
              </a:rPr>
              <a:t>: For open science to foster collaboration, we can benefit from using agreed upon data structures, vocabularies, and metadata standards that allow both researchers and machines to easily integrate various open datasets and analyze them (i.e., they would be interoperable). Genomics and molecular biology provide strong examples of this standardization and associated interoperability. The creation of large databases such as </a:t>
            </a:r>
            <a:r>
              <a:rPr lang="en-US" sz="1000" u="sng">
                <a:solidFill>
                  <a:srgbClr val="54278F"/>
                </a:solidFill>
                <a:latin typeface="Lora"/>
                <a:ea typeface="Lora"/>
                <a:cs typeface="Lora"/>
                <a:sym typeface="Lora"/>
                <a:hlinkClick r:id="rId2">
                  <a:extLst>
                    <a:ext uri="{A12FA001-AC4F-418D-AE19-62706E023703}">
                      <ahyp:hlinkClr val="tx"/>
                    </a:ext>
                  </a:extLst>
                </a:hlinkClick>
              </a:rPr>
              <a:t>GenBank</a:t>
            </a:r>
            <a:r>
              <a:rPr lang="en-US" sz="1000">
                <a:solidFill>
                  <a:srgbClr val="1B1B1B"/>
                </a:solidFill>
                <a:latin typeface="Lora"/>
                <a:ea typeface="Lora"/>
                <a:cs typeface="Lora"/>
                <a:sym typeface="Lora"/>
              </a:rPr>
              <a:t> and </a:t>
            </a:r>
            <a:r>
              <a:rPr lang="en-US" sz="1000" u="sng">
                <a:solidFill>
                  <a:srgbClr val="54278F"/>
                </a:solidFill>
                <a:latin typeface="Lora"/>
                <a:ea typeface="Lora"/>
                <a:cs typeface="Lora"/>
                <a:sym typeface="Lora"/>
                <a:hlinkClick r:id="rId3">
                  <a:extLst>
                    <a:ext uri="{A12FA001-AC4F-418D-AE19-62706E023703}">
                      <ahyp:hlinkClr val="tx"/>
                    </a:ext>
                  </a:extLst>
                </a:hlinkClick>
              </a:rPr>
              <a:t>UniProt</a:t>
            </a:r>
            <a:r>
              <a:rPr lang="en-US" sz="1000">
                <a:solidFill>
                  <a:srgbClr val="1B1B1B"/>
                </a:solidFill>
                <a:latin typeface="Lora"/>
                <a:ea typeface="Lora"/>
                <a:cs typeface="Lora"/>
                <a:sym typeface="Lora"/>
              </a:rPr>
              <a:t> have led to gene and protein sequence data being deposited in a common format. This standardization fueled a revolution in bioinformatics, allowing large-scale analysis at the touch of a button [</a:t>
            </a:r>
            <a:r>
              <a:rPr lang="en-US" sz="1000" u="sng">
                <a:solidFill>
                  <a:srgbClr val="54278F"/>
                </a:solidFill>
                <a:latin typeface="Lora"/>
                <a:ea typeface="Lora"/>
                <a:cs typeface="Lora"/>
                <a:sym typeface="Lora"/>
                <a:hlinkClick r:id="rId4">
                  <a:extLst>
                    <a:ext uri="{A12FA001-AC4F-418D-AE19-62706E023703}">
                      <ahyp:hlinkClr val="tx"/>
                    </a:ext>
                  </a:extLst>
                </a:hlinkClick>
              </a:rPr>
              <a:t>84</a:t>
            </a:r>
            <a:r>
              <a:rPr lang="en-US" sz="1000">
                <a:solidFill>
                  <a:srgbClr val="1B1B1B"/>
                </a:solidFill>
                <a:latin typeface="Lora"/>
                <a:ea typeface="Lora"/>
                <a:cs typeface="Lora"/>
                <a:sym typeface="Lora"/>
              </a:rPr>
              <a:t>–</a:t>
            </a:r>
            <a:r>
              <a:rPr lang="en-US" sz="1000" u="sng">
                <a:solidFill>
                  <a:srgbClr val="54278F"/>
                </a:solidFill>
                <a:latin typeface="Lora"/>
                <a:ea typeface="Lora"/>
                <a:cs typeface="Lora"/>
                <a:sym typeface="Lora"/>
                <a:hlinkClick r:id="rId5">
                  <a:extLst>
                    <a:ext uri="{A12FA001-AC4F-418D-AE19-62706E023703}">
                      <ahyp:hlinkClr val="tx"/>
                    </a:ext>
                  </a:extLst>
                </a:hlinkClick>
              </a:rPr>
              <a:t>87</a:t>
            </a:r>
            <a:r>
              <a:rPr lang="en-US" sz="1000">
                <a:solidFill>
                  <a:srgbClr val="1B1B1B"/>
                </a:solidFill>
                <a:latin typeface="Lora"/>
                <a:ea typeface="Lora"/>
                <a:cs typeface="Lora"/>
                <a:sym typeface="Lora"/>
              </a:rPr>
              <a:t>].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Collaboration takes time, coordination, and often requires infrastructure or support that isn’t always available—especially across borders or disciplines.</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Development of methodology:</a:t>
            </a:r>
            <a:r>
              <a:rPr lang="en-US" sz="1000">
                <a:solidFill>
                  <a:srgbClr val="1B1B1B"/>
                </a:solidFill>
                <a:latin typeface="Lora"/>
                <a:ea typeface="Lora"/>
                <a:cs typeface="Lora"/>
                <a:sym typeface="Lora"/>
              </a:rPr>
              <a:t> </a:t>
            </a:r>
            <a:r>
              <a:rPr lang="en-US" sz="1000">
                <a:solidFill>
                  <a:srgbClr val="1F1F1F"/>
                </a:solidFill>
                <a:latin typeface="Lora"/>
                <a:ea typeface="Lora"/>
                <a:cs typeface="Lora"/>
                <a:sym typeface="Lora"/>
              </a:rPr>
              <a:t>We argue that </a:t>
            </a:r>
            <a:r>
              <a:rPr b="1" lang="en-US" sz="1000">
                <a:solidFill>
                  <a:srgbClr val="1F1F1F"/>
                </a:solidFill>
                <a:latin typeface="Lora"/>
                <a:ea typeface="Lora"/>
                <a:cs typeface="Lora"/>
                <a:sym typeface="Lora"/>
              </a:rPr>
              <a:t>the disclosure of more, valuable R&amp;D work in quality scholarly publications and collaborations with academic partners positively affect firm innovation. </a:t>
            </a:r>
            <a:r>
              <a:rPr lang="en-US" sz="1000">
                <a:solidFill>
                  <a:srgbClr val="1F1F1F"/>
                </a:solidFill>
                <a:latin typeface="Lora"/>
                <a:ea typeface="Lora"/>
                <a:cs typeface="Lora"/>
                <a:sym typeface="Lora"/>
              </a:rPr>
              <a:t>We further hypothesize a differential effect of adopting open science strategies on the innovation type, b</a:t>
            </a:r>
            <a:r>
              <a:rPr b="1" lang="en-US" sz="1000">
                <a:solidFill>
                  <a:srgbClr val="1F1F1F"/>
                </a:solidFill>
                <a:latin typeface="Lora"/>
                <a:ea typeface="Lora"/>
                <a:cs typeface="Lora"/>
                <a:sym typeface="Lora"/>
              </a:rPr>
              <a:t>eing more pronounced for radical innovations than for incremental innovations</a:t>
            </a:r>
            <a:r>
              <a:rPr lang="en-US" sz="1000">
                <a:solidFill>
                  <a:srgbClr val="1F1F1F"/>
                </a:solidFill>
                <a:latin typeface="Lora"/>
                <a:ea typeface="Lora"/>
                <a:cs typeface="Lora"/>
                <a:sym typeface="Lora"/>
              </a:rPr>
              <a:t>.</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Sharing methods early or openly can lead to fear of being "scooped" or having work reused without credit (especially in competitive fields).</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rgbClr val="1B1B1B"/>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rgbClr val="1B1B1B"/>
                </a:solidFill>
                <a:latin typeface="Lora"/>
                <a:ea typeface="Lora"/>
                <a:cs typeface="Lora"/>
                <a:sym typeface="Lora"/>
              </a:rPr>
              <a:t>Impact</a:t>
            </a:r>
            <a:r>
              <a:rPr lang="en-US" sz="1000">
                <a:solidFill>
                  <a:srgbClr val="1B1B1B"/>
                </a:solidFill>
                <a:latin typeface="Lora"/>
                <a:ea typeface="Lora"/>
                <a:cs typeface="Lora"/>
                <a:sym typeface="Lora"/>
              </a:rPr>
              <a:t>: </a:t>
            </a:r>
            <a:r>
              <a:rPr lang="en-US" sz="1000">
                <a:solidFill>
                  <a:srgbClr val="222222"/>
                </a:solidFill>
                <a:latin typeface="Lora"/>
                <a:ea typeface="Lora"/>
                <a:cs typeface="Lora"/>
                <a:sym typeface="Lora"/>
              </a:rPr>
              <a:t>Open access also</a:t>
            </a:r>
            <a:r>
              <a:rPr b="1" lang="en-US" sz="1000">
                <a:solidFill>
                  <a:srgbClr val="222222"/>
                </a:solidFill>
                <a:latin typeface="Lora"/>
                <a:ea typeface="Lora"/>
                <a:cs typeface="Lora"/>
                <a:sym typeface="Lora"/>
              </a:rPr>
              <a:t> promotes greater visibility and impact for individual research</a:t>
            </a:r>
            <a:r>
              <a:rPr lang="en-US" sz="1000">
                <a:solidFill>
                  <a:srgbClr val="222222"/>
                </a:solidFill>
                <a:latin typeface="Lora"/>
                <a:ea typeface="Lora"/>
                <a:cs typeface="Lora"/>
                <a:sym typeface="Lora"/>
              </a:rPr>
              <a:t>ers. Studies have shown that open-access articles are cited more frequently than those published behind paywalls (Eysenbach, 2006, Gargouri et al., 2010; Teplitskiy et al., 2017). </a:t>
            </a:r>
            <a:endParaRPr sz="1000">
              <a:solidFill>
                <a:srgbClr val="222222"/>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Citation benefits vary by discipline, and open publishing may involve costly APCs (article processing charges) that not all researchers can afford.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000">
                <a:solidFill>
                  <a:srgbClr val="1F1F1F"/>
                </a:solidFill>
                <a:latin typeface="Lora"/>
                <a:ea typeface="Lora"/>
                <a:cs typeface="Lora"/>
                <a:sym typeface="Lora"/>
              </a:rPr>
              <a:t>Faster dissemination:</a:t>
            </a:r>
            <a:r>
              <a:rPr lang="en-US" sz="1000">
                <a:solidFill>
                  <a:srgbClr val="1F1F1F"/>
                </a:solidFill>
                <a:latin typeface="Lora"/>
                <a:ea typeface="Lora"/>
                <a:cs typeface="Lora"/>
                <a:sym typeface="Lora"/>
              </a:rPr>
              <a:t> </a:t>
            </a:r>
            <a:r>
              <a:rPr lang="en-US" sz="1000">
                <a:solidFill>
                  <a:srgbClr val="222222"/>
                </a:solidFill>
                <a:latin typeface="Lora"/>
                <a:ea typeface="Lora"/>
                <a:cs typeface="Lora"/>
                <a:sym typeface="Lora"/>
              </a:rPr>
              <a:t> Beyond, open access journals often have shorter publication times, allowing researchers to share their findings more quickly.</a:t>
            </a:r>
            <a:r>
              <a:rPr lang="en-US" sz="1000">
                <a:solidFill>
                  <a:srgbClr val="1F1F1F"/>
                </a:solidFill>
                <a:latin typeface="Lora"/>
                <a:ea typeface="Lora"/>
                <a:cs typeface="Lora"/>
                <a:sym typeface="Lora"/>
              </a:rPr>
              <a:t> </a:t>
            </a:r>
            <a:endParaRPr sz="1000">
              <a:solidFill>
                <a:srgbClr val="1F1F1F"/>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Speed can compromise quality control if peer review is bypassed or not rigorous (e.g. through preprints without community curation).</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000">
                <a:solidFill>
                  <a:srgbClr val="202020"/>
                </a:solidFill>
                <a:latin typeface="Lora"/>
                <a:ea typeface="Lora"/>
                <a:cs typeface="Lora"/>
                <a:sym typeface="Lora"/>
              </a:rPr>
              <a:t>Improved reproducibility</a:t>
            </a:r>
            <a:r>
              <a:rPr lang="en-US" sz="1000">
                <a:solidFill>
                  <a:srgbClr val="202020"/>
                </a:solidFill>
                <a:latin typeface="Lora"/>
                <a:ea typeface="Lora"/>
                <a:cs typeface="Lora"/>
                <a:sym typeface="Lora"/>
              </a:rPr>
              <a:t>: for many current scientific fields, claimed research findings may often be simply accurate measures of the prevailing bias. Bias can be reduced by study pre-registration</a:t>
            </a:r>
            <a:endParaRPr sz="1000">
              <a:solidFill>
                <a:srgbClr val="202020"/>
              </a:solidFill>
              <a:latin typeface="Lora"/>
              <a:ea typeface="Lora"/>
              <a:cs typeface="Lora"/>
              <a:sym typeface="Lora"/>
            </a:endParaRPr>
          </a:p>
          <a:p>
            <a:pPr indent="0" lvl="0" marL="0" rtl="0" algn="l">
              <a:lnSpc>
                <a:spcPct val="115000"/>
              </a:lnSpc>
              <a:spcBef>
                <a:spcPts val="0"/>
              </a:spcBef>
              <a:spcAft>
                <a:spcPts val="1200"/>
              </a:spcAft>
              <a:buSzPts val="1100"/>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Making data reusable takes extra time and effort (cleaning, documentation, licensing), often with little reward or recognition in traditional academic evaluation.</a:t>
            </a:r>
            <a:endParaRPr sz="1000">
              <a:latin typeface="Lora"/>
              <a:ea typeface="Lora"/>
              <a:cs typeface="Lora"/>
              <a:sym typeface="Lora"/>
            </a:endParaRPr>
          </a:p>
        </p:txBody>
      </p:sp>
      <p:sp>
        <p:nvSpPr>
          <p:cNvPr id="940" name="Google Shape;940;g33798d99b92_0_4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3798d99b92_0_5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g33798d99b92_0_5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Helps early-career researchers build visibility</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They may also be more vulnerable to misuse of open work or face uncertainty around norms for credit and authorship</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Aligns with funder and institutional mandates</a:t>
            </a:r>
            <a:endParaRPr b="1"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Mandates may feel burdensome if support (like repositories, data stewards) isn’t provided.</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Utilisation of public funding:</a:t>
            </a:r>
            <a:r>
              <a:rPr lang="en-US" sz="1000">
                <a:solidFill>
                  <a:schemeClr val="dk1"/>
                </a:solidFill>
                <a:latin typeface="Lora"/>
                <a:ea typeface="Lora"/>
                <a:cs typeface="Lora"/>
                <a:sym typeface="Lora"/>
              </a:rPr>
              <a:t> Taxpayer funded research should be available for all. Stockholms universitets centrala stöd för öppen tillgång administreras av universitetsbiblioteket. Biblioteket betalar dels för vetenskapliga artiklar publicerade inom förlagsavtal och dels för artiklar i helt öppet tillgängliga tidskrifter. Stockholms universitets kostnader för öppen tillgång 2023 är 28 903 123 kr. 2023 publicerades 90% av alla artiklar med en ”corresponding author” från SU med öppen tillgång.</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The burden of openness often falls on individual researchers or institutions without corresponding funding or infrastructure. This can result in increased workload, compliance pressure, and inequities between well-resourced and under-resourced researchers or countries.</a:t>
            </a:r>
            <a:endParaRPr sz="1000">
              <a:solidFill>
                <a:schemeClr val="dk1"/>
              </a:solidFill>
              <a:latin typeface="Lora"/>
              <a:ea typeface="Lora"/>
              <a:cs typeface="Lora"/>
              <a:sym typeface="Lora"/>
            </a:endParaRPr>
          </a:p>
          <a:p>
            <a:pPr indent="0" lvl="0" marL="0" rtl="0" algn="l">
              <a:lnSpc>
                <a:spcPct val="100000"/>
              </a:lnSpc>
              <a:spcBef>
                <a:spcPts val="400"/>
              </a:spcBef>
              <a:spcAft>
                <a:spcPts val="0"/>
              </a:spcAft>
              <a:buClr>
                <a:schemeClr val="dk1"/>
              </a:buClr>
              <a:buSzPts val="1100"/>
              <a:buFont typeface="Arial"/>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b="1" lang="en-US" sz="1000">
                <a:solidFill>
                  <a:schemeClr val="dk1"/>
                </a:solidFill>
                <a:latin typeface="Lora"/>
                <a:ea typeface="Lora"/>
                <a:cs typeface="Lora"/>
                <a:sym typeface="Lora"/>
              </a:rPr>
              <a:t>Increased public awareness and interest:</a:t>
            </a:r>
            <a:r>
              <a:rPr lang="en-US" sz="1000">
                <a:solidFill>
                  <a:schemeClr val="dk1"/>
                </a:solidFill>
                <a:latin typeface="Lora"/>
                <a:ea typeface="Lora"/>
                <a:cs typeface="Lora"/>
                <a:sym typeface="Lora"/>
              </a:rPr>
              <a:t> the vast majority provided evidence of the societal impact of Citizen Science (163 papers, 83.2% of OS type instances; </a:t>
            </a:r>
            <a:r>
              <a:rPr lang="en-US" sz="1000" u="sng">
                <a:solidFill>
                  <a:schemeClr val="dk1"/>
                </a:solidFill>
                <a:latin typeface="Lora"/>
                <a:ea typeface="Lora"/>
                <a:cs typeface="Lora"/>
                <a:sym typeface="Lora"/>
                <a:hlinkClick r:id="rId2">
                  <a:extLst>
                    <a:ext uri="{A12FA001-AC4F-418D-AE19-62706E023703}">
                      <ahyp:hlinkClr val="tx"/>
                    </a:ext>
                  </a:extLst>
                </a:hlinkClick>
              </a:rPr>
              <a:t>figure 2</a:t>
            </a:r>
            <a:r>
              <a:rPr lang="en-US" sz="1000">
                <a:solidFill>
                  <a:schemeClr val="dk1"/>
                </a:solidFill>
                <a:latin typeface="Lora"/>
                <a:ea typeface="Lora"/>
                <a:cs typeface="Lora"/>
                <a:sym typeface="Lora"/>
              </a:rPr>
              <a:t>), across a wide variety of types of societal impact (</a:t>
            </a:r>
            <a:r>
              <a:rPr lang="en-US" sz="1000" u="sng">
                <a:solidFill>
                  <a:schemeClr val="dk1"/>
                </a:solidFill>
                <a:latin typeface="Lora"/>
                <a:ea typeface="Lora"/>
                <a:cs typeface="Lora"/>
                <a:sym typeface="Lora"/>
                <a:hlinkClick r:id="rId3">
                  <a:extLst>
                    <a:ext uri="{A12FA001-AC4F-418D-AE19-62706E023703}">
                      <ahyp:hlinkClr val="tx"/>
                    </a:ext>
                  </a:extLst>
                </a:hlinkClick>
              </a:rPr>
              <a:t>figure 3</a:t>
            </a:r>
            <a:r>
              <a:rPr lang="en-US" sz="1000">
                <a:solidFill>
                  <a:schemeClr val="dk1"/>
                </a:solidFill>
                <a:latin typeface="Lora"/>
                <a:ea typeface="Lora"/>
                <a:cs typeface="Lora"/>
                <a:sym typeface="Lora"/>
              </a:rPr>
              <a:t>). Twenty-eight papers demonstrated the societal impact of OA, with impacts including public engagement with scientific literature, use in policy-making, and health-related outcomes. We identified three papers that speak to the impacts of OS in general and two that demonstrate the public health impacts of Open Code/Software.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Clr>
                <a:schemeClr val="dk1"/>
              </a:buClr>
              <a:buSzPts val="1100"/>
              <a:buFont typeface="Arial"/>
              <a:buNone/>
            </a:pPr>
            <a:r>
              <a:rPr lang="en-US" sz="1000">
                <a:solidFill>
                  <a:schemeClr val="dk1"/>
                </a:solidFill>
                <a:latin typeface="Lora"/>
                <a:ea typeface="Lora"/>
                <a:cs typeface="Lora"/>
                <a:sym typeface="Lora"/>
              </a:rPr>
              <a:t>Education and awareness (112 or 57.1% of papers) and climate and environment (96 or 49.0% of papers) were by far the most commonly evidenced types of impact within our data.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Clr>
                <a:schemeClr val="dk1"/>
              </a:buClr>
              <a:buSzPts val="1100"/>
              <a:buFont typeface="Arial"/>
              <a:buNone/>
            </a:pPr>
            <a:r>
              <a:rPr i="1" lang="en-US" sz="1000">
                <a:solidFill>
                  <a:schemeClr val="dk1"/>
                </a:solidFill>
                <a:latin typeface="Lora"/>
                <a:ea typeface="Lora"/>
                <a:cs typeface="Lora"/>
                <a:sym typeface="Lora"/>
              </a:rPr>
              <a:t>But:</a:t>
            </a:r>
            <a:r>
              <a:rPr lang="en-US" sz="1000">
                <a:solidFill>
                  <a:schemeClr val="dk1"/>
                </a:solidFill>
                <a:latin typeface="Lora"/>
                <a:ea typeface="Lora"/>
                <a:cs typeface="Lora"/>
                <a:sym typeface="Lora"/>
              </a:rPr>
              <a:t> Open data can be misinterpreted or misused by non-experts or bad actors.</a:t>
            </a:r>
            <a:endParaRPr sz="1000">
              <a:solidFill>
                <a:srgbClr val="1B1B1B"/>
              </a:solidFill>
              <a:latin typeface="Lora"/>
              <a:ea typeface="Lora"/>
              <a:cs typeface="Lora"/>
              <a:sym typeface="Lora"/>
            </a:endParaRPr>
          </a:p>
        </p:txBody>
      </p:sp>
      <p:sp>
        <p:nvSpPr>
          <p:cNvPr id="952" name="Google Shape;952;g33798d99b92_0_5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383ddfd3c8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3" name="Google Shape;963;g3383ddfd3c8_0_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a:t>
            </a:r>
            <a:r>
              <a:rPr lang="en-US" sz="1000">
                <a:solidFill>
                  <a:schemeClr val="dk1"/>
                </a:solidFill>
                <a:latin typeface="Lora"/>
                <a:ea typeface="Lora"/>
                <a:cs typeface="Lora"/>
                <a:sym typeface="Lora"/>
              </a:rPr>
              <a:t>walk</a:t>
            </a:r>
            <a:r>
              <a:rPr lang="en-US" sz="1000">
                <a:solidFill>
                  <a:schemeClr val="dk1"/>
                </a:solidFill>
                <a:latin typeface="Lora"/>
                <a:ea typeface="Lora"/>
                <a:cs typeface="Lora"/>
                <a:sym typeface="Lora"/>
              </a:rPr>
              <a:t>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64" name="Google Shape;964;g3383ddfd3c8_0_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9a8b25a85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6" name="Google Shape;996;g39a8b25a857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997" name="Google Shape;997;g39a8b25a857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9a8b25a857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0" name="Google Shape;1030;g39a8b25a857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1031" name="Google Shape;1031;g39a8b25a857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9a8b25a857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9a8b25a857_0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100"/>
              <a:buNone/>
            </a:pPr>
            <a:r>
              <a:rPr lang="en-US" sz="1000">
                <a:solidFill>
                  <a:schemeClr val="dk1"/>
                </a:solidFill>
                <a:latin typeface="Lora"/>
                <a:ea typeface="Lora"/>
                <a:cs typeface="Lora"/>
                <a:sym typeface="Lora"/>
              </a:rPr>
              <a:t>15min exercise: Students walk around the room and go and stand with the part of the research project flow that they feel answers the question best: </a:t>
            </a:r>
            <a:endParaRPr sz="1000">
              <a:solidFill>
                <a:schemeClr val="dk1"/>
              </a:solidFill>
              <a:latin typeface="Lora"/>
              <a:ea typeface="Lora"/>
              <a:cs typeface="Lora"/>
              <a:sym typeface="Lora"/>
            </a:endParaRPr>
          </a:p>
          <a:p>
            <a:pPr indent="0" lvl="0" marL="0" rtl="0" algn="l">
              <a:lnSpc>
                <a:spcPct val="115000"/>
              </a:lnSpc>
              <a:spcBef>
                <a:spcPts val="0"/>
              </a:spcBef>
              <a:spcAft>
                <a:spcPts val="0"/>
              </a:spcAft>
              <a:buSzPts val="1100"/>
              <a:buNone/>
            </a:pPr>
            <a:r>
              <a:t/>
            </a:r>
            <a:endParaRPr sz="1000">
              <a:solidFill>
                <a:schemeClr val="dk1"/>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000">
              <a:solidFill>
                <a:schemeClr val="dk1"/>
              </a:solidFill>
              <a:latin typeface="Lora"/>
              <a:ea typeface="Lora"/>
              <a:cs typeface="Lora"/>
              <a:sym typeface="Lora"/>
            </a:endParaRPr>
          </a:p>
        </p:txBody>
      </p:sp>
      <p:sp>
        <p:nvSpPr>
          <p:cNvPr id="1065" name="Google Shape;1065;g39a8b25a857_0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3dabb4e0c24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3dabb4e0c24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100"/>
              <a:buNone/>
            </a:pPr>
            <a:r>
              <a:t/>
            </a:r>
            <a:endParaRPr sz="1000">
              <a:solidFill>
                <a:schemeClr val="dk1"/>
              </a:solidFill>
              <a:latin typeface="Lora"/>
              <a:ea typeface="Lora"/>
              <a:cs typeface="Lora"/>
              <a:sym typeface="Lora"/>
            </a:endParaRPr>
          </a:p>
        </p:txBody>
      </p:sp>
      <p:sp>
        <p:nvSpPr>
          <p:cNvPr id="1099" name="Google Shape;1099;g3dabb4e0c24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p:cSld name="One column">
    <p:spTree>
      <p:nvGrpSpPr>
        <p:cNvPr id="17" name="Shape 17"/>
        <p:cNvGrpSpPr/>
        <p:nvPr/>
      </p:nvGrpSpPr>
      <p:grpSpPr>
        <a:xfrm>
          <a:off x="0" y="0"/>
          <a:ext cx="0" cy="0"/>
          <a:chOff x="0" y="0"/>
          <a:chExt cx="0" cy="0"/>
        </a:xfrm>
      </p:grpSpPr>
      <p:sp>
        <p:nvSpPr>
          <p:cNvPr id="18" name="Google Shape;18;g32dba7b619d_0_244"/>
          <p:cNvSpPr txBox="1"/>
          <p:nvPr>
            <p:ph idx="1" type="body"/>
          </p:nvPr>
        </p:nvSpPr>
        <p:spPr>
          <a:xfrm>
            <a:off x="838200" y="1486801"/>
            <a:ext cx="10515600" cy="4690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171616"/>
              </a:buClr>
              <a:buSzPts val="1800"/>
              <a:buChar char="•"/>
              <a:defRPr/>
            </a:lvl1pPr>
            <a:lvl2pPr indent="-342900" lvl="1" marL="914400" algn="l">
              <a:lnSpc>
                <a:spcPct val="90000"/>
              </a:lnSpc>
              <a:spcBef>
                <a:spcPts val="500"/>
              </a:spcBef>
              <a:spcAft>
                <a:spcPts val="0"/>
              </a:spcAft>
              <a:buClr>
                <a:srgbClr val="171616"/>
              </a:buClr>
              <a:buSzPts val="1800"/>
              <a:buChar char="•"/>
              <a:defRPr/>
            </a:lvl2pPr>
            <a:lvl3pPr indent="-342900" lvl="2" marL="1371600" algn="l">
              <a:lnSpc>
                <a:spcPct val="90000"/>
              </a:lnSpc>
              <a:spcBef>
                <a:spcPts val="500"/>
              </a:spcBef>
              <a:spcAft>
                <a:spcPts val="0"/>
              </a:spcAft>
              <a:buClr>
                <a:srgbClr val="171616"/>
              </a:buClr>
              <a:buSzPts val="1800"/>
              <a:buChar char="•"/>
              <a:defRPr/>
            </a:lvl3pPr>
            <a:lvl4pPr indent="-342900" lvl="3" marL="1828800" algn="l">
              <a:lnSpc>
                <a:spcPct val="90000"/>
              </a:lnSpc>
              <a:spcBef>
                <a:spcPts val="500"/>
              </a:spcBef>
              <a:spcAft>
                <a:spcPts val="0"/>
              </a:spcAft>
              <a:buClr>
                <a:srgbClr val="171616"/>
              </a:buClr>
              <a:buSzPts val="1800"/>
              <a:buChar char="•"/>
              <a:defRPr/>
            </a:lvl4pPr>
            <a:lvl5pPr indent="-342900" lvl="4" marL="2286000" algn="l">
              <a:lnSpc>
                <a:spcPct val="90000"/>
              </a:lnSpc>
              <a:spcBef>
                <a:spcPts val="500"/>
              </a:spcBef>
              <a:spcAft>
                <a:spcPts val="0"/>
              </a:spcAft>
              <a:buClr>
                <a:srgbClr val="171616"/>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g32dba7b619d_0_24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g32dba7b619d_0_24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g32dba7b619d_0_24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g32dba7b619d_0_24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17161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light&#10;&#10;Description automatically generated" id="23" name="Google Shape;23;g32dba7b619d_0_244"/>
          <p:cNvPicPr preferRelativeResize="0"/>
          <p:nvPr/>
        </p:nvPicPr>
        <p:blipFill rotWithShape="1">
          <a:blip r:embed="rId2">
            <a:alphaModFix/>
          </a:blip>
          <a:srcRect b="0" l="0" r="0" t="0"/>
          <a:stretch/>
        </p:blipFill>
        <p:spPr>
          <a:xfrm>
            <a:off x="10914882" y="365125"/>
            <a:ext cx="877836" cy="830128"/>
          </a:xfrm>
          <a:prstGeom prst="rect">
            <a:avLst/>
          </a:prstGeom>
          <a:noFill/>
          <a:ln>
            <a:noFill/>
          </a:ln>
        </p:spPr>
      </p:pic>
      <p:cxnSp>
        <p:nvCxnSpPr>
          <p:cNvPr id="24" name="Google Shape;24;g32dba7b619d_0_244"/>
          <p:cNvCxnSpPr/>
          <p:nvPr/>
        </p:nvCxnSpPr>
        <p:spPr>
          <a:xfrm>
            <a:off x="828261" y="1221757"/>
            <a:ext cx="105156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1"/>
          <p:cNvSpPr/>
          <p:nvPr>
            <p:ph idx="2" type="pic"/>
          </p:nvPr>
        </p:nvSpPr>
        <p:spPr>
          <a:xfrm>
            <a:off x="5183188" y="987425"/>
            <a:ext cx="6172200" cy="4873625"/>
          </a:xfrm>
          <a:prstGeom prst="rect">
            <a:avLst/>
          </a:prstGeom>
          <a:noFill/>
          <a:ln>
            <a:noFill/>
          </a:ln>
        </p:spPr>
      </p:sp>
      <p:sp>
        <p:nvSpPr>
          <p:cNvPr id="72" name="Google Shape;72;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orcid.org/0000-0001-5768-275X" TargetMode="External"/><Relationship Id="rId4" Type="http://schemas.openxmlformats.org/officeDocument/2006/relationships/image" Target="../media/image8.png"/><Relationship Id="rId9" Type="http://schemas.openxmlformats.org/officeDocument/2006/relationships/image" Target="../media/image3.png"/><Relationship Id="rId5" Type="http://schemas.openxmlformats.org/officeDocument/2006/relationships/hyperlink" Target="https://creativecommons.org/licenses/by/4.0/" TargetMode="External"/><Relationship Id="rId6" Type="http://schemas.openxmlformats.org/officeDocument/2006/relationships/image" Target="../media/image2.png"/><Relationship Id="rId7" Type="http://schemas.openxmlformats.org/officeDocument/2006/relationships/image" Target="../media/image5.png"/><Relationship Id="rId8"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9.jp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9.jp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mailto:david.rayner@gu.se" TargetMode="External"/><Relationship Id="rId4" Type="http://schemas.openxmlformats.org/officeDocument/2006/relationships/hyperlink" Target="mailto:ineke.luijten@scilifelab.se" TargetMode="External"/><Relationship Id="rId9" Type="http://schemas.openxmlformats.org/officeDocument/2006/relationships/image" Target="../media/image3.png"/><Relationship Id="rId5" Type="http://schemas.openxmlformats.org/officeDocument/2006/relationships/hyperlink" Target="https://scilifelab-training.github.io/open-science/2605/" TargetMode="External"/><Relationship Id="rId6" Type="http://schemas.openxmlformats.org/officeDocument/2006/relationships/hyperlink" Target="mailto:david.rayner@gu.se" TargetMode="External"/><Relationship Id="rId7" Type="http://schemas.openxmlformats.org/officeDocument/2006/relationships/image" Target="../media/image5.png"/><Relationship Id="rId8"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hyperlink" Target="http://nbis.se" TargetMode="External"/><Relationship Id="rId13" Type="http://schemas.openxmlformats.org/officeDocument/2006/relationships/hyperlink" Target="http://nbis.se" TargetMode="External"/><Relationship Id="rId12" Type="http://schemas.openxmlformats.org/officeDocument/2006/relationships/image" Target="../media/image9.jp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16.png"/><Relationship Id="rId9" Type="http://schemas.openxmlformats.org/officeDocument/2006/relationships/image" Target="../media/image13.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4.png"/><Relationship Id="rId8"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doi.org/10.54677/MNMH8546" TargetMode="External"/><Relationship Id="rId4" Type="http://schemas.openxmlformats.org/officeDocument/2006/relationships/hyperlink" Target="https://creativecommons.org/licenses/by-sa/3.0/ig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i.org/10.54677/UTCD9302" TargetMode="External"/><Relationship Id="rId4" Type="http://schemas.openxmlformats.org/officeDocument/2006/relationships/hyperlink" Target="https://creativecommons.org/licenses/by-sa/3.0/igo/" TargetMode="External"/><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hyperlink" Target="https://journals.plos.org/plosmedicine/article?id=10.1371/journal.pmed.0020124" TargetMode="External"/><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thenounproject.com/browse/icons/term/collaboration/" TargetMode="External"/><Relationship Id="rId4" Type="http://schemas.openxmlformats.org/officeDocument/2006/relationships/hyperlink" Target="https://pmc.ncbi.nlm.nih.gov/articles/PMC10617723/#pbio.3002362.ref012" TargetMode="External"/><Relationship Id="rId9" Type="http://schemas.openxmlformats.org/officeDocument/2006/relationships/hyperlink" Target="https://scholarlykitchen.sspnet.org/2022/11/08/guest-post-publishing-fast-and-slow-a-review-of-publishing-speed-in-the-last-decade/" TargetMode="External"/><Relationship Id="rId5" Type="http://schemas.openxmlformats.org/officeDocument/2006/relationships/hyperlink" Target="https://www.sciencedirect.com/science/article/pii/S0048733313002382" TargetMode="External"/><Relationship Id="rId6" Type="http://schemas.openxmlformats.org/officeDocument/2006/relationships/hyperlink" Target="https://link.springer.com/article/10.1007/s11192-023-04894-0" TargetMode="External"/><Relationship Id="rId7" Type="http://schemas.openxmlformats.org/officeDocument/2006/relationships/hyperlink" Target="https://onlinelibrary.wiley.com/doi/full/10.1111/ecin.12064" TargetMode="External"/><Relationship Id="rId8" Type="http://schemas.openxmlformats.org/officeDocument/2006/relationships/hyperlink" Target="https://www.sciencedirect.com/science/article/abs/pii/S1751157713000734#:~:text=Review%20and%20publication%20times%20vary,shorter%20for%20open%20access%20journal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thenounproject.com/browse/icons/term/educational-campaign/" TargetMode="External"/><Relationship Id="rId4" Type="http://schemas.openxmlformats.org/officeDocument/2006/relationships/hyperlink" Target="https://www.su.se/stockholms-universitetsbibliotek/nyheter/stockholms-universitets-kostnader-f%C3%B6r-%C3%B6ppen-tillg%C3%A5ng-2023-1.772971" TargetMode="External"/><Relationship Id="rId5" Type="http://schemas.openxmlformats.org/officeDocument/2006/relationships/hyperlink" Target="https://royalsocietypublishing.org/doi/10.1098/rsos.240286#d1e1322" TargetMode="External"/><Relationship Id="rId6"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5.png"/><Relationship Id="rId8"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32dba7b619d_0_13"/>
          <p:cNvSpPr txBox="1"/>
          <p:nvPr>
            <p:ph type="ctrTitle"/>
          </p:nvPr>
        </p:nvSpPr>
        <p:spPr>
          <a:xfrm>
            <a:off x="724325" y="1627223"/>
            <a:ext cx="9144000" cy="17352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171616"/>
              </a:buClr>
              <a:buSzPct val="100000"/>
              <a:buFont typeface="Arial"/>
              <a:buNone/>
            </a:pPr>
            <a:r>
              <a:rPr b="1" lang="en-US">
                <a:latin typeface="Lora"/>
                <a:ea typeface="Lora"/>
                <a:cs typeface="Lora"/>
                <a:sym typeface="Lora"/>
              </a:rPr>
              <a:t>Open Science in the Swedish Context</a:t>
            </a:r>
            <a:endParaRPr b="1">
              <a:latin typeface="Lora"/>
              <a:ea typeface="Lora"/>
              <a:cs typeface="Lora"/>
              <a:sym typeface="Lora"/>
            </a:endParaRPr>
          </a:p>
        </p:txBody>
      </p:sp>
      <p:sp>
        <p:nvSpPr>
          <p:cNvPr id="94" name="Google Shape;94;g32dba7b619d_0_13"/>
          <p:cNvSpPr txBox="1"/>
          <p:nvPr>
            <p:ph idx="1" type="subTitle"/>
          </p:nvPr>
        </p:nvSpPr>
        <p:spPr>
          <a:xfrm>
            <a:off x="761750" y="3690385"/>
            <a:ext cx="9144000" cy="30843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171616"/>
              </a:buClr>
              <a:buSzPts val="2400"/>
              <a:buNone/>
            </a:pPr>
            <a:r>
              <a:rPr lang="en-US">
                <a:latin typeface="Lora"/>
                <a:ea typeface="Lora"/>
                <a:cs typeface="Lora"/>
                <a:sym typeface="Lora"/>
              </a:rPr>
              <a:t>04/05/2026</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rPr lang="en-US">
                <a:latin typeface="Lora"/>
                <a:ea typeface="Lora"/>
                <a:cs typeface="Lora"/>
                <a:sym typeface="Lora"/>
              </a:rPr>
              <a:t>SciLifeLab Training Hub </a:t>
            </a:r>
            <a:endParaRPr>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rPr lang="en-US">
                <a:latin typeface="Lora"/>
                <a:ea typeface="Lora"/>
                <a:cs typeface="Lora"/>
                <a:sym typeface="Lora"/>
              </a:rPr>
              <a:t>Ineke Luijten, PhD </a:t>
            </a:r>
            <a:endParaRPr>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t/>
            </a:r>
            <a:endParaRPr sz="469">
              <a:latin typeface="Lora"/>
              <a:ea typeface="Lora"/>
              <a:cs typeface="Lora"/>
              <a:sym typeface="Lora"/>
            </a:endParaRPr>
          </a:p>
          <a:p>
            <a:pPr indent="0" lvl="0" marL="0" rtl="0" algn="l">
              <a:lnSpc>
                <a:spcPct val="115000"/>
              </a:lnSpc>
              <a:spcBef>
                <a:spcPts val="0"/>
              </a:spcBef>
              <a:spcAft>
                <a:spcPts val="0"/>
              </a:spcAft>
              <a:buClr>
                <a:srgbClr val="171616"/>
              </a:buClr>
              <a:buSzPts val="2400"/>
              <a:buNone/>
            </a:pPr>
            <a:r>
              <a:t/>
            </a:r>
            <a:endParaRPr>
              <a:latin typeface="Lora"/>
              <a:ea typeface="Lora"/>
              <a:cs typeface="Lora"/>
              <a:sym typeface="Lora"/>
            </a:endParaRPr>
          </a:p>
          <a:p>
            <a:pPr indent="0" lvl="0" marL="0" rtl="0" algn="l">
              <a:lnSpc>
                <a:spcPct val="90000"/>
              </a:lnSpc>
              <a:spcBef>
                <a:spcPts val="0"/>
              </a:spcBef>
              <a:spcAft>
                <a:spcPts val="0"/>
              </a:spcAft>
              <a:buClr>
                <a:srgbClr val="171616"/>
              </a:buClr>
              <a:buSzPts val="2400"/>
              <a:buNone/>
            </a:pPr>
            <a:r>
              <a:t/>
            </a:r>
            <a:endParaRPr/>
          </a:p>
        </p:txBody>
      </p:sp>
      <p:cxnSp>
        <p:nvCxnSpPr>
          <p:cNvPr id="95" name="Google Shape;95;g32dba7b619d_0_13"/>
          <p:cNvCxnSpPr/>
          <p:nvPr/>
        </p:nvCxnSpPr>
        <p:spPr>
          <a:xfrm flipH="1" rot="10800000">
            <a:off x="761750" y="3382113"/>
            <a:ext cx="9435900" cy="14100"/>
          </a:xfrm>
          <a:prstGeom prst="straightConnector1">
            <a:avLst/>
          </a:prstGeom>
          <a:noFill/>
          <a:ln cap="flat" cmpd="sng" w="9525">
            <a:solidFill>
              <a:schemeClr val="dk2"/>
            </a:solidFill>
            <a:prstDash val="solid"/>
            <a:round/>
            <a:headEnd len="sm" w="sm" type="none"/>
            <a:tailEnd len="sm" w="sm" type="none"/>
          </a:ln>
        </p:spPr>
      </p:cxnSp>
      <p:pic>
        <p:nvPicPr>
          <p:cNvPr id="96" name="Google Shape;96;g32dba7b619d_0_13">
            <a:hlinkClick r:id="rId3"/>
          </p:cNvPr>
          <p:cNvPicPr preferRelativeResize="0"/>
          <p:nvPr/>
        </p:nvPicPr>
        <p:blipFill rotWithShape="1">
          <a:blip r:embed="rId4">
            <a:alphaModFix/>
          </a:blip>
          <a:srcRect b="0" l="0" r="0" t="0"/>
          <a:stretch/>
        </p:blipFill>
        <p:spPr>
          <a:xfrm>
            <a:off x="3548500" y="5566825"/>
            <a:ext cx="263076" cy="263076"/>
          </a:xfrm>
          <a:prstGeom prst="rect">
            <a:avLst/>
          </a:prstGeom>
          <a:noFill/>
          <a:ln>
            <a:noFill/>
          </a:ln>
        </p:spPr>
      </p:pic>
      <p:pic>
        <p:nvPicPr>
          <p:cNvPr id="97" name="Google Shape;97;g32dba7b619d_0_13">
            <a:hlinkClick r:id="rId5"/>
          </p:cNvPr>
          <p:cNvPicPr preferRelativeResize="0"/>
          <p:nvPr/>
        </p:nvPicPr>
        <p:blipFill rotWithShape="1">
          <a:blip r:embed="rId6">
            <a:alphaModFix/>
          </a:blip>
          <a:srcRect b="0" l="0" r="0" t="0"/>
          <a:stretch/>
        </p:blipFill>
        <p:spPr>
          <a:xfrm>
            <a:off x="10032075" y="6010992"/>
            <a:ext cx="1993900" cy="697633"/>
          </a:xfrm>
          <a:prstGeom prst="rect">
            <a:avLst/>
          </a:prstGeom>
          <a:noFill/>
          <a:ln>
            <a:noFill/>
          </a:ln>
        </p:spPr>
      </p:pic>
      <p:pic>
        <p:nvPicPr>
          <p:cNvPr id="98" name="Google Shape;98;g32dba7b619d_0_13"/>
          <p:cNvPicPr preferRelativeResize="0"/>
          <p:nvPr/>
        </p:nvPicPr>
        <p:blipFill rotWithShape="1">
          <a:blip r:embed="rId7">
            <a:alphaModFix/>
          </a:blip>
          <a:srcRect b="26041" l="0" r="0" t="0"/>
          <a:stretch/>
        </p:blipFill>
        <p:spPr>
          <a:xfrm>
            <a:off x="9725651" y="377104"/>
            <a:ext cx="2048575" cy="808504"/>
          </a:xfrm>
          <a:prstGeom prst="rect">
            <a:avLst/>
          </a:prstGeom>
          <a:noFill/>
          <a:ln>
            <a:noFill/>
          </a:ln>
        </p:spPr>
      </p:pic>
      <p:pic>
        <p:nvPicPr>
          <p:cNvPr id="99" name="Google Shape;99;g32dba7b619d_0_13"/>
          <p:cNvPicPr preferRelativeResize="0"/>
          <p:nvPr/>
        </p:nvPicPr>
        <p:blipFill rotWithShape="1">
          <a:blip r:embed="rId8">
            <a:alphaModFix/>
          </a:blip>
          <a:srcRect b="0" l="0" r="0" t="0"/>
          <a:stretch/>
        </p:blipFill>
        <p:spPr>
          <a:xfrm>
            <a:off x="4658625" y="458006"/>
            <a:ext cx="2974551" cy="646700"/>
          </a:xfrm>
          <a:prstGeom prst="rect">
            <a:avLst/>
          </a:prstGeom>
          <a:noFill/>
          <a:ln>
            <a:noFill/>
          </a:ln>
        </p:spPr>
      </p:pic>
      <p:pic>
        <p:nvPicPr>
          <p:cNvPr id="100" name="Google Shape;100;g32dba7b619d_0_13" title="SND_logo_eng.png"/>
          <p:cNvPicPr preferRelativeResize="0"/>
          <p:nvPr/>
        </p:nvPicPr>
        <p:blipFill rotWithShape="1">
          <a:blip r:embed="rId9">
            <a:alphaModFix/>
          </a:blip>
          <a:srcRect b="0" l="0" r="0" t="0"/>
          <a:stretch/>
        </p:blipFill>
        <p:spPr>
          <a:xfrm>
            <a:off x="584013" y="458006"/>
            <a:ext cx="2786523" cy="74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g32dba7b619d_0_24"/>
          <p:cNvPicPr preferRelativeResize="0"/>
          <p:nvPr/>
        </p:nvPicPr>
        <p:blipFill rotWithShape="1">
          <a:blip r:embed="rId3">
            <a:alphaModFix/>
          </a:blip>
          <a:srcRect b="26041" l="0" r="0" t="0"/>
          <a:stretch/>
        </p:blipFill>
        <p:spPr>
          <a:xfrm>
            <a:off x="9725651" y="377104"/>
            <a:ext cx="2048575" cy="808504"/>
          </a:xfrm>
          <a:prstGeom prst="rect">
            <a:avLst/>
          </a:prstGeom>
          <a:noFill/>
          <a:ln>
            <a:noFill/>
          </a:ln>
        </p:spPr>
      </p:pic>
      <p:sp>
        <p:nvSpPr>
          <p:cNvPr id="107" name="Google Shape;107;g32dba7b619d_0_24"/>
          <p:cNvSpPr txBox="1"/>
          <p:nvPr>
            <p:ph type="title"/>
          </p:nvPr>
        </p:nvSpPr>
        <p:spPr>
          <a:xfrm>
            <a:off x="-600" y="1534050"/>
            <a:ext cx="12192000" cy="5324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8500">
                <a:latin typeface="Lora"/>
                <a:ea typeface="Lora"/>
                <a:cs typeface="Lora"/>
                <a:sym typeface="Lora"/>
              </a:rPr>
              <a:t>Welcome!</a:t>
            </a:r>
            <a:endParaRPr sz="8500">
              <a:latin typeface="Lora"/>
              <a:ea typeface="Lora"/>
              <a:cs typeface="Lora"/>
              <a:sym typeface="Lora"/>
            </a:endParaRPr>
          </a:p>
        </p:txBody>
      </p:sp>
      <p:sp>
        <p:nvSpPr>
          <p:cNvPr id="108" name="Google Shape;108;g32dba7b619d_0_2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9" name="Google Shape;109;g32dba7b619d_0_2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0" name="Google Shape;110;g32dba7b619d_0_24"/>
          <p:cNvPicPr preferRelativeResize="0"/>
          <p:nvPr/>
        </p:nvPicPr>
        <p:blipFill rotWithShape="1">
          <a:blip r:embed="rId4">
            <a:alphaModFix/>
          </a:blip>
          <a:srcRect b="0" l="0" r="0" t="0"/>
          <a:stretch/>
        </p:blipFill>
        <p:spPr>
          <a:xfrm>
            <a:off x="4658625" y="458006"/>
            <a:ext cx="2974551" cy="646700"/>
          </a:xfrm>
          <a:prstGeom prst="rect">
            <a:avLst/>
          </a:prstGeom>
          <a:noFill/>
          <a:ln>
            <a:noFill/>
          </a:ln>
        </p:spPr>
      </p:pic>
      <p:pic>
        <p:nvPicPr>
          <p:cNvPr id="111" name="Google Shape;111;g32dba7b619d_0_24" title="SND_logo_eng.png"/>
          <p:cNvPicPr preferRelativeResize="0"/>
          <p:nvPr/>
        </p:nvPicPr>
        <p:blipFill rotWithShape="1">
          <a:blip r:embed="rId5">
            <a:alphaModFix/>
          </a:blip>
          <a:srcRect b="0" l="0" r="0" t="0"/>
          <a:stretch/>
        </p:blipFill>
        <p:spPr>
          <a:xfrm>
            <a:off x="584013" y="458006"/>
            <a:ext cx="2786523" cy="744400"/>
          </a:xfrm>
          <a:prstGeom prst="rect">
            <a:avLst/>
          </a:prstGeom>
          <a:noFill/>
          <a:ln>
            <a:noFill/>
          </a:ln>
        </p:spPr>
      </p:pic>
      <p:cxnSp>
        <p:nvCxnSpPr>
          <p:cNvPr id="112" name="Google Shape;112;g32dba7b619d_0_24"/>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52662de69e_0_19"/>
          <p:cNvSpPr txBox="1"/>
          <p:nvPr>
            <p:ph type="title"/>
          </p:nvPr>
        </p:nvSpPr>
        <p:spPr>
          <a:xfrm>
            <a:off x="620150" y="365125"/>
            <a:ext cx="11042700" cy="6275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100"/>
              <a:buNone/>
            </a:pPr>
            <a:r>
              <a:t/>
            </a:r>
            <a:endParaRPr sz="1500">
              <a:solidFill>
                <a:srgbClr val="491F53"/>
              </a:solidFill>
              <a:latin typeface="Lora"/>
              <a:ea typeface="Lora"/>
              <a:cs typeface="Lora"/>
              <a:sym typeface="Lora"/>
            </a:endParaRPr>
          </a:p>
          <a:p>
            <a:pPr indent="0" lvl="0" marL="0" rtl="0" algn="l">
              <a:lnSpc>
                <a:spcPct val="100000"/>
              </a:lnSpc>
              <a:spcBef>
                <a:spcPts val="0"/>
              </a:spcBef>
              <a:spcAft>
                <a:spcPts val="0"/>
              </a:spcAft>
              <a:buSzPts val="1100"/>
              <a:buNone/>
            </a:pPr>
            <a:r>
              <a:t/>
            </a:r>
            <a:endParaRPr sz="1500">
              <a:solidFill>
                <a:srgbClr val="491F53"/>
              </a:solidFill>
              <a:latin typeface="Lora"/>
              <a:ea typeface="Lora"/>
              <a:cs typeface="Lora"/>
              <a:sym typeface="Lora"/>
            </a:endParaRPr>
          </a:p>
          <a:p>
            <a:pPr indent="0" lvl="0" marL="76200" rtl="0" algn="ctr">
              <a:lnSpc>
                <a:spcPct val="100000"/>
              </a:lnSpc>
              <a:spcBef>
                <a:spcPts val="0"/>
              </a:spcBef>
              <a:spcAft>
                <a:spcPts val="0"/>
              </a:spcAft>
              <a:buSzPts val="1100"/>
              <a:buNone/>
            </a:pPr>
            <a:r>
              <a:t/>
            </a:r>
            <a:endParaRPr sz="1500">
              <a:solidFill>
                <a:srgbClr val="491F53"/>
              </a:solidFill>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US" sz="2300">
                <a:solidFill>
                  <a:srgbClr val="491F53"/>
                </a:solidFill>
                <a:latin typeface="Lato Light"/>
                <a:ea typeface="Lato Light"/>
                <a:cs typeface="Lato Light"/>
                <a:sym typeface="Lato Light"/>
              </a:rPr>
              <a:t>Learning Objectives</a:t>
            </a:r>
            <a:endParaRPr sz="2300">
              <a:solidFill>
                <a:srgbClr val="491F53"/>
              </a:solidFill>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rPr lang="en-US" sz="1750">
                <a:latin typeface="Lato Light"/>
                <a:ea typeface="Lato Light"/>
                <a:cs typeface="Lato Light"/>
                <a:sym typeface="Lato Light"/>
              </a:rPr>
              <a:t>This course is designed for participants to:</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Get acquainted with Open Science principles and how they will be implemented into Swedish academia within the coming years</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Be able to execute every step of a research project according to Open Science principles</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t/>
            </a:r>
            <a:endParaRPr sz="1850">
              <a:latin typeface="Lato Light"/>
              <a:ea typeface="Lato Light"/>
              <a:cs typeface="Lato Light"/>
              <a:sym typeface="Lato Light"/>
            </a:endParaRPr>
          </a:p>
          <a:p>
            <a:pPr indent="0" lvl="0" marL="0" rtl="0" algn="l">
              <a:lnSpc>
                <a:spcPct val="115000"/>
              </a:lnSpc>
              <a:spcBef>
                <a:spcPts val="0"/>
              </a:spcBef>
              <a:spcAft>
                <a:spcPts val="0"/>
              </a:spcAft>
              <a:buClr>
                <a:schemeClr val="dk1"/>
              </a:buClr>
              <a:buSzPts val="1100"/>
              <a:buFont typeface="Arial"/>
              <a:buNone/>
            </a:pPr>
            <a:r>
              <a:rPr lang="en-US" sz="2300">
                <a:solidFill>
                  <a:srgbClr val="491F53"/>
                </a:solidFill>
                <a:latin typeface="Lato Light"/>
                <a:ea typeface="Lato Light"/>
                <a:cs typeface="Lato Light"/>
                <a:sym typeface="Lato Light"/>
              </a:rPr>
              <a:t>Learning Outcomes</a:t>
            </a:r>
            <a:endParaRPr sz="2300">
              <a:solidFill>
                <a:srgbClr val="491F53"/>
              </a:solidFill>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rPr lang="en-US" sz="1750">
                <a:latin typeface="Lato Light"/>
                <a:ea typeface="Lato Light"/>
                <a:cs typeface="Lato Light"/>
                <a:sym typeface="Lato Light"/>
              </a:rPr>
              <a:t>Upon completion of this course, participants will be able to:</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Explain what Open Science is, and discuss the benefits and challenges that come with its implementation, specifically in the Swedish context</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Describe the most common Open Science practices throughout every step of the research project lifecycle</a:t>
            </a:r>
            <a:endParaRPr sz="1750">
              <a:latin typeface="Lato Light"/>
              <a:ea typeface="Lato Light"/>
              <a:cs typeface="Lato Light"/>
              <a:sym typeface="Lato Light"/>
            </a:endParaRPr>
          </a:p>
          <a:p>
            <a:pPr indent="0" lvl="0" marL="457200" rtl="0" algn="l">
              <a:lnSpc>
                <a:spcPct val="115000"/>
              </a:lnSpc>
              <a:spcBef>
                <a:spcPts val="0"/>
              </a:spcBef>
              <a:spcAft>
                <a:spcPts val="0"/>
              </a:spcAft>
              <a:buSzPts val="1800"/>
              <a:buNone/>
            </a:pPr>
            <a:r>
              <a:rPr lang="en-US" sz="1750">
                <a:latin typeface="Lato Light"/>
                <a:ea typeface="Lato Light"/>
                <a:cs typeface="Lato Light"/>
                <a:sym typeface="Lato Light"/>
              </a:rPr>
              <a:t>→ Implement Open Science practices into their own workflow</a:t>
            </a:r>
            <a:endParaRPr sz="9100">
              <a:latin typeface="Lato Light"/>
              <a:ea typeface="Lato Light"/>
              <a:cs typeface="Lato Light"/>
              <a:sym typeface="Lato Light"/>
            </a:endParaRPr>
          </a:p>
        </p:txBody>
      </p:sp>
      <p:sp>
        <p:nvSpPr>
          <p:cNvPr id="119" name="Google Shape;119;g352662de69e_0_1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20" name="Google Shape;120;g352662de69e_0_1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21" name="Google Shape;121;g352662de69e_0_19"/>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pic>
        <p:nvPicPr>
          <p:cNvPr id="122" name="Google Shape;122;g352662de69e_0_19"/>
          <p:cNvPicPr preferRelativeResize="0"/>
          <p:nvPr/>
        </p:nvPicPr>
        <p:blipFill rotWithShape="1">
          <a:blip r:embed="rId3">
            <a:alphaModFix/>
          </a:blip>
          <a:srcRect b="26041" l="0" r="0" t="0"/>
          <a:stretch/>
        </p:blipFill>
        <p:spPr>
          <a:xfrm>
            <a:off x="9725651" y="377104"/>
            <a:ext cx="2048575" cy="808504"/>
          </a:xfrm>
          <a:prstGeom prst="rect">
            <a:avLst/>
          </a:prstGeom>
          <a:noFill/>
          <a:ln>
            <a:noFill/>
          </a:ln>
        </p:spPr>
      </p:pic>
      <p:pic>
        <p:nvPicPr>
          <p:cNvPr id="123" name="Google Shape;123;g352662de69e_0_19"/>
          <p:cNvPicPr preferRelativeResize="0"/>
          <p:nvPr/>
        </p:nvPicPr>
        <p:blipFill rotWithShape="1">
          <a:blip r:embed="rId4">
            <a:alphaModFix/>
          </a:blip>
          <a:srcRect b="0" l="0" r="0" t="0"/>
          <a:stretch/>
        </p:blipFill>
        <p:spPr>
          <a:xfrm>
            <a:off x="533975" y="458006"/>
            <a:ext cx="2974551" cy="646700"/>
          </a:xfrm>
          <a:prstGeom prst="rect">
            <a:avLst/>
          </a:prstGeom>
          <a:noFill/>
          <a:ln>
            <a:noFill/>
          </a:ln>
        </p:spPr>
      </p:pic>
      <p:pic>
        <p:nvPicPr>
          <p:cNvPr id="124" name="Google Shape;124;g352662de69e_0_19" title="SND_logo_eng.png"/>
          <p:cNvPicPr preferRelativeResize="0"/>
          <p:nvPr/>
        </p:nvPicPr>
        <p:blipFill rotWithShape="1">
          <a:blip r:embed="rId5">
            <a:alphaModFix/>
          </a:blip>
          <a:srcRect b="0" l="0" r="0" t="0"/>
          <a:stretch/>
        </p:blipFill>
        <p:spPr>
          <a:xfrm>
            <a:off x="5103188" y="409156"/>
            <a:ext cx="2786523" cy="744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52662de69e_0_39"/>
          <p:cNvSpPr txBox="1"/>
          <p:nvPr>
            <p:ph type="title"/>
          </p:nvPr>
        </p:nvSpPr>
        <p:spPr>
          <a:xfrm>
            <a:off x="390500" y="1647575"/>
            <a:ext cx="11127900" cy="49926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0"/>
              </a:spcBef>
              <a:spcAft>
                <a:spcPts val="0"/>
              </a:spcAft>
              <a:buSzPts val="1100"/>
              <a:buNone/>
            </a:pPr>
            <a:r>
              <a:rPr lang="en-US" sz="2600">
                <a:solidFill>
                  <a:srgbClr val="491F53"/>
                </a:solidFill>
                <a:latin typeface="Lato Light"/>
                <a:ea typeface="Lato Light"/>
                <a:cs typeface="Lato Light"/>
                <a:sym typeface="Lato Light"/>
              </a:rPr>
              <a:t>Practicalities</a:t>
            </a:r>
            <a:endParaRPr sz="2600">
              <a:solidFill>
                <a:srgbClr val="491F53"/>
              </a:solidFill>
              <a:latin typeface="Lato Light"/>
              <a:ea typeface="Lato Light"/>
              <a:cs typeface="Lato Light"/>
              <a:sym typeface="Lato Light"/>
            </a:endParaRPr>
          </a:p>
          <a:p>
            <a:pPr indent="-381000" lvl="0" marL="457200" rtl="0" algn="l">
              <a:lnSpc>
                <a:spcPct val="150000"/>
              </a:lnSpc>
              <a:spcBef>
                <a:spcPts val="1000"/>
              </a:spcBef>
              <a:spcAft>
                <a:spcPts val="0"/>
              </a:spcAft>
              <a:buClr>
                <a:schemeClr val="dk1"/>
              </a:buClr>
              <a:buSzPts val="2400"/>
              <a:buFont typeface="Lato Light"/>
              <a:buChar char="●"/>
            </a:pPr>
            <a:r>
              <a:rPr lang="en-US" sz="2400">
                <a:latin typeface="Lato Light"/>
                <a:ea typeface="Lato Light"/>
                <a:cs typeface="Lato Light"/>
                <a:sym typeface="Lato Light"/>
              </a:rPr>
              <a:t>Emergency email: </a:t>
            </a:r>
            <a:r>
              <a:rPr lang="en-US" sz="2400" u="sng">
                <a:solidFill>
                  <a:schemeClr val="hlink"/>
                </a:solidFill>
                <a:latin typeface="Lato Light"/>
                <a:ea typeface="Lato Light"/>
                <a:cs typeface="Lato Light"/>
                <a:sym typeface="Lato Light"/>
                <a:hlinkClick r:id="rId3"/>
              </a:rPr>
              <a:t>david.rayner@gu.se</a:t>
            </a:r>
            <a:r>
              <a:rPr lang="en-US" sz="2400">
                <a:latin typeface="Lato Light"/>
                <a:ea typeface="Lato Light"/>
                <a:cs typeface="Lato Light"/>
                <a:sym typeface="Lato Light"/>
              </a:rPr>
              <a:t> </a:t>
            </a:r>
            <a:r>
              <a:rPr lang="en-US" sz="2400">
                <a:latin typeface="Lato Light"/>
                <a:ea typeface="Lato Light"/>
                <a:cs typeface="Lato Light"/>
                <a:sym typeface="Lato Light"/>
              </a:rPr>
              <a:t> </a:t>
            </a:r>
            <a:r>
              <a:rPr lang="en-US" sz="2400" u="sng">
                <a:solidFill>
                  <a:schemeClr val="hlink"/>
                </a:solidFill>
                <a:latin typeface="Lato Light"/>
                <a:ea typeface="Lato Light"/>
                <a:cs typeface="Lato Light"/>
                <a:sym typeface="Lato Light"/>
                <a:hlinkClick r:id="rId4"/>
              </a:rPr>
              <a:t>ineke.luijten@scilifelab.se</a:t>
            </a:r>
            <a:r>
              <a:rPr lang="en-US" sz="2400">
                <a:latin typeface="Lato Light"/>
                <a:ea typeface="Lato Light"/>
                <a:cs typeface="Lato Light"/>
                <a:sym typeface="Lato Light"/>
              </a:rPr>
              <a:t> </a:t>
            </a:r>
            <a:endParaRPr sz="2400">
              <a:solidFill>
                <a:srgbClr val="0B4950"/>
              </a:solidFill>
              <a:latin typeface="Lato Light"/>
              <a:ea typeface="Lato Light"/>
              <a:cs typeface="Lato Light"/>
              <a:sym typeface="Lato Light"/>
            </a:endParaRPr>
          </a:p>
          <a:p>
            <a:pPr indent="-381000" lvl="0" marL="457200" rtl="0" algn="l">
              <a:lnSpc>
                <a:spcPct val="150000"/>
              </a:lnSpc>
              <a:spcBef>
                <a:spcPts val="0"/>
              </a:spcBef>
              <a:spcAft>
                <a:spcPts val="0"/>
              </a:spcAft>
              <a:buSzPts val="2400"/>
              <a:buChar char="●"/>
            </a:pPr>
            <a:r>
              <a:rPr lang="en-US" sz="2400">
                <a:latin typeface="Lato Light"/>
                <a:ea typeface="Lato Light"/>
                <a:cs typeface="Lato Light"/>
                <a:sym typeface="Lato Light"/>
              </a:rPr>
              <a:t>All content is/will be available at </a:t>
            </a:r>
            <a:r>
              <a:rPr lang="en-US" sz="2400" u="sng">
                <a:solidFill>
                  <a:schemeClr val="hlink"/>
                </a:solidFill>
                <a:latin typeface="Lato Light"/>
                <a:ea typeface="Lato Light"/>
                <a:cs typeface="Lato Light"/>
                <a:sym typeface="Lato Light"/>
                <a:hlinkClick r:id="rId5"/>
              </a:rPr>
              <a:t>https://scilifelab-training.github.io/open-science/2605/</a:t>
            </a:r>
            <a:endParaRPr sz="2400">
              <a:solidFill>
                <a:srgbClr val="0B4950"/>
              </a:solidFill>
              <a:latin typeface="Lato Light"/>
              <a:ea typeface="Lato Light"/>
              <a:cs typeface="Lato Light"/>
              <a:sym typeface="Lato Light"/>
            </a:endParaRPr>
          </a:p>
          <a:p>
            <a:pPr indent="-381000" lvl="0" marL="457200" rtl="0" algn="l">
              <a:lnSpc>
                <a:spcPct val="150000"/>
              </a:lnSpc>
              <a:spcBef>
                <a:spcPts val="0"/>
              </a:spcBef>
              <a:spcAft>
                <a:spcPts val="0"/>
              </a:spcAft>
              <a:buSzPts val="2400"/>
              <a:buFont typeface="Lato Light"/>
              <a:buChar char="●"/>
            </a:pPr>
            <a:r>
              <a:rPr lang="en-US" sz="2400">
                <a:latin typeface="Lato Light"/>
                <a:ea typeface="Lato Light"/>
                <a:cs typeface="Lato Light"/>
                <a:sym typeface="Lato Light"/>
              </a:rPr>
              <a:t>In case of fire: grass area </a:t>
            </a:r>
            <a:r>
              <a:rPr lang="en-US" sz="2400">
                <a:latin typeface="Lato Light"/>
                <a:ea typeface="Lato Light"/>
                <a:cs typeface="Lato Light"/>
                <a:sym typeface="Lato Light"/>
              </a:rPr>
              <a:t>across</a:t>
            </a:r>
            <a:r>
              <a:rPr lang="en-US" sz="2400">
                <a:latin typeface="Lato Light"/>
                <a:ea typeface="Lato Light"/>
                <a:cs typeface="Lato Light"/>
                <a:sym typeface="Lato Light"/>
              </a:rPr>
              <a:t> from main entrance </a:t>
            </a:r>
            <a:endParaRPr sz="2400">
              <a:latin typeface="Lato Light"/>
              <a:ea typeface="Lato Light"/>
              <a:cs typeface="Lato Light"/>
              <a:sym typeface="Lato Light"/>
            </a:endParaRPr>
          </a:p>
          <a:p>
            <a:pPr indent="-381000" lvl="0" marL="457200" rtl="0" algn="l">
              <a:lnSpc>
                <a:spcPct val="150000"/>
              </a:lnSpc>
              <a:spcBef>
                <a:spcPts val="0"/>
              </a:spcBef>
              <a:spcAft>
                <a:spcPts val="0"/>
              </a:spcAft>
              <a:buSzPts val="2400"/>
              <a:buFont typeface="Lato Light"/>
              <a:buChar char="●"/>
            </a:pPr>
            <a:r>
              <a:rPr lang="en-US" sz="2400">
                <a:latin typeface="Lato Light"/>
                <a:ea typeface="Lato Light"/>
                <a:cs typeface="Lato Light"/>
                <a:sym typeface="Lato Light"/>
              </a:rPr>
              <a:t>For course certificate, please email </a:t>
            </a:r>
            <a:r>
              <a:rPr lang="en-US" sz="2400" u="sng">
                <a:solidFill>
                  <a:schemeClr val="hlink"/>
                </a:solidFill>
                <a:latin typeface="Lato Light"/>
                <a:ea typeface="Lato Light"/>
                <a:cs typeface="Lato Light"/>
                <a:sym typeface="Lato Light"/>
                <a:hlinkClick r:id="rId6"/>
              </a:rPr>
              <a:t>david.rayner@gu.se</a:t>
            </a:r>
            <a:r>
              <a:rPr lang="en-US" sz="2400">
                <a:latin typeface="Lato Light"/>
                <a:ea typeface="Lato Light"/>
                <a:cs typeface="Lato Light"/>
                <a:sym typeface="Lato Light"/>
              </a:rPr>
              <a:t> at the end of the course</a:t>
            </a:r>
            <a:endParaRPr sz="2400">
              <a:latin typeface="Lato Light"/>
              <a:ea typeface="Lato Light"/>
              <a:cs typeface="Lato Light"/>
              <a:sym typeface="Lato Light"/>
            </a:endParaRPr>
          </a:p>
        </p:txBody>
      </p:sp>
      <p:sp>
        <p:nvSpPr>
          <p:cNvPr id="131" name="Google Shape;131;g352662de69e_0_3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2" name="Google Shape;132;g352662de69e_0_3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33" name="Google Shape;133;g352662de69e_0_39"/>
          <p:cNvCxnSpPr/>
          <p:nvPr/>
        </p:nvCxnSpPr>
        <p:spPr>
          <a:xfrm>
            <a:off x="469300" y="1534050"/>
            <a:ext cx="11353200" cy="9900"/>
          </a:xfrm>
          <a:prstGeom prst="straightConnector1">
            <a:avLst/>
          </a:prstGeom>
          <a:noFill/>
          <a:ln cap="flat" cmpd="sng" w="9525">
            <a:solidFill>
              <a:schemeClr val="dk2"/>
            </a:solidFill>
            <a:prstDash val="solid"/>
            <a:round/>
            <a:headEnd len="sm" w="sm" type="none"/>
            <a:tailEnd len="sm" w="sm" type="none"/>
          </a:ln>
        </p:spPr>
      </p:cxnSp>
      <p:pic>
        <p:nvPicPr>
          <p:cNvPr id="134" name="Google Shape;134;g352662de69e_0_39"/>
          <p:cNvPicPr preferRelativeResize="0"/>
          <p:nvPr/>
        </p:nvPicPr>
        <p:blipFill rotWithShape="1">
          <a:blip r:embed="rId7">
            <a:alphaModFix/>
          </a:blip>
          <a:srcRect b="26041" l="0" r="0" t="0"/>
          <a:stretch/>
        </p:blipFill>
        <p:spPr>
          <a:xfrm>
            <a:off x="9725651" y="377104"/>
            <a:ext cx="2048575" cy="808504"/>
          </a:xfrm>
          <a:prstGeom prst="rect">
            <a:avLst/>
          </a:prstGeom>
          <a:noFill/>
          <a:ln>
            <a:noFill/>
          </a:ln>
        </p:spPr>
      </p:pic>
      <p:pic>
        <p:nvPicPr>
          <p:cNvPr id="135" name="Google Shape;135;g352662de69e_0_39"/>
          <p:cNvPicPr preferRelativeResize="0"/>
          <p:nvPr/>
        </p:nvPicPr>
        <p:blipFill rotWithShape="1">
          <a:blip r:embed="rId8">
            <a:alphaModFix/>
          </a:blip>
          <a:srcRect b="0" l="0" r="0" t="0"/>
          <a:stretch/>
        </p:blipFill>
        <p:spPr>
          <a:xfrm>
            <a:off x="533975" y="458006"/>
            <a:ext cx="2974551" cy="646700"/>
          </a:xfrm>
          <a:prstGeom prst="rect">
            <a:avLst/>
          </a:prstGeom>
          <a:noFill/>
          <a:ln>
            <a:noFill/>
          </a:ln>
        </p:spPr>
      </p:pic>
      <p:pic>
        <p:nvPicPr>
          <p:cNvPr id="136" name="Google Shape;136;g352662de69e_0_39" title="SND_logo_eng.png"/>
          <p:cNvPicPr preferRelativeResize="0"/>
          <p:nvPr/>
        </p:nvPicPr>
        <p:blipFill rotWithShape="1">
          <a:blip r:embed="rId9">
            <a:alphaModFix/>
          </a:blip>
          <a:srcRect b="0" l="0" r="0" t="0"/>
          <a:stretch/>
        </p:blipFill>
        <p:spPr>
          <a:xfrm>
            <a:off x="5103188" y="409156"/>
            <a:ext cx="2786523" cy="744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4e24684e76_0_1"/>
          <p:cNvSpPr/>
          <p:nvPr/>
        </p:nvSpPr>
        <p:spPr>
          <a:xfrm>
            <a:off x="10736925" y="216900"/>
            <a:ext cx="1256400" cy="1000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g34e24684e76_0_1"/>
          <p:cNvSpPr txBox="1"/>
          <p:nvPr>
            <p:ph type="title"/>
          </p:nvPr>
        </p:nvSpPr>
        <p:spPr>
          <a:xfrm>
            <a:off x="838200" y="365125"/>
            <a:ext cx="9907800" cy="83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620"/>
              <a:buNone/>
            </a:pPr>
            <a:r>
              <a:rPr lang="en-US" sz="3460">
                <a:latin typeface="Lora"/>
                <a:ea typeface="Lora"/>
                <a:cs typeface="Lora"/>
                <a:sym typeface="Lora"/>
              </a:rPr>
              <a:t>Who are we? - Swedish National Data service </a:t>
            </a:r>
            <a:endParaRPr sz="3460">
              <a:latin typeface="Lora"/>
              <a:ea typeface="Lora"/>
              <a:cs typeface="Lora"/>
              <a:sym typeface="Lora"/>
            </a:endParaRPr>
          </a:p>
        </p:txBody>
      </p:sp>
      <p:sp>
        <p:nvSpPr>
          <p:cNvPr id="144" name="Google Shape;144;g34e24684e76_0_1"/>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45" name="Google Shape;145;g34e24684e76_0_1"/>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46" name="Google Shape;146;g34e24684e76_0_1"/>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7" name="Google Shape;147;g34e24684e76_0_1"/>
          <p:cNvSpPr txBox="1"/>
          <p:nvPr>
            <p:ph idx="1" type="body"/>
          </p:nvPr>
        </p:nvSpPr>
        <p:spPr>
          <a:xfrm>
            <a:off x="785675" y="180525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pic>
        <p:nvPicPr>
          <p:cNvPr id="148" name="Google Shape;148;g34e24684e76_0_1" title="SND_logo_eng.png"/>
          <p:cNvPicPr preferRelativeResize="0"/>
          <p:nvPr/>
        </p:nvPicPr>
        <p:blipFill rotWithShape="1">
          <a:blip r:embed="rId3">
            <a:alphaModFix/>
          </a:blip>
          <a:srcRect b="0" l="0" r="71361" t="0"/>
          <a:stretch/>
        </p:blipFill>
        <p:spPr>
          <a:xfrm>
            <a:off x="10626856" y="119150"/>
            <a:ext cx="1303050" cy="1215500"/>
          </a:xfrm>
          <a:prstGeom prst="rect">
            <a:avLst/>
          </a:prstGeom>
          <a:noFill/>
          <a:ln>
            <a:noFill/>
          </a:ln>
        </p:spPr>
      </p:pic>
      <p:pic>
        <p:nvPicPr>
          <p:cNvPr id="149" name="Google Shape;149;g34e24684e76_0_1"/>
          <p:cNvPicPr preferRelativeResize="0"/>
          <p:nvPr/>
        </p:nvPicPr>
        <p:blipFill rotWithShape="1">
          <a:blip r:embed="rId4">
            <a:alphaModFix/>
          </a:blip>
          <a:srcRect b="0" l="0" r="0" t="0"/>
          <a:stretch/>
        </p:blipFill>
        <p:spPr>
          <a:xfrm>
            <a:off x="488825" y="1470951"/>
            <a:ext cx="10724850" cy="5024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4d1cf5dcd5_0_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Who are we? - SciLifeLab Training Hub </a:t>
            </a:r>
            <a:endParaRPr>
              <a:latin typeface="Lora"/>
              <a:ea typeface="Lora"/>
              <a:cs typeface="Lora"/>
              <a:sym typeface="Lora"/>
            </a:endParaRPr>
          </a:p>
        </p:txBody>
      </p:sp>
      <p:sp>
        <p:nvSpPr>
          <p:cNvPr id="156" name="Google Shape;156;g34d1cf5dcd5_0_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57" name="Google Shape;157;g34d1cf5dcd5_0_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58" name="Google Shape;158;g34d1cf5dcd5_0_0"/>
          <p:cNvSpPr/>
          <p:nvPr/>
        </p:nvSpPr>
        <p:spPr>
          <a:xfrm>
            <a:off x="10348775" y="21089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9" name="Google Shape;159;g34d1cf5dcd5_0_0"/>
          <p:cNvSpPr txBox="1"/>
          <p:nvPr>
            <p:ph idx="1" type="body"/>
          </p:nvPr>
        </p:nvSpPr>
        <p:spPr>
          <a:xfrm>
            <a:off x="785675" y="195765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sp>
        <p:nvSpPr>
          <p:cNvPr id="160" name="Google Shape;160;g34d1cf5dcd5_0_0"/>
          <p:cNvSpPr/>
          <p:nvPr/>
        </p:nvSpPr>
        <p:spPr>
          <a:xfrm>
            <a:off x="0" y="3590833"/>
            <a:ext cx="12192000" cy="1356600"/>
          </a:xfrm>
          <a:prstGeom prst="rect">
            <a:avLst/>
          </a:prstGeom>
          <a:gradFill>
            <a:gsLst>
              <a:gs pos="0">
                <a:srgbClr val="FFFFFF"/>
              </a:gs>
              <a:gs pos="8000">
                <a:srgbClr val="FFFFFF"/>
              </a:gs>
              <a:gs pos="66000">
                <a:srgbClr val="B3D7DB"/>
              </a:gs>
              <a:gs pos="100000">
                <a:srgbClr val="B3D7DB"/>
              </a:gs>
            </a:gsLst>
            <a:lin ang="16200038"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161" name="Google Shape;161;g34d1cf5dcd5_0_0"/>
          <p:cNvGrpSpPr/>
          <p:nvPr/>
        </p:nvGrpSpPr>
        <p:grpSpPr>
          <a:xfrm>
            <a:off x="2670328" y="2130722"/>
            <a:ext cx="2900321" cy="4375197"/>
            <a:chOff x="2670328" y="1311672"/>
            <a:chExt cx="2900321" cy="4375197"/>
          </a:xfrm>
        </p:grpSpPr>
        <p:grpSp>
          <p:nvGrpSpPr>
            <p:cNvPr id="162" name="Google Shape;162;g34d1cf5dcd5_0_0"/>
            <p:cNvGrpSpPr/>
            <p:nvPr/>
          </p:nvGrpSpPr>
          <p:grpSpPr>
            <a:xfrm>
              <a:off x="2670328" y="1311672"/>
              <a:ext cx="2900321" cy="2474661"/>
              <a:chOff x="2670328" y="1311672"/>
              <a:chExt cx="2900321" cy="2474661"/>
            </a:xfrm>
          </p:grpSpPr>
          <p:cxnSp>
            <p:nvCxnSpPr>
              <p:cNvPr id="163" name="Google Shape;163;g34d1cf5dcd5_0_0"/>
              <p:cNvCxnSpPr/>
              <p:nvPr/>
            </p:nvCxnSpPr>
            <p:spPr>
              <a:xfrm flipH="1" rot="10800000">
                <a:off x="3575049" y="1311672"/>
                <a:ext cx="1995600" cy="1735500"/>
              </a:xfrm>
              <a:prstGeom prst="straightConnector1">
                <a:avLst/>
              </a:prstGeom>
              <a:noFill/>
              <a:ln cap="flat" cmpd="sng" w="38100">
                <a:solidFill>
                  <a:srgbClr val="A7C947"/>
                </a:solidFill>
                <a:prstDash val="solid"/>
                <a:round/>
                <a:headEnd len="sm" w="sm" type="none"/>
                <a:tailEnd len="sm" w="sm" type="none"/>
              </a:ln>
            </p:spPr>
          </p:cxnSp>
          <p:grpSp>
            <p:nvGrpSpPr>
              <p:cNvPr id="164" name="Google Shape;164;g34d1cf5dcd5_0_0"/>
              <p:cNvGrpSpPr/>
              <p:nvPr/>
            </p:nvGrpSpPr>
            <p:grpSpPr>
              <a:xfrm>
                <a:off x="2670328" y="2238591"/>
                <a:ext cx="2229001" cy="1547742"/>
                <a:chOff x="2784703" y="1452771"/>
                <a:chExt cx="2229001" cy="1547742"/>
              </a:xfrm>
            </p:grpSpPr>
            <p:sp>
              <p:nvSpPr>
                <p:cNvPr id="165" name="Google Shape;165;g34d1cf5dcd5_0_0"/>
                <p:cNvSpPr/>
                <p:nvPr/>
              </p:nvSpPr>
              <p:spPr>
                <a:xfrm>
                  <a:off x="2784704"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66" name="Google Shape;166;g34d1cf5dcd5_0_0"/>
                <p:cNvSpPr/>
                <p:nvPr/>
              </p:nvSpPr>
              <p:spPr>
                <a:xfrm>
                  <a:off x="3393522"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67" name="Google Shape;167;g34d1cf5dcd5_0_0"/>
                <p:cNvPicPr preferRelativeResize="0"/>
                <p:nvPr/>
              </p:nvPicPr>
              <p:blipFill rotWithShape="1">
                <a:blip r:embed="rId3">
                  <a:alphaModFix/>
                </a:blip>
                <a:srcRect b="0" l="0" r="0" t="0"/>
                <a:stretch/>
              </p:blipFill>
              <p:spPr>
                <a:xfrm>
                  <a:off x="3596580" y="1558249"/>
                  <a:ext cx="605100" cy="724414"/>
                </a:xfrm>
                <a:prstGeom prst="rect">
                  <a:avLst/>
                </a:prstGeom>
                <a:noFill/>
                <a:ln>
                  <a:noFill/>
                </a:ln>
              </p:spPr>
            </p:pic>
            <p:sp>
              <p:nvSpPr>
                <p:cNvPr id="168" name="Google Shape;168;g34d1cf5dcd5_0_0"/>
                <p:cNvSpPr txBox="1"/>
                <p:nvPr/>
              </p:nvSpPr>
              <p:spPr>
                <a:xfrm>
                  <a:off x="2784703" y="2548125"/>
                  <a:ext cx="2228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Support</a:t>
                  </a:r>
                  <a:endParaRPr b="0" i="0" sz="1400" u="none" cap="none" strike="noStrike">
                    <a:solidFill>
                      <a:srgbClr val="000000"/>
                    </a:solidFill>
                    <a:latin typeface="Arial"/>
                    <a:ea typeface="Arial"/>
                    <a:cs typeface="Arial"/>
                    <a:sym typeface="Arial"/>
                  </a:endParaRPr>
                </a:p>
              </p:txBody>
            </p:sp>
          </p:grpSp>
        </p:grpSp>
        <p:sp>
          <p:nvSpPr>
            <p:cNvPr id="169" name="Google Shape;169;g34d1cf5dcd5_0_0"/>
            <p:cNvSpPr txBox="1"/>
            <p:nvPr/>
          </p:nvSpPr>
          <p:spPr>
            <a:xfrm>
              <a:off x="2670328" y="3870669"/>
              <a:ext cx="2228700" cy="181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Establishing best practice in training design, development &amp; delivery</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70" name="Google Shape;170;g34d1cf5dcd5_0_0"/>
          <p:cNvGrpSpPr/>
          <p:nvPr/>
        </p:nvGrpSpPr>
        <p:grpSpPr>
          <a:xfrm>
            <a:off x="4969179" y="2599554"/>
            <a:ext cx="2229003" cy="3413765"/>
            <a:chOff x="4969179" y="1780504"/>
            <a:chExt cx="2229003" cy="3413765"/>
          </a:xfrm>
        </p:grpSpPr>
        <p:grpSp>
          <p:nvGrpSpPr>
            <p:cNvPr id="171" name="Google Shape;171;g34d1cf5dcd5_0_0"/>
            <p:cNvGrpSpPr/>
            <p:nvPr/>
          </p:nvGrpSpPr>
          <p:grpSpPr>
            <a:xfrm>
              <a:off x="4969180" y="1780504"/>
              <a:ext cx="2229002" cy="2005829"/>
              <a:chOff x="4969180" y="1780504"/>
              <a:chExt cx="2229002" cy="2005829"/>
            </a:xfrm>
          </p:grpSpPr>
          <p:cxnSp>
            <p:nvCxnSpPr>
              <p:cNvPr id="172" name="Google Shape;172;g34d1cf5dcd5_0_0"/>
              <p:cNvCxnSpPr/>
              <p:nvPr/>
            </p:nvCxnSpPr>
            <p:spPr>
              <a:xfrm rot="10800000">
                <a:off x="6095306" y="1780504"/>
                <a:ext cx="12600" cy="1481100"/>
              </a:xfrm>
              <a:prstGeom prst="straightConnector1">
                <a:avLst/>
              </a:prstGeom>
              <a:noFill/>
              <a:ln cap="flat" cmpd="sng" w="38100">
                <a:solidFill>
                  <a:srgbClr val="A7C947"/>
                </a:solidFill>
                <a:prstDash val="solid"/>
                <a:round/>
                <a:headEnd len="sm" w="sm" type="none"/>
                <a:tailEnd len="sm" w="sm" type="none"/>
              </a:ln>
            </p:spPr>
          </p:cxnSp>
          <p:grpSp>
            <p:nvGrpSpPr>
              <p:cNvPr id="173" name="Google Shape;173;g34d1cf5dcd5_0_0"/>
              <p:cNvGrpSpPr/>
              <p:nvPr/>
            </p:nvGrpSpPr>
            <p:grpSpPr>
              <a:xfrm>
                <a:off x="4969180" y="2238591"/>
                <a:ext cx="2229002" cy="1547742"/>
                <a:chOff x="5102304" y="1452771"/>
                <a:chExt cx="2229002" cy="1547742"/>
              </a:xfrm>
            </p:grpSpPr>
            <p:sp>
              <p:nvSpPr>
                <p:cNvPr id="174" name="Google Shape;174;g34d1cf5dcd5_0_0"/>
                <p:cNvSpPr/>
                <p:nvPr/>
              </p:nvSpPr>
              <p:spPr>
                <a:xfrm>
                  <a:off x="5102306"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75" name="Google Shape;175;g34d1cf5dcd5_0_0"/>
                <p:cNvSpPr/>
                <p:nvPr/>
              </p:nvSpPr>
              <p:spPr>
                <a:xfrm>
                  <a:off x="5710230"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76" name="Google Shape;176;g34d1cf5dcd5_0_0"/>
                <p:cNvPicPr preferRelativeResize="0"/>
                <p:nvPr/>
              </p:nvPicPr>
              <p:blipFill rotWithShape="1">
                <a:blip r:embed="rId4">
                  <a:alphaModFix/>
                </a:blip>
                <a:srcRect b="0" l="0" r="0" t="0"/>
                <a:stretch/>
              </p:blipFill>
              <p:spPr>
                <a:xfrm>
                  <a:off x="5889604" y="1637872"/>
                  <a:ext cx="660829" cy="608931"/>
                </a:xfrm>
                <a:prstGeom prst="rect">
                  <a:avLst/>
                </a:prstGeom>
                <a:noFill/>
                <a:ln>
                  <a:noFill/>
                </a:ln>
              </p:spPr>
            </p:pic>
            <p:sp>
              <p:nvSpPr>
                <p:cNvPr id="177" name="Google Shape;177;g34d1cf5dcd5_0_0"/>
                <p:cNvSpPr txBox="1"/>
                <p:nvPr/>
              </p:nvSpPr>
              <p:spPr>
                <a:xfrm>
                  <a:off x="5102304"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Training</a:t>
                  </a:r>
                  <a:endParaRPr b="0" i="0" sz="1400" u="none" cap="none" strike="noStrike">
                    <a:solidFill>
                      <a:srgbClr val="000000"/>
                    </a:solidFill>
                    <a:latin typeface="Arial"/>
                    <a:ea typeface="Arial"/>
                    <a:cs typeface="Arial"/>
                    <a:sym typeface="Arial"/>
                  </a:endParaRPr>
                </a:p>
              </p:txBody>
            </p:sp>
          </p:grpSp>
        </p:grpSp>
        <p:sp>
          <p:nvSpPr>
            <p:cNvPr id="178" name="Google Shape;178;g34d1cf5dcd5_0_0"/>
            <p:cNvSpPr txBox="1"/>
            <p:nvPr/>
          </p:nvSpPr>
          <p:spPr>
            <a:xfrm>
              <a:off x="4969179"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In-house development of a catalogue of interdisciplinary short-form trainings </a:t>
              </a:r>
              <a:endParaRPr b="0" i="0" sz="1600" u="none" cap="none" strike="noStrike">
                <a:solidFill>
                  <a:srgbClr val="000000"/>
                </a:solidFill>
                <a:latin typeface="Lato Light"/>
                <a:ea typeface="Lato Light"/>
                <a:cs typeface="Lato Light"/>
                <a:sym typeface="Lato Light"/>
              </a:endParaRPr>
            </a:p>
            <a:p>
              <a:pPr indent="29597" lvl="0" marL="7200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79" name="Google Shape;179;g34d1cf5dcd5_0_0"/>
          <p:cNvGrpSpPr/>
          <p:nvPr/>
        </p:nvGrpSpPr>
        <p:grpSpPr>
          <a:xfrm>
            <a:off x="6779658" y="2293674"/>
            <a:ext cx="2717376" cy="3719645"/>
            <a:chOff x="6779658" y="1474624"/>
            <a:chExt cx="2717376" cy="3719645"/>
          </a:xfrm>
        </p:grpSpPr>
        <p:grpSp>
          <p:nvGrpSpPr>
            <p:cNvPr id="180" name="Google Shape;180;g34d1cf5dcd5_0_0"/>
            <p:cNvGrpSpPr/>
            <p:nvPr/>
          </p:nvGrpSpPr>
          <p:grpSpPr>
            <a:xfrm>
              <a:off x="6779658" y="1474624"/>
              <a:ext cx="2717376" cy="2311709"/>
              <a:chOff x="6779658" y="1474624"/>
              <a:chExt cx="2717376" cy="2311709"/>
            </a:xfrm>
          </p:grpSpPr>
          <p:cxnSp>
            <p:nvCxnSpPr>
              <p:cNvPr id="181" name="Google Shape;181;g34d1cf5dcd5_0_0"/>
              <p:cNvCxnSpPr/>
              <p:nvPr/>
            </p:nvCxnSpPr>
            <p:spPr>
              <a:xfrm rot="10800000">
                <a:off x="6779658" y="1474624"/>
                <a:ext cx="1995600" cy="1735500"/>
              </a:xfrm>
              <a:prstGeom prst="straightConnector1">
                <a:avLst/>
              </a:prstGeom>
              <a:noFill/>
              <a:ln cap="flat" cmpd="sng" w="38100">
                <a:solidFill>
                  <a:srgbClr val="A7C947"/>
                </a:solidFill>
                <a:prstDash val="solid"/>
                <a:round/>
                <a:headEnd len="sm" w="sm" type="none"/>
                <a:tailEnd len="sm" w="sm" type="none"/>
              </a:ln>
            </p:spPr>
          </p:cxnSp>
          <p:grpSp>
            <p:nvGrpSpPr>
              <p:cNvPr id="182" name="Google Shape;182;g34d1cf5dcd5_0_0"/>
              <p:cNvGrpSpPr/>
              <p:nvPr/>
            </p:nvGrpSpPr>
            <p:grpSpPr>
              <a:xfrm>
                <a:off x="7268033" y="2238591"/>
                <a:ext cx="2229001" cy="1547742"/>
                <a:chOff x="7414151" y="1452771"/>
                <a:chExt cx="2229001" cy="1547742"/>
              </a:xfrm>
            </p:grpSpPr>
            <p:sp>
              <p:nvSpPr>
                <p:cNvPr id="183" name="Google Shape;183;g34d1cf5dcd5_0_0"/>
                <p:cNvSpPr/>
                <p:nvPr/>
              </p:nvSpPr>
              <p:spPr>
                <a:xfrm>
                  <a:off x="7414152"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84" name="Google Shape;184;g34d1cf5dcd5_0_0"/>
                <p:cNvSpPr/>
                <p:nvPr/>
              </p:nvSpPr>
              <p:spPr>
                <a:xfrm>
                  <a:off x="8022969"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85" name="Google Shape;185;g34d1cf5dcd5_0_0"/>
                <p:cNvPicPr preferRelativeResize="0"/>
                <p:nvPr/>
              </p:nvPicPr>
              <p:blipFill rotWithShape="1">
                <a:blip r:embed="rId5">
                  <a:alphaModFix/>
                </a:blip>
                <a:srcRect b="0" l="0" r="0" t="0"/>
                <a:stretch/>
              </p:blipFill>
              <p:spPr>
                <a:xfrm>
                  <a:off x="8146883" y="1577844"/>
                  <a:ext cx="774493" cy="657588"/>
                </a:xfrm>
                <a:prstGeom prst="rect">
                  <a:avLst/>
                </a:prstGeom>
                <a:noFill/>
                <a:ln>
                  <a:noFill/>
                </a:ln>
              </p:spPr>
            </p:pic>
            <p:sp>
              <p:nvSpPr>
                <p:cNvPr id="186" name="Google Shape;186;g34d1cf5dcd5_0_0"/>
                <p:cNvSpPr txBox="1"/>
                <p:nvPr/>
              </p:nvSpPr>
              <p:spPr>
                <a:xfrm>
                  <a:off x="7414151"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SE and EU projects</a:t>
                  </a:r>
                  <a:endParaRPr b="0" i="0" sz="1400" u="none" cap="none" strike="noStrike">
                    <a:solidFill>
                      <a:srgbClr val="000000"/>
                    </a:solidFill>
                    <a:latin typeface="Arial"/>
                    <a:ea typeface="Arial"/>
                    <a:cs typeface="Arial"/>
                    <a:sym typeface="Arial"/>
                  </a:endParaRPr>
                </a:p>
              </p:txBody>
            </p:sp>
          </p:grpSp>
        </p:grpSp>
        <p:sp>
          <p:nvSpPr>
            <p:cNvPr id="187" name="Google Shape;187;g34d1cf5dcd5_0_0"/>
            <p:cNvSpPr txBox="1"/>
            <p:nvPr/>
          </p:nvSpPr>
          <p:spPr>
            <a:xfrm>
              <a:off x="7268031"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Linking SciLifeLab training to national and international organizations and initiatives</a:t>
              </a:r>
              <a:endParaRPr b="0" i="0" sz="1600" u="none" cap="none" strike="noStrike">
                <a:solidFill>
                  <a:srgbClr val="000000"/>
                </a:solidFill>
                <a:highlight>
                  <a:srgbClr val="FFFF00"/>
                </a:highlight>
                <a:latin typeface="Lato Light"/>
                <a:ea typeface="Lato Light"/>
                <a:cs typeface="Lato Light"/>
                <a:sym typeface="Lato Light"/>
              </a:endParaRPr>
            </a:p>
          </p:txBody>
        </p:sp>
      </p:grpSp>
      <p:grpSp>
        <p:nvGrpSpPr>
          <p:cNvPr id="188" name="Google Shape;188;g34d1cf5dcd5_0_0"/>
          <p:cNvGrpSpPr/>
          <p:nvPr/>
        </p:nvGrpSpPr>
        <p:grpSpPr>
          <a:xfrm>
            <a:off x="371476" y="1747650"/>
            <a:ext cx="5532725" cy="4265669"/>
            <a:chOff x="371476" y="928600"/>
            <a:chExt cx="5532725" cy="4265669"/>
          </a:xfrm>
        </p:grpSpPr>
        <p:grpSp>
          <p:nvGrpSpPr>
            <p:cNvPr id="189" name="Google Shape;189;g34d1cf5dcd5_0_0"/>
            <p:cNvGrpSpPr/>
            <p:nvPr/>
          </p:nvGrpSpPr>
          <p:grpSpPr>
            <a:xfrm>
              <a:off x="371476" y="928600"/>
              <a:ext cx="5532725" cy="2857733"/>
              <a:chOff x="371476" y="928600"/>
              <a:chExt cx="5532725" cy="2857733"/>
            </a:xfrm>
          </p:grpSpPr>
          <p:cxnSp>
            <p:nvCxnSpPr>
              <p:cNvPr id="190" name="Google Shape;190;g34d1cf5dcd5_0_0"/>
              <p:cNvCxnSpPr/>
              <p:nvPr/>
            </p:nvCxnSpPr>
            <p:spPr>
              <a:xfrm flipH="1">
                <a:off x="1968501" y="928600"/>
                <a:ext cx="3935700" cy="1815600"/>
              </a:xfrm>
              <a:prstGeom prst="straightConnector1">
                <a:avLst/>
              </a:prstGeom>
              <a:noFill/>
              <a:ln cap="flat" cmpd="sng" w="38100">
                <a:solidFill>
                  <a:srgbClr val="A7C947"/>
                </a:solidFill>
                <a:prstDash val="solid"/>
                <a:round/>
                <a:headEnd len="sm" w="sm" type="none"/>
                <a:tailEnd len="sm" w="sm" type="none"/>
              </a:ln>
            </p:spPr>
          </p:cxnSp>
          <p:grpSp>
            <p:nvGrpSpPr>
              <p:cNvPr id="191" name="Google Shape;191;g34d1cf5dcd5_0_0"/>
              <p:cNvGrpSpPr/>
              <p:nvPr/>
            </p:nvGrpSpPr>
            <p:grpSpPr>
              <a:xfrm>
                <a:off x="371476" y="2238591"/>
                <a:ext cx="2229001" cy="1547742"/>
                <a:chOff x="457200" y="1452771"/>
                <a:chExt cx="2229001" cy="1547742"/>
              </a:xfrm>
            </p:grpSpPr>
            <p:sp>
              <p:nvSpPr>
                <p:cNvPr id="192" name="Google Shape;192;g34d1cf5dcd5_0_0"/>
                <p:cNvSpPr/>
                <p:nvPr/>
              </p:nvSpPr>
              <p:spPr>
                <a:xfrm>
                  <a:off x="457200"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93" name="Google Shape;193;g34d1cf5dcd5_0_0"/>
                <p:cNvSpPr/>
                <p:nvPr/>
              </p:nvSpPr>
              <p:spPr>
                <a:xfrm>
                  <a:off x="1043008"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94" name="Google Shape;194;g34d1cf5dcd5_0_0"/>
                <p:cNvPicPr preferRelativeResize="0"/>
                <p:nvPr/>
              </p:nvPicPr>
              <p:blipFill rotWithShape="1">
                <a:blip r:embed="rId6">
                  <a:alphaModFix/>
                </a:blip>
                <a:srcRect b="0" l="0" r="0" t="0"/>
                <a:stretch/>
              </p:blipFill>
              <p:spPr>
                <a:xfrm>
                  <a:off x="1224107" y="1628344"/>
                  <a:ext cx="642007" cy="590876"/>
                </a:xfrm>
                <a:prstGeom prst="rect">
                  <a:avLst/>
                </a:prstGeom>
                <a:noFill/>
                <a:ln>
                  <a:noFill/>
                </a:ln>
              </p:spPr>
            </p:pic>
            <p:sp>
              <p:nvSpPr>
                <p:cNvPr id="195" name="Google Shape;195;g34d1cf5dcd5_0_0"/>
                <p:cNvSpPr txBox="1"/>
                <p:nvPr/>
              </p:nvSpPr>
              <p:spPr>
                <a:xfrm>
                  <a:off x="457201"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Infrastructure</a:t>
                  </a:r>
                  <a:endParaRPr b="0" i="0" sz="1400" u="none" cap="none" strike="noStrike">
                    <a:solidFill>
                      <a:srgbClr val="000000"/>
                    </a:solidFill>
                    <a:latin typeface="Arial"/>
                    <a:ea typeface="Arial"/>
                    <a:cs typeface="Arial"/>
                    <a:sym typeface="Arial"/>
                  </a:endParaRPr>
                </a:p>
              </p:txBody>
            </p:sp>
          </p:grpSp>
        </p:grpSp>
        <p:sp>
          <p:nvSpPr>
            <p:cNvPr id="196" name="Google Shape;196;g34d1cf5dcd5_0_0"/>
            <p:cNvSpPr txBox="1"/>
            <p:nvPr/>
          </p:nvSpPr>
          <p:spPr>
            <a:xfrm>
              <a:off x="371476" y="3870669"/>
              <a:ext cx="22287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Building tools for consolidating and accessing FAIR Open Educational Resources </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grpSp>
        <p:nvGrpSpPr>
          <p:cNvPr id="197" name="Google Shape;197;g34d1cf5dcd5_0_0"/>
          <p:cNvGrpSpPr/>
          <p:nvPr/>
        </p:nvGrpSpPr>
        <p:grpSpPr>
          <a:xfrm>
            <a:off x="6173947" y="1669653"/>
            <a:ext cx="5621940" cy="4097366"/>
            <a:chOff x="6173947" y="850603"/>
            <a:chExt cx="5621940" cy="4097366"/>
          </a:xfrm>
        </p:grpSpPr>
        <p:sp>
          <p:nvSpPr>
            <p:cNvPr id="198" name="Google Shape;198;g34d1cf5dcd5_0_0"/>
            <p:cNvSpPr txBox="1"/>
            <p:nvPr/>
          </p:nvSpPr>
          <p:spPr>
            <a:xfrm>
              <a:off x="9566883" y="3870669"/>
              <a:ext cx="2228700" cy="1077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Lato Light"/>
                  <a:ea typeface="Lato Light"/>
                  <a:cs typeface="Lato Light"/>
                  <a:sym typeface="Lato Light"/>
                </a:rPr>
                <a:t>Upskilling the SciLifeLab community to enable excellence</a:t>
              </a:r>
              <a:endParaRPr b="0" i="0" sz="1600" u="none" cap="none" strike="noStrike">
                <a:solidFill>
                  <a:srgbClr val="000000"/>
                </a:solidFill>
                <a:latin typeface="Lato Light"/>
                <a:ea typeface="Lato Light"/>
                <a:cs typeface="Lato Light"/>
                <a:sym typeface="Lato Light"/>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Lato Light"/>
                <a:ea typeface="Lato Light"/>
                <a:cs typeface="Lato Light"/>
                <a:sym typeface="Lato Light"/>
              </a:endParaRPr>
            </a:p>
          </p:txBody>
        </p:sp>
        <p:grpSp>
          <p:nvGrpSpPr>
            <p:cNvPr id="199" name="Google Shape;199;g34d1cf5dcd5_0_0"/>
            <p:cNvGrpSpPr/>
            <p:nvPr/>
          </p:nvGrpSpPr>
          <p:grpSpPr>
            <a:xfrm>
              <a:off x="6173947" y="850603"/>
              <a:ext cx="5621940" cy="2935730"/>
              <a:chOff x="6173947" y="850603"/>
              <a:chExt cx="5621940" cy="2935730"/>
            </a:xfrm>
          </p:grpSpPr>
          <p:cxnSp>
            <p:nvCxnSpPr>
              <p:cNvPr id="200" name="Google Shape;200;g34d1cf5dcd5_0_0"/>
              <p:cNvCxnSpPr/>
              <p:nvPr/>
            </p:nvCxnSpPr>
            <p:spPr>
              <a:xfrm rot="10800000">
                <a:off x="6173947" y="850603"/>
                <a:ext cx="3935700" cy="1815600"/>
              </a:xfrm>
              <a:prstGeom prst="straightConnector1">
                <a:avLst/>
              </a:prstGeom>
              <a:noFill/>
              <a:ln cap="flat" cmpd="sng" w="38100">
                <a:solidFill>
                  <a:srgbClr val="A7C947"/>
                </a:solidFill>
                <a:prstDash val="solid"/>
                <a:round/>
                <a:headEnd len="sm" w="sm" type="none"/>
                <a:tailEnd len="sm" w="sm" type="none"/>
              </a:ln>
            </p:spPr>
          </p:cxnSp>
          <p:grpSp>
            <p:nvGrpSpPr>
              <p:cNvPr id="201" name="Google Shape;201;g34d1cf5dcd5_0_0"/>
              <p:cNvGrpSpPr/>
              <p:nvPr/>
            </p:nvGrpSpPr>
            <p:grpSpPr>
              <a:xfrm>
                <a:off x="9566886" y="2238591"/>
                <a:ext cx="2229001" cy="1547742"/>
                <a:chOff x="9766914" y="1452771"/>
                <a:chExt cx="2229001" cy="1547742"/>
              </a:xfrm>
            </p:grpSpPr>
            <p:sp>
              <p:nvSpPr>
                <p:cNvPr id="202" name="Google Shape;202;g34d1cf5dcd5_0_0"/>
                <p:cNvSpPr/>
                <p:nvPr/>
              </p:nvSpPr>
              <p:spPr>
                <a:xfrm>
                  <a:off x="9766915" y="1709313"/>
                  <a:ext cx="2229000" cy="1291200"/>
                </a:xfrm>
                <a:prstGeom prst="roundRect">
                  <a:avLst>
                    <a:gd fmla="val 7693" name="adj"/>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3" name="Google Shape;203;g34d1cf5dcd5_0_0"/>
                <p:cNvSpPr/>
                <p:nvPr/>
              </p:nvSpPr>
              <p:spPr>
                <a:xfrm>
                  <a:off x="10375732" y="1452771"/>
                  <a:ext cx="1011300" cy="1011300"/>
                </a:xfrm>
                <a:prstGeom prst="ellipse">
                  <a:avLst/>
                </a:prstGeom>
                <a:solidFill>
                  <a:srgbClr val="045C6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04" name="Google Shape;204;g34d1cf5dcd5_0_0"/>
                <p:cNvSpPr txBox="1"/>
                <p:nvPr/>
              </p:nvSpPr>
              <p:spPr>
                <a:xfrm>
                  <a:off x="9766914" y="2548125"/>
                  <a:ext cx="2229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Lato Light"/>
                      <a:ea typeface="Lato Light"/>
                      <a:cs typeface="Lato Light"/>
                      <a:sym typeface="Lato Light"/>
                    </a:rPr>
                    <a:t>Community-building</a:t>
                  </a:r>
                  <a:endParaRPr b="0" i="0" sz="1400" u="none" cap="none" strike="noStrike">
                    <a:solidFill>
                      <a:srgbClr val="000000"/>
                    </a:solidFill>
                    <a:latin typeface="Arial"/>
                    <a:ea typeface="Arial"/>
                    <a:cs typeface="Arial"/>
                    <a:sym typeface="Arial"/>
                  </a:endParaRPr>
                </a:p>
              </p:txBody>
            </p:sp>
            <p:pic>
              <p:nvPicPr>
                <p:cNvPr id="205" name="Google Shape;205;g34d1cf5dcd5_0_0"/>
                <p:cNvPicPr preferRelativeResize="0"/>
                <p:nvPr/>
              </p:nvPicPr>
              <p:blipFill rotWithShape="1">
                <a:blip r:embed="rId7">
                  <a:alphaModFix/>
                </a:blip>
                <a:srcRect b="0" l="0" r="0" t="0"/>
                <a:stretch/>
              </p:blipFill>
              <p:spPr>
                <a:xfrm>
                  <a:off x="10544176" y="1534983"/>
                  <a:ext cx="671132" cy="792001"/>
                </a:xfrm>
                <a:prstGeom prst="rect">
                  <a:avLst/>
                </a:prstGeom>
                <a:noFill/>
                <a:ln>
                  <a:noFill/>
                </a:ln>
              </p:spPr>
            </p:pic>
          </p:grpSp>
        </p:grpSp>
      </p:grpSp>
      <p:grpSp>
        <p:nvGrpSpPr>
          <p:cNvPr id="206" name="Google Shape;206;g34d1cf5dcd5_0_0"/>
          <p:cNvGrpSpPr/>
          <p:nvPr/>
        </p:nvGrpSpPr>
        <p:grpSpPr>
          <a:xfrm>
            <a:off x="4149094" y="1592014"/>
            <a:ext cx="3851700" cy="1162800"/>
            <a:chOff x="4149094" y="772964"/>
            <a:chExt cx="3851700" cy="1162800"/>
          </a:xfrm>
        </p:grpSpPr>
        <p:sp>
          <p:nvSpPr>
            <p:cNvPr id="207" name="Google Shape;207;g34d1cf5dcd5_0_0"/>
            <p:cNvSpPr/>
            <p:nvPr/>
          </p:nvSpPr>
          <p:spPr>
            <a:xfrm>
              <a:off x="4149094" y="772964"/>
              <a:ext cx="3851700" cy="1162800"/>
            </a:xfrm>
            <a:prstGeom prst="roundRect">
              <a:avLst>
                <a:gd fmla="val 16667" name="adj"/>
              </a:avLst>
            </a:prstGeom>
            <a:solidFill>
              <a:srgbClr val="045C64"/>
            </a:solidFill>
            <a:ln cap="flat" cmpd="sng" w="28575">
              <a:solidFill>
                <a:srgbClr val="A7C94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8" name="Google Shape;208;g34d1cf5dcd5_0_0"/>
            <p:cNvSpPr txBox="1"/>
            <p:nvPr/>
          </p:nvSpPr>
          <p:spPr>
            <a:xfrm>
              <a:off x="4727068" y="785826"/>
              <a:ext cx="2713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FFFFFF"/>
                  </a:solidFill>
                  <a:latin typeface="Lato Light"/>
                  <a:ea typeface="Lato Light"/>
                  <a:cs typeface="Lato Light"/>
                  <a:sym typeface="Lato Light"/>
                </a:rPr>
                <a:t>Training Hub</a:t>
              </a:r>
              <a:endParaRPr b="0" i="0" sz="1400" u="none" cap="none" strike="noStrike">
                <a:solidFill>
                  <a:srgbClr val="000000"/>
                </a:solidFill>
                <a:latin typeface="Lato Light"/>
                <a:ea typeface="Lato Light"/>
                <a:cs typeface="Lato Light"/>
                <a:sym typeface="Lato Light"/>
              </a:endParaRPr>
            </a:p>
          </p:txBody>
        </p:sp>
      </p:grpSp>
      <p:sp>
        <p:nvSpPr>
          <p:cNvPr id="209" name="Google Shape;209;g34d1cf5dcd5_0_0"/>
          <p:cNvSpPr txBox="1"/>
          <p:nvPr/>
        </p:nvSpPr>
        <p:spPr>
          <a:xfrm>
            <a:off x="4149100" y="2099750"/>
            <a:ext cx="38517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Lato Light"/>
                <a:ea typeface="Lato Light"/>
                <a:cs typeface="Lato Light"/>
                <a:sym typeface="Lato Light"/>
              </a:rPr>
              <a:t>Sustainable, cutting-edge, short-form training for technology- and data-driven life sciences </a:t>
            </a:r>
            <a:endParaRPr b="0" i="0" sz="14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4e24684e76_0_10"/>
          <p:cNvSpPr/>
          <p:nvPr/>
        </p:nvSpPr>
        <p:spPr>
          <a:xfrm>
            <a:off x="38864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400"/>
              <a:buFont typeface="Arial"/>
              <a:buNone/>
            </a:pPr>
            <a:r>
              <a:rPr b="0" i="0" lang="en-US" sz="1200" u="none" cap="none" strike="noStrike">
                <a:solidFill>
                  <a:schemeClr val="lt1"/>
                </a:solidFill>
                <a:latin typeface="Lato"/>
                <a:ea typeface="Lato"/>
                <a:cs typeface="Lato"/>
                <a:sym typeface="Lato"/>
              </a:rPr>
              <a:t>Providing infrastructure in the form of services, computational resources, tools and guidelines to the life science community.</a:t>
            </a:r>
            <a:endParaRPr b="0" i="0" sz="1200" u="none" cap="none" strike="noStrike">
              <a:solidFill>
                <a:srgbClr val="FFFFFF"/>
              </a:solidFill>
              <a:latin typeface="Lato"/>
              <a:ea typeface="Lato"/>
              <a:cs typeface="Lato"/>
              <a:sym typeface="Lato"/>
            </a:endParaRPr>
          </a:p>
        </p:txBody>
      </p:sp>
      <p:sp>
        <p:nvSpPr>
          <p:cNvPr id="216" name="Google Shape;216;g34e24684e76_0_10"/>
          <p:cNvSpPr txBox="1"/>
          <p:nvPr>
            <p:ph type="title"/>
          </p:nvPr>
        </p:nvSpPr>
        <p:spPr>
          <a:xfrm>
            <a:off x="838200" y="365125"/>
            <a:ext cx="9907800" cy="830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620"/>
              <a:buNone/>
            </a:pPr>
            <a:r>
              <a:rPr lang="en-US" sz="3460">
                <a:latin typeface="Lora"/>
                <a:ea typeface="Lora"/>
                <a:cs typeface="Lora"/>
                <a:sym typeface="Lora"/>
              </a:rPr>
              <a:t>Who are we? - National Bioinformatics Infrastructure Sweden</a:t>
            </a:r>
            <a:endParaRPr sz="3460">
              <a:latin typeface="Lora"/>
              <a:ea typeface="Lora"/>
              <a:cs typeface="Lora"/>
              <a:sym typeface="Lora"/>
            </a:endParaRPr>
          </a:p>
        </p:txBody>
      </p:sp>
      <p:sp>
        <p:nvSpPr>
          <p:cNvPr id="217" name="Google Shape;217;g34e24684e76_0_1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18" name="Google Shape;218;g34e24684e76_0_10"/>
          <p:cNvCxnSpPr/>
          <p:nvPr/>
        </p:nvCxnSpPr>
        <p:spPr>
          <a:xfrm flipH="1" rot="10800000">
            <a:off x="889350" y="1293838"/>
            <a:ext cx="9435900" cy="14100"/>
          </a:xfrm>
          <a:prstGeom prst="straightConnector1">
            <a:avLst/>
          </a:prstGeom>
          <a:noFill/>
          <a:ln cap="flat" cmpd="sng" w="9525">
            <a:solidFill>
              <a:schemeClr val="dk2"/>
            </a:solidFill>
            <a:prstDash val="solid"/>
            <a:round/>
            <a:headEnd len="sm" w="sm" type="none"/>
            <a:tailEnd len="sm" w="sm" type="none"/>
          </a:ln>
        </p:spPr>
      </p:cxnSp>
      <p:sp>
        <p:nvSpPr>
          <p:cNvPr id="219" name="Google Shape;219;g34e24684e76_0_10"/>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20" name="Google Shape;220;g34e24684e76_0_10"/>
          <p:cNvPicPr preferRelativeResize="0"/>
          <p:nvPr/>
        </p:nvPicPr>
        <p:blipFill rotWithShape="1">
          <a:blip r:embed="rId3">
            <a:alphaModFix/>
          </a:blip>
          <a:srcRect b="30335" l="0" r="0" t="38418"/>
          <a:stretch/>
        </p:blipFill>
        <p:spPr>
          <a:xfrm>
            <a:off x="647700" y="1340175"/>
            <a:ext cx="10915154" cy="1432162"/>
          </a:xfrm>
          <a:prstGeom prst="rect">
            <a:avLst/>
          </a:prstGeom>
          <a:noFill/>
          <a:ln>
            <a:noFill/>
          </a:ln>
        </p:spPr>
      </p:pic>
      <p:grpSp>
        <p:nvGrpSpPr>
          <p:cNvPr id="221" name="Google Shape;221;g34e24684e76_0_10"/>
          <p:cNvGrpSpPr/>
          <p:nvPr/>
        </p:nvGrpSpPr>
        <p:grpSpPr>
          <a:xfrm>
            <a:off x="9858363" y="2590315"/>
            <a:ext cx="2303159" cy="3966645"/>
            <a:chOff x="10032616" y="3903061"/>
            <a:chExt cx="1236728" cy="2321440"/>
          </a:xfrm>
        </p:grpSpPr>
        <p:grpSp>
          <p:nvGrpSpPr>
            <p:cNvPr id="222" name="Google Shape;222;g34e24684e76_0_10"/>
            <p:cNvGrpSpPr/>
            <p:nvPr/>
          </p:nvGrpSpPr>
          <p:grpSpPr>
            <a:xfrm>
              <a:off x="10225867" y="3903061"/>
              <a:ext cx="1043477" cy="2321440"/>
              <a:chOff x="3663675" y="-2"/>
              <a:chExt cx="2957700" cy="6580045"/>
            </a:xfrm>
          </p:grpSpPr>
          <p:pic>
            <p:nvPicPr>
              <p:cNvPr id="223" name="Google Shape;223;g34e24684e76_0_10"/>
              <p:cNvPicPr preferRelativeResize="0"/>
              <p:nvPr/>
            </p:nvPicPr>
            <p:blipFill rotWithShape="1">
              <a:blip r:embed="rId4">
                <a:alphaModFix amt="70000"/>
              </a:blip>
              <a:srcRect b="0" l="33354" r="32932" t="0"/>
              <a:stretch/>
            </p:blipFill>
            <p:spPr>
              <a:xfrm>
                <a:off x="3663675" y="-2"/>
                <a:ext cx="2957700" cy="6580045"/>
              </a:xfrm>
              <a:prstGeom prst="rect">
                <a:avLst/>
              </a:prstGeom>
              <a:noFill/>
              <a:ln>
                <a:noFill/>
              </a:ln>
            </p:spPr>
          </p:pic>
          <p:sp>
            <p:nvSpPr>
              <p:cNvPr id="224" name="Google Shape;224;g34e24684e76_0_10"/>
              <p:cNvSpPr/>
              <p:nvPr/>
            </p:nvSpPr>
            <p:spPr>
              <a:xfrm>
                <a:off x="4200315" y="6083610"/>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5" name="Google Shape;225;g34e24684e76_0_10"/>
              <p:cNvSpPr/>
              <p:nvPr/>
            </p:nvSpPr>
            <p:spPr>
              <a:xfrm>
                <a:off x="3966709" y="5389468"/>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6" name="Google Shape;226;g34e24684e76_0_10"/>
              <p:cNvSpPr/>
              <p:nvPr/>
            </p:nvSpPr>
            <p:spPr>
              <a:xfrm>
                <a:off x="5068602" y="4575183"/>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7" name="Google Shape;227;g34e24684e76_0_10"/>
              <p:cNvSpPr/>
              <p:nvPr/>
            </p:nvSpPr>
            <p:spPr>
              <a:xfrm>
                <a:off x="5149199" y="4720909"/>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8" name="Google Shape;228;g34e24684e76_0_10"/>
              <p:cNvSpPr/>
              <p:nvPr/>
            </p:nvSpPr>
            <p:spPr>
              <a:xfrm>
                <a:off x="4693722" y="5061305"/>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29" name="Google Shape;229;g34e24684e76_0_10"/>
              <p:cNvSpPr/>
              <p:nvPr/>
            </p:nvSpPr>
            <p:spPr>
              <a:xfrm>
                <a:off x="5614794" y="2805341"/>
                <a:ext cx="93900" cy="93900"/>
              </a:xfrm>
              <a:prstGeom prst="ellipse">
                <a:avLst/>
              </a:prstGeom>
              <a:solidFill>
                <a:srgbClr val="A7C947"/>
              </a:solidFill>
              <a:ln cap="flat" cmpd="sng" w="12700">
                <a:solidFill>
                  <a:srgbClr val="5959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grpSp>
        <p:sp>
          <p:nvSpPr>
            <p:cNvPr id="230" name="Google Shape;230;g34e24684e76_0_10"/>
            <p:cNvSpPr txBox="1"/>
            <p:nvPr/>
          </p:nvSpPr>
          <p:spPr>
            <a:xfrm>
              <a:off x="10901429" y="4831690"/>
              <a:ext cx="2808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Umeå</a:t>
              </a:r>
              <a:endParaRPr b="0" i="1" sz="700" u="none" cap="none" strike="noStrike">
                <a:solidFill>
                  <a:srgbClr val="000000"/>
                </a:solidFill>
                <a:latin typeface="Arial"/>
                <a:ea typeface="Arial"/>
                <a:cs typeface="Arial"/>
                <a:sym typeface="Arial"/>
              </a:endParaRPr>
            </a:p>
          </p:txBody>
        </p:sp>
        <p:sp>
          <p:nvSpPr>
            <p:cNvPr id="231" name="Google Shape;231;g34e24684e76_0_10"/>
            <p:cNvSpPr txBox="1"/>
            <p:nvPr/>
          </p:nvSpPr>
          <p:spPr>
            <a:xfrm>
              <a:off x="10727667" y="5547385"/>
              <a:ext cx="3735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Stockholm</a:t>
              </a:r>
              <a:endParaRPr b="0" i="0" sz="1500" u="none" cap="none" strike="noStrike">
                <a:solidFill>
                  <a:srgbClr val="000000"/>
                </a:solidFill>
                <a:latin typeface="Arial"/>
                <a:ea typeface="Arial"/>
                <a:cs typeface="Arial"/>
                <a:sym typeface="Arial"/>
              </a:endParaRPr>
            </a:p>
          </p:txBody>
        </p:sp>
        <p:sp>
          <p:nvSpPr>
            <p:cNvPr id="232" name="Google Shape;232;g34e24684e76_0_10"/>
            <p:cNvSpPr txBox="1"/>
            <p:nvPr/>
          </p:nvSpPr>
          <p:spPr>
            <a:xfrm>
              <a:off x="10759383" y="5448304"/>
              <a:ext cx="2823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Uppsala</a:t>
              </a:r>
              <a:endParaRPr b="0" i="0" sz="1500" u="none" cap="none" strike="noStrike">
                <a:solidFill>
                  <a:srgbClr val="000000"/>
                </a:solidFill>
                <a:latin typeface="Arial"/>
                <a:ea typeface="Arial"/>
                <a:cs typeface="Arial"/>
                <a:sym typeface="Arial"/>
              </a:endParaRPr>
            </a:p>
          </p:txBody>
        </p:sp>
        <p:sp>
          <p:nvSpPr>
            <p:cNvPr id="233" name="Google Shape;233;g34e24684e76_0_10"/>
            <p:cNvSpPr txBox="1"/>
            <p:nvPr/>
          </p:nvSpPr>
          <p:spPr>
            <a:xfrm>
              <a:off x="10648551" y="5649241"/>
              <a:ext cx="3123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Linköping</a:t>
              </a:r>
              <a:endParaRPr b="0" i="0" sz="1500" u="none" cap="none" strike="noStrike">
                <a:solidFill>
                  <a:srgbClr val="000000"/>
                </a:solidFill>
                <a:latin typeface="Arial"/>
                <a:ea typeface="Arial"/>
                <a:cs typeface="Arial"/>
                <a:sym typeface="Arial"/>
              </a:endParaRPr>
            </a:p>
          </p:txBody>
        </p:sp>
        <p:sp>
          <p:nvSpPr>
            <p:cNvPr id="234" name="Google Shape;234;g34e24684e76_0_10"/>
            <p:cNvSpPr txBox="1"/>
            <p:nvPr/>
          </p:nvSpPr>
          <p:spPr>
            <a:xfrm>
              <a:off x="10032616" y="5713587"/>
              <a:ext cx="3090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Göteborg</a:t>
              </a:r>
              <a:endParaRPr b="0" i="1" sz="700" u="none" cap="none" strike="noStrike">
                <a:solidFill>
                  <a:srgbClr val="000000"/>
                </a:solidFill>
                <a:latin typeface="Arial"/>
                <a:ea typeface="Arial"/>
                <a:cs typeface="Arial"/>
                <a:sym typeface="Arial"/>
              </a:endParaRPr>
            </a:p>
          </p:txBody>
        </p:sp>
        <p:sp>
          <p:nvSpPr>
            <p:cNvPr id="235" name="Google Shape;235;g34e24684e76_0_10"/>
            <p:cNvSpPr txBox="1"/>
            <p:nvPr/>
          </p:nvSpPr>
          <p:spPr>
            <a:xfrm>
              <a:off x="10227448" y="6047508"/>
              <a:ext cx="211500" cy="11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000000"/>
                  </a:solidFill>
                  <a:latin typeface="Arial"/>
                  <a:ea typeface="Arial"/>
                  <a:cs typeface="Arial"/>
                  <a:sym typeface="Arial"/>
                </a:rPr>
                <a:t>Lund</a:t>
              </a:r>
              <a:endParaRPr b="0" i="0" sz="1500" u="none" cap="none" strike="noStrike">
                <a:solidFill>
                  <a:srgbClr val="000000"/>
                </a:solidFill>
                <a:latin typeface="Arial"/>
                <a:ea typeface="Arial"/>
                <a:cs typeface="Arial"/>
                <a:sym typeface="Arial"/>
              </a:endParaRPr>
            </a:p>
          </p:txBody>
        </p:sp>
      </p:grpSp>
      <p:pic>
        <p:nvPicPr>
          <p:cNvPr id="236" name="Google Shape;236;g34e24684e76_0_10"/>
          <p:cNvPicPr preferRelativeResize="0"/>
          <p:nvPr/>
        </p:nvPicPr>
        <p:blipFill rotWithShape="1">
          <a:blip r:embed="rId5">
            <a:alphaModFix/>
          </a:blip>
          <a:srcRect b="4997" l="30942" r="1453" t="81406"/>
          <a:stretch/>
        </p:blipFill>
        <p:spPr>
          <a:xfrm>
            <a:off x="2792625" y="6353275"/>
            <a:ext cx="6181473" cy="414600"/>
          </a:xfrm>
          <a:prstGeom prst="rect">
            <a:avLst/>
          </a:prstGeom>
          <a:noFill/>
          <a:ln>
            <a:noFill/>
          </a:ln>
        </p:spPr>
      </p:pic>
      <p:pic>
        <p:nvPicPr>
          <p:cNvPr id="237" name="Google Shape;237;g34e24684e76_0_10"/>
          <p:cNvPicPr preferRelativeResize="0"/>
          <p:nvPr/>
        </p:nvPicPr>
        <p:blipFill rotWithShape="1">
          <a:blip r:embed="rId6">
            <a:alphaModFix/>
          </a:blip>
          <a:srcRect b="0" l="0" r="0" t="0"/>
          <a:stretch/>
        </p:blipFill>
        <p:spPr>
          <a:xfrm>
            <a:off x="9228552" y="6187737"/>
            <a:ext cx="864900" cy="597026"/>
          </a:xfrm>
          <a:prstGeom prst="rect">
            <a:avLst/>
          </a:prstGeom>
          <a:noFill/>
          <a:ln>
            <a:noFill/>
          </a:ln>
        </p:spPr>
      </p:pic>
      <p:sp>
        <p:nvSpPr>
          <p:cNvPr id="238" name="Google Shape;238;g34e24684e76_0_10"/>
          <p:cNvSpPr txBox="1"/>
          <p:nvPr/>
        </p:nvSpPr>
        <p:spPr>
          <a:xfrm>
            <a:off x="407075" y="2772325"/>
            <a:ext cx="9021300" cy="1015800"/>
          </a:xfrm>
          <a:prstGeom prst="rect">
            <a:avLst/>
          </a:prstGeom>
          <a:noFill/>
          <a:ln>
            <a:noFill/>
          </a:ln>
        </p:spPr>
        <p:txBody>
          <a:bodyPr anchorCtr="0" anchor="t" bIns="365750"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Lato"/>
                <a:ea typeface="Lato"/>
                <a:cs typeface="Lato"/>
                <a:sym typeface="Lato"/>
              </a:rPr>
              <a:t>‘To help the Swedish research community build knowledge in analyzing large and complex omics data and to make bioinformatics easily accessible for life science researchers’</a:t>
            </a:r>
            <a:endParaRPr b="0" i="0" sz="1900" u="none" cap="none" strike="noStrike">
              <a:solidFill>
                <a:srgbClr val="000000"/>
              </a:solidFill>
              <a:latin typeface="Lato"/>
              <a:ea typeface="Lato"/>
              <a:cs typeface="Lato"/>
              <a:sym typeface="Lato"/>
            </a:endParaRPr>
          </a:p>
        </p:txBody>
      </p:sp>
      <p:sp>
        <p:nvSpPr>
          <p:cNvPr id="239" name="Google Shape;239;g34e24684e76_0_10"/>
          <p:cNvSpPr/>
          <p:nvPr/>
        </p:nvSpPr>
        <p:spPr>
          <a:xfrm>
            <a:off x="13451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400"/>
              <a:buFont typeface="Arial"/>
              <a:buNone/>
            </a:pPr>
            <a:r>
              <a:rPr b="0" i="0" lang="en-US" sz="1300" u="none" cap="none" strike="noStrike">
                <a:solidFill>
                  <a:schemeClr val="lt1"/>
                </a:solidFill>
                <a:latin typeface="Lato"/>
                <a:ea typeface="Lato"/>
                <a:cs typeface="Lato"/>
                <a:sym typeface="Lato"/>
              </a:rPr>
              <a:t>Support services ranging from short consultations to long-term embedded bioinformaticians.</a:t>
            </a:r>
            <a:endParaRPr b="0" i="0" sz="1300" u="none" cap="none" strike="noStrike">
              <a:solidFill>
                <a:srgbClr val="000000"/>
              </a:solidFill>
              <a:latin typeface="Lato"/>
              <a:ea typeface="Lato"/>
              <a:cs typeface="Lato"/>
              <a:sym typeface="Lato"/>
            </a:endParaRPr>
          </a:p>
        </p:txBody>
      </p:sp>
      <p:sp>
        <p:nvSpPr>
          <p:cNvPr id="240" name="Google Shape;240;g34e24684e76_0_10"/>
          <p:cNvSpPr/>
          <p:nvPr/>
        </p:nvSpPr>
        <p:spPr>
          <a:xfrm>
            <a:off x="6427775" y="3543175"/>
            <a:ext cx="2062500" cy="2561400"/>
          </a:xfrm>
          <a:prstGeom prst="roundRect">
            <a:avLst>
              <a:gd fmla="val 16667" name="adj"/>
            </a:avLst>
          </a:prstGeom>
          <a:solidFill>
            <a:srgbClr val="A7C94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300" u="none" cap="none" strike="noStrike">
                <a:solidFill>
                  <a:schemeClr val="lt1"/>
                </a:solidFill>
                <a:latin typeface="Lato"/>
                <a:ea typeface="Lato"/>
                <a:cs typeface="Lato"/>
                <a:sym typeface="Lato"/>
              </a:rPr>
              <a:t>Training events in advanced and applied bioinformatics.</a:t>
            </a:r>
            <a:endParaRPr b="0" i="0" sz="1300" u="none" cap="none" strike="noStrike">
              <a:solidFill>
                <a:schemeClr val="lt1"/>
              </a:solidFill>
              <a:latin typeface="Lato"/>
              <a:ea typeface="Lato"/>
              <a:cs typeface="Lato"/>
              <a:sym typeface="Lato"/>
            </a:endParaRPr>
          </a:p>
        </p:txBody>
      </p:sp>
      <p:pic>
        <p:nvPicPr>
          <p:cNvPr descr="Group brainstorm" id="241" name="Google Shape;241;g34e24684e76_0_10"/>
          <p:cNvPicPr preferRelativeResize="0"/>
          <p:nvPr/>
        </p:nvPicPr>
        <p:blipFill rotWithShape="1">
          <a:blip r:embed="rId7">
            <a:alphaModFix/>
          </a:blip>
          <a:srcRect b="0" l="0" r="0" t="0"/>
          <a:stretch/>
        </p:blipFill>
        <p:spPr>
          <a:xfrm>
            <a:off x="2033492" y="3594460"/>
            <a:ext cx="685800" cy="685800"/>
          </a:xfrm>
          <a:prstGeom prst="rect">
            <a:avLst/>
          </a:prstGeom>
          <a:noFill/>
          <a:ln>
            <a:noFill/>
          </a:ln>
        </p:spPr>
      </p:pic>
      <p:pic>
        <p:nvPicPr>
          <p:cNvPr descr="Single gear" id="242" name="Google Shape;242;g34e24684e76_0_10"/>
          <p:cNvPicPr preferRelativeResize="0"/>
          <p:nvPr/>
        </p:nvPicPr>
        <p:blipFill rotWithShape="1">
          <a:blip r:embed="rId8">
            <a:alphaModFix/>
          </a:blip>
          <a:srcRect b="0" l="0" r="0" t="0"/>
          <a:stretch/>
        </p:blipFill>
        <p:spPr>
          <a:xfrm>
            <a:off x="4574824" y="3594460"/>
            <a:ext cx="685800" cy="685800"/>
          </a:xfrm>
          <a:prstGeom prst="rect">
            <a:avLst/>
          </a:prstGeom>
          <a:noFill/>
          <a:ln>
            <a:noFill/>
          </a:ln>
        </p:spPr>
      </p:pic>
      <p:pic>
        <p:nvPicPr>
          <p:cNvPr descr="Graduation cap" id="243" name="Google Shape;243;g34e24684e76_0_10"/>
          <p:cNvPicPr preferRelativeResize="0"/>
          <p:nvPr/>
        </p:nvPicPr>
        <p:blipFill rotWithShape="1">
          <a:blip r:embed="rId9">
            <a:alphaModFix/>
          </a:blip>
          <a:srcRect b="0" l="0" r="0" t="0"/>
          <a:stretch/>
        </p:blipFill>
        <p:spPr>
          <a:xfrm>
            <a:off x="7116125" y="3594460"/>
            <a:ext cx="685800" cy="685800"/>
          </a:xfrm>
          <a:prstGeom prst="rect">
            <a:avLst/>
          </a:prstGeom>
          <a:noFill/>
          <a:ln>
            <a:noFill/>
          </a:ln>
        </p:spPr>
      </p:pic>
      <p:sp>
        <p:nvSpPr>
          <p:cNvPr id="244" name="Google Shape;244;g34e24684e76_0_10"/>
          <p:cNvSpPr txBox="1"/>
          <p:nvPr/>
        </p:nvSpPr>
        <p:spPr>
          <a:xfrm>
            <a:off x="1778498" y="4256350"/>
            <a:ext cx="11958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Support</a:t>
            </a:r>
            <a:endParaRPr b="0" i="0" sz="1100" u="none" cap="none" strike="noStrike">
              <a:solidFill>
                <a:srgbClr val="000000"/>
              </a:solidFill>
              <a:latin typeface="Arial"/>
              <a:ea typeface="Arial"/>
              <a:cs typeface="Arial"/>
              <a:sym typeface="Arial"/>
            </a:endParaRPr>
          </a:p>
        </p:txBody>
      </p:sp>
      <p:sp>
        <p:nvSpPr>
          <p:cNvPr id="245" name="Google Shape;245;g34e24684e76_0_10"/>
          <p:cNvSpPr txBox="1"/>
          <p:nvPr/>
        </p:nvSpPr>
        <p:spPr>
          <a:xfrm>
            <a:off x="6861124" y="4256350"/>
            <a:ext cx="11958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Training</a:t>
            </a:r>
            <a:endParaRPr b="0" i="0" sz="1100" u="none" cap="none" strike="noStrike">
              <a:solidFill>
                <a:srgbClr val="000000"/>
              </a:solidFill>
              <a:latin typeface="Arial"/>
              <a:ea typeface="Arial"/>
              <a:cs typeface="Arial"/>
              <a:sym typeface="Arial"/>
            </a:endParaRPr>
          </a:p>
        </p:txBody>
      </p:sp>
      <p:sp>
        <p:nvSpPr>
          <p:cNvPr id="246" name="Google Shape;246;g34e24684e76_0_10"/>
          <p:cNvSpPr txBox="1"/>
          <p:nvPr/>
        </p:nvSpPr>
        <p:spPr>
          <a:xfrm>
            <a:off x="4045751" y="4256350"/>
            <a:ext cx="17625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Lora"/>
                <a:ea typeface="Lora"/>
                <a:cs typeface="Lora"/>
                <a:sym typeface="Lora"/>
              </a:rPr>
              <a:t>Infrastructure</a:t>
            </a:r>
            <a:endParaRPr b="0" i="0" sz="1100" u="none" cap="none" strike="noStrike">
              <a:solidFill>
                <a:srgbClr val="000000"/>
              </a:solidFill>
              <a:latin typeface="Lora"/>
              <a:ea typeface="Lora"/>
              <a:cs typeface="Lora"/>
              <a:sym typeface="Lora"/>
            </a:endParaRPr>
          </a:p>
        </p:txBody>
      </p:sp>
      <p:pic>
        <p:nvPicPr>
          <p:cNvPr id="247" name="Google Shape;247;g34e24684e76_0_10">
            <a:hlinkClick r:id="rId10"/>
          </p:cNvPr>
          <p:cNvPicPr preferRelativeResize="0"/>
          <p:nvPr/>
        </p:nvPicPr>
        <p:blipFill rotWithShape="1">
          <a:blip r:embed="rId11">
            <a:alphaModFix/>
          </a:blip>
          <a:srcRect b="26041" l="0" r="0" t="0"/>
          <a:stretch/>
        </p:blipFill>
        <p:spPr>
          <a:xfrm>
            <a:off x="9725651" y="377104"/>
            <a:ext cx="2048575" cy="808504"/>
          </a:xfrm>
          <a:prstGeom prst="rect">
            <a:avLst/>
          </a:prstGeom>
          <a:noFill/>
          <a:ln>
            <a:noFill/>
          </a:ln>
        </p:spPr>
      </p:pic>
      <p:pic>
        <p:nvPicPr>
          <p:cNvPr id="248" name="Google Shape;248;g34e24684e76_0_10"/>
          <p:cNvPicPr preferRelativeResize="0"/>
          <p:nvPr/>
        </p:nvPicPr>
        <p:blipFill rotWithShape="1">
          <a:blip r:embed="rId12">
            <a:alphaModFix/>
          </a:blip>
          <a:srcRect b="0" l="0" r="0" t="0"/>
          <a:stretch/>
        </p:blipFill>
        <p:spPr>
          <a:xfrm>
            <a:off x="352000" y="6262041"/>
            <a:ext cx="2062500" cy="448409"/>
          </a:xfrm>
          <a:prstGeom prst="rect">
            <a:avLst/>
          </a:prstGeom>
          <a:noFill/>
          <a:ln>
            <a:noFill/>
          </a:ln>
        </p:spPr>
      </p:pic>
      <p:grpSp>
        <p:nvGrpSpPr>
          <p:cNvPr id="249" name="Google Shape;249;g34e24684e76_0_10"/>
          <p:cNvGrpSpPr/>
          <p:nvPr/>
        </p:nvGrpSpPr>
        <p:grpSpPr>
          <a:xfrm>
            <a:off x="9583446" y="2917276"/>
            <a:ext cx="1162554" cy="1135500"/>
            <a:chOff x="9261946" y="3466976"/>
            <a:chExt cx="1162554" cy="1135500"/>
          </a:xfrm>
        </p:grpSpPr>
        <p:sp>
          <p:nvSpPr>
            <p:cNvPr id="250" name="Google Shape;250;g34e24684e76_0_10"/>
            <p:cNvSpPr/>
            <p:nvPr/>
          </p:nvSpPr>
          <p:spPr>
            <a:xfrm>
              <a:off x="9261946" y="3466976"/>
              <a:ext cx="1162500" cy="1135500"/>
            </a:xfrm>
            <a:prstGeom prst="ellipse">
              <a:avLst/>
            </a:prstGeom>
            <a:solidFill>
              <a:srgbClr val="A7C9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251" name="Google Shape;251;g34e24684e76_0_10"/>
            <p:cNvSpPr txBox="1"/>
            <p:nvPr/>
          </p:nvSpPr>
          <p:spPr>
            <a:xfrm>
              <a:off x="9262000" y="3788125"/>
              <a:ext cx="11625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sng" cap="none" strike="noStrike">
                  <a:solidFill>
                    <a:srgbClr val="045C64"/>
                  </a:solidFill>
                  <a:latin typeface="Lato"/>
                  <a:ea typeface="Lato"/>
                  <a:cs typeface="Lato"/>
                  <a:sym typeface="Lato"/>
                  <a:hlinkClick r:id="rId13">
                    <a:extLst>
                      <a:ext uri="{A12FA001-AC4F-418D-AE19-62706E023703}">
                        <ahyp:hlinkClr val="tx"/>
                      </a:ext>
                    </a:extLst>
                  </a:hlinkClick>
                </a:rPr>
                <a:t>NBIS.se</a:t>
              </a:r>
              <a:endParaRPr b="1" i="0" sz="1600" u="none" cap="none" strike="noStrike">
                <a:solidFill>
                  <a:srgbClr val="045C64"/>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52662de69e_0_66"/>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Who are you? </a:t>
            </a:r>
            <a:endParaRPr>
              <a:latin typeface="Lora"/>
              <a:ea typeface="Lora"/>
              <a:cs typeface="Lora"/>
              <a:sym typeface="Lora"/>
            </a:endParaRPr>
          </a:p>
        </p:txBody>
      </p:sp>
      <p:sp>
        <p:nvSpPr>
          <p:cNvPr id="258" name="Google Shape;258;g352662de69e_0_6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59" name="Google Shape;259;g352662de69e_0_6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260" name="Google Shape;260;g352662de69e_0_66"/>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1" name="Google Shape;261;g352662de69e_0_66"/>
          <p:cNvSpPr txBox="1"/>
          <p:nvPr>
            <p:ph idx="1" type="body"/>
          </p:nvPr>
        </p:nvSpPr>
        <p:spPr>
          <a:xfrm>
            <a:off x="785675" y="1805251"/>
            <a:ext cx="10515600" cy="46902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Name and affiliation</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Research area </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What interests you about Open Science?</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One thing you hope to learn or take away from this course</a:t>
            </a:r>
            <a:endParaRPr sz="2500">
              <a:latin typeface="Lato Light"/>
              <a:ea typeface="Lato Light"/>
              <a:cs typeface="Lato Light"/>
              <a:sym typeface="Lato Light"/>
            </a:endParaRPr>
          </a:p>
          <a:p>
            <a:pPr indent="-387350" lvl="0" marL="457200" rtl="0" algn="l">
              <a:lnSpc>
                <a:spcPct val="115000"/>
              </a:lnSpc>
              <a:spcBef>
                <a:spcPts val="1000"/>
              </a:spcBef>
              <a:spcAft>
                <a:spcPts val="0"/>
              </a:spcAft>
              <a:buSzPts val="2500"/>
              <a:buFont typeface="Lato Light"/>
              <a:buChar char="-"/>
            </a:pPr>
            <a:r>
              <a:rPr lang="en-US" sz="2500">
                <a:latin typeface="Lato Light"/>
                <a:ea typeface="Lato Light"/>
                <a:cs typeface="Lato Light"/>
                <a:sym typeface="Lato Light"/>
              </a:rPr>
              <a:t>What’s a hobby or activity you enjoy outside of work?</a:t>
            </a:r>
            <a:endParaRPr sz="2500">
              <a:latin typeface="Lato Light"/>
              <a:ea typeface="Lato Light"/>
              <a:cs typeface="Lato Light"/>
              <a:sym typeface="Lato Light"/>
            </a:endParaRPr>
          </a:p>
          <a:p>
            <a:pPr indent="0" lvl="0" marL="0" rtl="0" algn="l">
              <a:lnSpc>
                <a:spcPct val="115000"/>
              </a:lnSpc>
              <a:spcBef>
                <a:spcPts val="0"/>
              </a:spcBef>
              <a:spcAft>
                <a:spcPts val="0"/>
              </a:spcAft>
              <a:buSzPts val="1800"/>
              <a:buNone/>
            </a:pPr>
            <a:r>
              <a:t/>
            </a:r>
            <a:endParaRPr sz="240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sz="3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4fce246725_0_51"/>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68" name="Google Shape;268;g34fce246725_0_51"/>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69" name="Google Shape;269;g34fce246725_0_51"/>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501d60e36d_0_38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76" name="Google Shape;276;g3501d60e36d_0_38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77" name="Google Shape;277;g3501d60e36d_0_38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pic>
        <p:nvPicPr>
          <p:cNvPr id="278" name="Google Shape;278;g3501d60e36d_0_389"/>
          <p:cNvPicPr preferRelativeResize="0"/>
          <p:nvPr/>
        </p:nvPicPr>
        <p:blipFill rotWithShape="1">
          <a:blip r:embed="rId3">
            <a:alphaModFix amt="29000"/>
          </a:blip>
          <a:srcRect b="19394" l="0" r="0" t="0"/>
          <a:stretch/>
        </p:blipFill>
        <p:spPr>
          <a:xfrm>
            <a:off x="1736425" y="1519571"/>
            <a:ext cx="1720401" cy="1471175"/>
          </a:xfrm>
          <a:prstGeom prst="rect">
            <a:avLst/>
          </a:prstGeom>
          <a:noFill/>
          <a:ln>
            <a:noFill/>
          </a:ln>
        </p:spPr>
      </p:pic>
      <p:sp>
        <p:nvSpPr>
          <p:cNvPr id="279" name="Google Shape;279;g3501d60e36d_0_389"/>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0" name="Google Shape;280;g3501d60e36d_0_389"/>
          <p:cNvSpPr txBox="1"/>
          <p:nvPr/>
        </p:nvSpPr>
        <p:spPr>
          <a:xfrm>
            <a:off x="3744700" y="1956505"/>
            <a:ext cx="68391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5400">
                <a:solidFill>
                  <a:srgbClr val="000000"/>
                </a:solidFill>
                <a:latin typeface="Lora"/>
                <a:ea typeface="Lora"/>
                <a:cs typeface="Lora"/>
                <a:sym typeface="Lora"/>
              </a:rPr>
              <a:t>Mentimeter time! </a:t>
            </a:r>
            <a:endParaRPr sz="5400">
              <a:solidFill>
                <a:srgbClr val="000000"/>
              </a:solidFill>
              <a:latin typeface="Lora"/>
              <a:ea typeface="Lora"/>
              <a:cs typeface="Lora"/>
              <a:sym typeface="Lora"/>
            </a:endParaRPr>
          </a:p>
        </p:txBody>
      </p:sp>
      <p:sp>
        <p:nvSpPr>
          <p:cNvPr id="281" name="Google Shape;281;g3501d60e36d_0_389"/>
          <p:cNvSpPr txBox="1"/>
          <p:nvPr/>
        </p:nvSpPr>
        <p:spPr>
          <a:xfrm>
            <a:off x="460925" y="3798200"/>
            <a:ext cx="11288700" cy="149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100">
                <a:latin typeface="Lato Light"/>
                <a:ea typeface="Lato Light"/>
                <a:cs typeface="Lato Light"/>
                <a:sym typeface="Lato Light"/>
              </a:rPr>
              <a:t>Question</a:t>
            </a:r>
            <a:r>
              <a:rPr lang="en-US" sz="2900">
                <a:latin typeface="Lato Light"/>
                <a:ea typeface="Lato Light"/>
                <a:cs typeface="Lato Light"/>
                <a:sym typeface="Lato Light"/>
              </a:rPr>
              <a:t>: </a:t>
            </a:r>
            <a:endParaRPr sz="2900">
              <a:latin typeface="Lato Light"/>
              <a:ea typeface="Lato Light"/>
              <a:cs typeface="Lato Light"/>
              <a:sym typeface="Lato Light"/>
            </a:endParaRPr>
          </a:p>
          <a:p>
            <a:pPr indent="0" lvl="0" marL="457200" rtl="0" algn="l">
              <a:spcBef>
                <a:spcPts val="0"/>
              </a:spcBef>
              <a:spcAft>
                <a:spcPts val="0"/>
              </a:spcAft>
              <a:buNone/>
            </a:pPr>
            <a:r>
              <a:rPr lang="en-US" sz="2700">
                <a:latin typeface="Lato Light"/>
                <a:ea typeface="Lato Light"/>
                <a:cs typeface="Lato Light"/>
                <a:sym typeface="Lato Light"/>
              </a:rPr>
              <a:t>Which words come to mind when you hear Open Science (wordcloud)</a:t>
            </a:r>
            <a:endParaRPr sz="2700">
              <a:latin typeface="Lato Light"/>
              <a:ea typeface="Lato Light"/>
              <a:cs typeface="Lato Light"/>
              <a:sym typeface="Lato Light"/>
            </a:endParaRPr>
          </a:p>
          <a:p>
            <a:pPr indent="0" lvl="0" marL="457200" rtl="0" algn="l">
              <a:spcBef>
                <a:spcPts val="0"/>
              </a:spcBef>
              <a:spcAft>
                <a:spcPts val="0"/>
              </a:spcAft>
              <a:buNone/>
            </a:pPr>
            <a:r>
              <a:t/>
            </a:r>
            <a:endParaRPr sz="2700">
              <a:latin typeface="Lato Light"/>
              <a:ea typeface="Lato Light"/>
              <a:cs typeface="Lato Light"/>
              <a:sym typeface="Lato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3798d99b92_0_28"/>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88" name="Google Shape;288;g33798d99b92_0_28"/>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89" name="Google Shape;289;g33798d99b92_0_28"/>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290" name="Google Shape;290;g33798d99b92_0_28"/>
          <p:cNvSpPr txBox="1"/>
          <p:nvPr>
            <p:ph idx="1" type="body"/>
          </p:nvPr>
        </p:nvSpPr>
        <p:spPr>
          <a:xfrm>
            <a:off x="838200" y="1715401"/>
            <a:ext cx="10515600" cy="469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sz="2100">
              <a:latin typeface="Lato Light"/>
              <a:ea typeface="Lato Light"/>
              <a:cs typeface="Lato Light"/>
              <a:sym typeface="Lato Light"/>
            </a:endParaRPr>
          </a:p>
          <a:p>
            <a:pPr indent="0" lvl="0" marL="0" rtl="0" algn="l">
              <a:lnSpc>
                <a:spcPct val="100000"/>
              </a:lnSpc>
              <a:spcBef>
                <a:spcPts val="0"/>
              </a:spcBef>
              <a:spcAft>
                <a:spcPts val="0"/>
              </a:spcAft>
              <a:buSzPts val="1800"/>
              <a:buNone/>
            </a:pPr>
            <a:r>
              <a:rPr lang="en-US" sz="2200">
                <a:latin typeface="Lato Light"/>
                <a:ea typeface="Lato Light"/>
                <a:cs typeface="Lato Light"/>
                <a:sym typeface="Lato Light"/>
              </a:rPr>
              <a:t>“An inclusive construct that combines various movements and practices aiming: </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make multilingual scientific knowledge </a:t>
            </a:r>
            <a:r>
              <a:rPr b="1" lang="en-US" sz="2200">
                <a:solidFill>
                  <a:srgbClr val="491F53"/>
                </a:solidFill>
                <a:latin typeface="Lato"/>
                <a:ea typeface="Lato"/>
                <a:cs typeface="Lato"/>
                <a:sym typeface="Lato"/>
              </a:rPr>
              <a:t>openly available</a:t>
            </a:r>
            <a:r>
              <a:rPr lang="en-US" sz="2200">
                <a:latin typeface="Lato Light"/>
                <a:ea typeface="Lato Light"/>
                <a:cs typeface="Lato Light"/>
                <a:sym typeface="Lato Light"/>
              </a:rPr>
              <a:t>,</a:t>
            </a:r>
            <a:r>
              <a:rPr b="1" lang="en-US" sz="2200">
                <a:latin typeface="Lato"/>
                <a:ea typeface="Lato"/>
                <a:cs typeface="Lato"/>
                <a:sym typeface="Lato"/>
              </a:rPr>
              <a:t> </a:t>
            </a:r>
            <a:r>
              <a:rPr b="1" lang="en-US" sz="2200">
                <a:solidFill>
                  <a:srgbClr val="491F53"/>
                </a:solidFill>
                <a:latin typeface="Lato"/>
                <a:ea typeface="Lato"/>
                <a:cs typeface="Lato"/>
                <a:sym typeface="Lato"/>
              </a:rPr>
              <a:t>accessible, and reusable for everyone</a:t>
            </a:r>
            <a:r>
              <a:rPr lang="en-US" sz="2200">
                <a:latin typeface="Lato Light"/>
                <a:ea typeface="Lato Light"/>
                <a:cs typeface="Lato Light"/>
                <a:sym typeface="Lato Light"/>
              </a:rPr>
              <a:t>; </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increase scientific </a:t>
            </a:r>
            <a:r>
              <a:rPr b="1" lang="en-US" sz="2200">
                <a:solidFill>
                  <a:srgbClr val="491F53"/>
                </a:solidFill>
                <a:latin typeface="Lato"/>
                <a:ea typeface="Lato"/>
                <a:cs typeface="Lato"/>
                <a:sym typeface="Lato"/>
              </a:rPr>
              <a:t>collaborations</a:t>
            </a:r>
            <a:r>
              <a:rPr lang="en-US" sz="2200">
                <a:latin typeface="Lato Light"/>
                <a:ea typeface="Lato Light"/>
                <a:cs typeface="Lato Light"/>
                <a:sym typeface="Lato Light"/>
              </a:rPr>
              <a:t> and </a:t>
            </a:r>
            <a:r>
              <a:rPr b="1" lang="en-US" sz="2200">
                <a:solidFill>
                  <a:srgbClr val="491F53"/>
                </a:solidFill>
                <a:latin typeface="Lato"/>
                <a:ea typeface="Lato"/>
                <a:cs typeface="Lato"/>
                <a:sym typeface="Lato"/>
              </a:rPr>
              <a:t>sharing</a:t>
            </a:r>
            <a:r>
              <a:rPr lang="en-US" sz="2200">
                <a:latin typeface="Lato Light"/>
                <a:ea typeface="Lato Light"/>
                <a:cs typeface="Lato Light"/>
                <a:sym typeface="Lato Light"/>
              </a:rPr>
              <a:t> of information for the benefits of science and society;</a:t>
            </a:r>
            <a:endParaRPr sz="2200">
              <a:latin typeface="Lato Light"/>
              <a:ea typeface="Lato Light"/>
              <a:cs typeface="Lato Light"/>
              <a:sym typeface="Lato Light"/>
            </a:endParaRPr>
          </a:p>
          <a:p>
            <a:pPr indent="-368300" lvl="0" marL="457200" rtl="0" algn="l">
              <a:lnSpc>
                <a:spcPct val="100000"/>
              </a:lnSpc>
              <a:spcBef>
                <a:spcPts val="0"/>
              </a:spcBef>
              <a:spcAft>
                <a:spcPts val="0"/>
              </a:spcAft>
              <a:buSzPts val="2200"/>
              <a:buChar char="-"/>
            </a:pPr>
            <a:r>
              <a:rPr lang="en-US" sz="2200">
                <a:latin typeface="Lato Light"/>
                <a:ea typeface="Lato Light"/>
                <a:cs typeface="Lato Light"/>
                <a:sym typeface="Lato Light"/>
              </a:rPr>
              <a:t>to open the processes of scientific knowledge creation, evaluation, and communication to </a:t>
            </a:r>
            <a:r>
              <a:rPr b="1" lang="en-US" sz="2200">
                <a:solidFill>
                  <a:srgbClr val="491F53"/>
                </a:solidFill>
                <a:latin typeface="Lato"/>
                <a:ea typeface="Lato"/>
                <a:cs typeface="Lato"/>
                <a:sym typeface="Lato"/>
              </a:rPr>
              <a:t>societal actors</a:t>
            </a:r>
            <a:r>
              <a:rPr lang="en-US" sz="2200">
                <a:latin typeface="Lato Light"/>
                <a:ea typeface="Lato Light"/>
                <a:cs typeface="Lato Light"/>
                <a:sym typeface="Lato Light"/>
              </a:rPr>
              <a:t> beyond the traditional scientific community. </a:t>
            </a:r>
            <a:endParaRPr sz="2200">
              <a:latin typeface="Lato Light"/>
              <a:ea typeface="Lato Light"/>
              <a:cs typeface="Lato Light"/>
              <a:sym typeface="Lato Light"/>
            </a:endParaRPr>
          </a:p>
          <a:p>
            <a:pPr indent="0" lvl="0" marL="0" rtl="0" algn="l">
              <a:lnSpc>
                <a:spcPct val="100000"/>
              </a:lnSpc>
              <a:spcBef>
                <a:spcPts val="0"/>
              </a:spcBef>
              <a:spcAft>
                <a:spcPts val="0"/>
              </a:spcAft>
              <a:buClr>
                <a:schemeClr val="dk1"/>
              </a:buClr>
              <a:buSzPts val="1100"/>
              <a:buFont typeface="Arial"/>
              <a:buNone/>
            </a:pPr>
            <a:r>
              <a:t/>
            </a:r>
            <a:endParaRPr sz="2200">
              <a:latin typeface="Lato Light"/>
              <a:ea typeface="Lato Light"/>
              <a:cs typeface="Lato Light"/>
              <a:sym typeface="Lato Light"/>
            </a:endParaRPr>
          </a:p>
          <a:p>
            <a:pPr indent="0" lvl="0" marL="0" rtl="0" algn="l">
              <a:lnSpc>
                <a:spcPct val="100000"/>
              </a:lnSpc>
              <a:spcBef>
                <a:spcPts val="100"/>
              </a:spcBef>
              <a:spcAft>
                <a:spcPts val="0"/>
              </a:spcAft>
              <a:buClr>
                <a:schemeClr val="dk1"/>
              </a:buClr>
              <a:buSzPts val="1100"/>
              <a:buFont typeface="Arial"/>
              <a:buNone/>
            </a:pPr>
            <a:r>
              <a:rPr lang="en-US" sz="2200">
                <a:highlight>
                  <a:srgbClr val="FFFFFF"/>
                </a:highlight>
                <a:latin typeface="Lato Light"/>
                <a:ea typeface="Lato Light"/>
                <a:cs typeface="Lato Light"/>
                <a:sym typeface="Lato Light"/>
              </a:rPr>
              <a:t>It comprises </a:t>
            </a:r>
            <a:r>
              <a:rPr b="1" lang="en-US" sz="2200">
                <a:solidFill>
                  <a:srgbClr val="491F53"/>
                </a:solidFill>
                <a:highlight>
                  <a:srgbClr val="FFFFFF"/>
                </a:highlight>
                <a:latin typeface="Lato"/>
                <a:ea typeface="Lato"/>
                <a:cs typeface="Lato"/>
                <a:sym typeface="Lato"/>
              </a:rPr>
              <a:t>all scientific disciplines </a:t>
            </a:r>
            <a:r>
              <a:rPr lang="en-US" sz="2200">
                <a:highlight>
                  <a:srgbClr val="FFFFFF"/>
                </a:highlight>
                <a:latin typeface="Lato Light"/>
                <a:ea typeface="Lato Light"/>
                <a:cs typeface="Lato Light"/>
                <a:sym typeface="Lato Light"/>
              </a:rPr>
              <a:t> and  aspects  of  scholarly  practices,  including  basic and  applied  sciences, natural and social sciences and the humanities”</a:t>
            </a:r>
            <a:endParaRPr sz="2200">
              <a:highlight>
                <a:srgbClr val="FFFFFF"/>
              </a:highlight>
              <a:latin typeface="Lato Light"/>
              <a:ea typeface="Lato Light"/>
              <a:cs typeface="Lato Light"/>
              <a:sym typeface="Lato Light"/>
            </a:endParaRPr>
          </a:p>
          <a:p>
            <a:pPr indent="0" lvl="0" marL="0" rtl="0" algn="l">
              <a:lnSpc>
                <a:spcPct val="100000"/>
              </a:lnSpc>
              <a:spcBef>
                <a:spcPts val="100"/>
              </a:spcBef>
              <a:spcAft>
                <a:spcPts val="0"/>
              </a:spcAft>
              <a:buClr>
                <a:schemeClr val="dk1"/>
              </a:buClr>
              <a:buSzPts val="1100"/>
              <a:buFont typeface="Arial"/>
              <a:buNone/>
            </a:pPr>
            <a:r>
              <a:t/>
            </a:r>
            <a:endParaRPr sz="2100">
              <a:highlight>
                <a:srgbClr val="FFFFFF"/>
              </a:highlight>
              <a:latin typeface="Lato Light"/>
              <a:ea typeface="Lato Light"/>
              <a:cs typeface="Lato Light"/>
              <a:sym typeface="Lato Light"/>
            </a:endParaRPr>
          </a:p>
          <a:p>
            <a:pPr indent="0" lvl="0" marL="0" rtl="0" algn="l">
              <a:lnSpc>
                <a:spcPct val="90000"/>
              </a:lnSpc>
              <a:spcBef>
                <a:spcPts val="1000"/>
              </a:spcBef>
              <a:spcAft>
                <a:spcPts val="0"/>
              </a:spcAft>
              <a:buSzPts val="1800"/>
              <a:buNone/>
            </a:pPr>
            <a:r>
              <a:t/>
            </a:r>
            <a:endParaRPr/>
          </a:p>
        </p:txBody>
      </p:sp>
      <p:sp>
        <p:nvSpPr>
          <p:cNvPr id="291" name="Google Shape;291;g33798d99b92_0_28"/>
          <p:cNvSpPr txBox="1"/>
          <p:nvPr/>
        </p:nvSpPr>
        <p:spPr>
          <a:xfrm>
            <a:off x="4316700" y="6507000"/>
            <a:ext cx="7875300" cy="351000"/>
          </a:xfrm>
          <a:prstGeom prst="rect">
            <a:avLst/>
          </a:prstGeom>
          <a:noFill/>
          <a:ln>
            <a:noFill/>
          </a:ln>
        </p:spPr>
        <p:txBody>
          <a:bodyPr anchorCtr="0" anchor="t" bIns="91425" lIns="91425" spcFirstLastPara="1" rIns="91425" wrap="square" tIns="91425">
            <a:spAutoFit/>
          </a:bodyPr>
          <a:lstStyle/>
          <a:p>
            <a:pPr indent="0" lvl="0" marL="0" marR="0" rtl="0" algn="r">
              <a:lnSpc>
                <a:spcPct val="90000"/>
              </a:lnSpc>
              <a:spcBef>
                <a:spcPts val="100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UNESCO (2021) </a:t>
            </a:r>
            <a:r>
              <a:rPr b="0" i="1" lang="en-US" sz="1200" u="none" cap="none" strike="noStrike">
                <a:solidFill>
                  <a:schemeClr val="dk1"/>
                </a:solidFill>
                <a:latin typeface="Lato Hairline"/>
                <a:ea typeface="Lato Hairline"/>
                <a:cs typeface="Lato Hairline"/>
                <a:sym typeface="Lato Hairline"/>
              </a:rPr>
              <a:t>Recommendation on Open Science. </a:t>
            </a:r>
            <a:r>
              <a:rPr b="0" i="0" lang="en-US" sz="1200" u="sng" cap="none" strike="noStrike">
                <a:solidFill>
                  <a:schemeClr val="accent1"/>
                </a:solidFill>
                <a:highlight>
                  <a:srgbClr val="FFFFFF"/>
                </a:highlight>
                <a:latin typeface="Lato Hairline"/>
                <a:ea typeface="Lato Hairline"/>
                <a:cs typeface="Lato Hairline"/>
                <a:sym typeface="Lato Hairline"/>
                <a:hlinkClick r:id="rId3">
                  <a:extLst>
                    <a:ext uri="{A12FA001-AC4F-418D-AE19-62706E023703}">
                      <ahyp:hlinkClr val="tx"/>
                    </a:ext>
                  </a:extLst>
                </a:hlinkClick>
              </a:rPr>
              <a:t>https://doi.org/10.54677/MNMH8546</a:t>
            </a:r>
            <a:r>
              <a:rPr b="0" i="0" lang="en-US" sz="1200" u="none" cap="none" strike="noStrike">
                <a:solidFill>
                  <a:schemeClr val="accent1"/>
                </a:solidFill>
                <a:highlight>
                  <a:srgbClr val="FFFFFF"/>
                </a:highlight>
                <a:latin typeface="Lato Hairline"/>
                <a:ea typeface="Lato Hairline"/>
                <a:cs typeface="Lato Hairline"/>
                <a:sym typeface="Lato Hairline"/>
              </a:rPr>
              <a:t>. </a:t>
            </a:r>
            <a:r>
              <a:rPr b="0" i="0" lang="en-US" sz="1200" u="sng" cap="none" strike="noStrike">
                <a:solidFill>
                  <a:schemeClr val="accent1"/>
                </a:solidFill>
                <a:latin typeface="Lato Hairline"/>
                <a:ea typeface="Lato Hairline"/>
                <a:cs typeface="Lato Hairline"/>
                <a:sym typeface="Lato Hairline"/>
                <a:hlinkClick r:id="rId4">
                  <a:extLst>
                    <a:ext uri="{A12FA001-AC4F-418D-AE19-62706E023703}">
                      <ahyp:hlinkClr val="tx"/>
                    </a:ext>
                  </a:extLst>
                </a:hlinkClick>
              </a:rPr>
              <a:t>CC BY-SA 3.0 IGO</a:t>
            </a:r>
            <a:r>
              <a:rPr b="0" i="0" lang="en-US" sz="1200" u="none" cap="none" strike="noStrike">
                <a:solidFill>
                  <a:schemeClr val="accent1"/>
                </a:solidFill>
                <a:latin typeface="Lato Hairline"/>
                <a:ea typeface="Lato Hairline"/>
                <a:cs typeface="Lato Hairline"/>
                <a:sym typeface="Lato Hairline"/>
              </a:rPr>
              <a:t> </a:t>
            </a:r>
            <a:endParaRPr b="0" i="0" sz="1200" u="none" cap="none" strike="noStrike">
              <a:solidFill>
                <a:schemeClr val="accent1"/>
              </a:solidFill>
              <a:latin typeface="Lato Hairline"/>
              <a:ea typeface="Lato Hairline"/>
              <a:cs typeface="Lato Hairline"/>
              <a:sym typeface="Lato Hairlin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4fce246725_0_6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latin typeface="Lora"/>
                <a:ea typeface="Lora"/>
                <a:cs typeface="Lora"/>
                <a:sym typeface="Lora"/>
              </a:rPr>
              <a:t>What is Open Science? </a:t>
            </a:r>
            <a:endParaRPr>
              <a:latin typeface="Lora"/>
              <a:ea typeface="Lora"/>
              <a:cs typeface="Lora"/>
              <a:sym typeface="Lora"/>
            </a:endParaRPr>
          </a:p>
        </p:txBody>
      </p:sp>
      <p:sp>
        <p:nvSpPr>
          <p:cNvPr id="298" name="Google Shape;298;g34fce246725_0_6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99" name="Google Shape;299;g34fce246725_0_6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00" name="Google Shape;300;g34fce246725_0_60"/>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301" name="Google Shape;301;g34fce246725_0_60"/>
          <p:cNvSpPr txBox="1"/>
          <p:nvPr/>
        </p:nvSpPr>
        <p:spPr>
          <a:xfrm>
            <a:off x="4316700" y="6507000"/>
            <a:ext cx="7875300" cy="351000"/>
          </a:xfrm>
          <a:prstGeom prst="rect">
            <a:avLst/>
          </a:prstGeom>
          <a:noFill/>
          <a:ln>
            <a:noFill/>
          </a:ln>
        </p:spPr>
        <p:txBody>
          <a:bodyPr anchorCtr="0" anchor="t" bIns="91425" lIns="91425" spcFirstLastPara="1" rIns="91425" wrap="square" tIns="91425">
            <a:spAutoFit/>
          </a:bodyPr>
          <a:lstStyle/>
          <a:p>
            <a:pPr indent="0" lvl="0" marL="0" marR="0" rtl="0" algn="r">
              <a:lnSpc>
                <a:spcPct val="90000"/>
              </a:lnSpc>
              <a:spcBef>
                <a:spcPts val="100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UNESCO (2022) </a:t>
            </a:r>
            <a:r>
              <a:rPr b="0" i="1" lang="en-US" sz="1200" u="none" cap="none" strike="noStrike">
                <a:solidFill>
                  <a:schemeClr val="dk1"/>
                </a:solidFill>
                <a:latin typeface="Lato Hairline"/>
                <a:ea typeface="Lato Hairline"/>
                <a:cs typeface="Lato Hairline"/>
                <a:sym typeface="Lato Hairline"/>
              </a:rPr>
              <a:t>Understanding Open Science. </a:t>
            </a:r>
            <a:r>
              <a:rPr b="0" i="0" lang="en-US" sz="1200" u="sng" cap="none" strike="noStrike">
                <a:solidFill>
                  <a:schemeClr val="hlink"/>
                </a:solidFill>
                <a:highlight>
                  <a:srgbClr val="FFFFFF"/>
                </a:highlight>
                <a:latin typeface="Lato Hairline"/>
                <a:ea typeface="Lato Hairline"/>
                <a:cs typeface="Lato Hairline"/>
                <a:sym typeface="Lato Hairline"/>
                <a:hlinkClick r:id="rId3"/>
              </a:rPr>
              <a:t>https://doi.org/10.54677/UTCD9302</a:t>
            </a:r>
            <a:r>
              <a:rPr b="0" i="0" lang="en-US" sz="1200" u="none" cap="none" strike="noStrike">
                <a:solidFill>
                  <a:schemeClr val="accent1"/>
                </a:solidFill>
                <a:highlight>
                  <a:srgbClr val="FFFFFF"/>
                </a:highlight>
                <a:latin typeface="Lato Hairline"/>
                <a:ea typeface="Lato Hairline"/>
                <a:cs typeface="Lato Hairline"/>
                <a:sym typeface="Lato Hairline"/>
              </a:rPr>
              <a:t> </a:t>
            </a:r>
            <a:r>
              <a:rPr b="0" i="0" lang="en-US" sz="1200" u="sng" cap="none" strike="noStrike">
                <a:solidFill>
                  <a:schemeClr val="accent1"/>
                </a:solidFill>
                <a:latin typeface="Lato Hairline"/>
                <a:ea typeface="Lato Hairline"/>
                <a:cs typeface="Lato Hairline"/>
                <a:sym typeface="Lato Hairline"/>
                <a:hlinkClick r:id="rId4">
                  <a:extLst>
                    <a:ext uri="{A12FA001-AC4F-418D-AE19-62706E023703}">
                      <ahyp:hlinkClr val="tx"/>
                    </a:ext>
                  </a:extLst>
                </a:hlinkClick>
              </a:rPr>
              <a:t>CC BY-SA 3.0 IGO</a:t>
            </a:r>
            <a:endParaRPr b="0" i="0" sz="1200" u="none" cap="none" strike="noStrike">
              <a:solidFill>
                <a:schemeClr val="accent1"/>
              </a:solidFill>
              <a:latin typeface="Lato Hairline"/>
              <a:ea typeface="Lato Hairline"/>
              <a:cs typeface="Lato Hairline"/>
              <a:sym typeface="Lato Hairline"/>
            </a:endParaRPr>
          </a:p>
        </p:txBody>
      </p:sp>
      <p:pic>
        <p:nvPicPr>
          <p:cNvPr id="302" name="Google Shape;302;g34fce246725_0_60"/>
          <p:cNvPicPr preferRelativeResize="0"/>
          <p:nvPr/>
        </p:nvPicPr>
        <p:blipFill rotWithShape="1">
          <a:blip r:embed="rId5">
            <a:alphaModFix/>
          </a:blip>
          <a:srcRect b="0" l="0" r="0" t="0"/>
          <a:stretch/>
        </p:blipFill>
        <p:spPr>
          <a:xfrm>
            <a:off x="238675" y="1195226"/>
            <a:ext cx="4548204" cy="5357974"/>
          </a:xfrm>
          <a:prstGeom prst="rect">
            <a:avLst/>
          </a:prstGeom>
          <a:noFill/>
          <a:ln>
            <a:noFill/>
          </a:ln>
        </p:spPr>
      </p:pic>
      <p:sp>
        <p:nvSpPr>
          <p:cNvPr id="303" name="Google Shape;303;g34fce246725_0_60"/>
          <p:cNvSpPr txBox="1"/>
          <p:nvPr>
            <p:ph idx="1" type="body"/>
          </p:nvPr>
        </p:nvSpPr>
        <p:spPr>
          <a:xfrm>
            <a:off x="5670625" y="1715400"/>
            <a:ext cx="5683200" cy="469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000"/>
              </a:spcBef>
              <a:spcAft>
                <a:spcPts val="0"/>
              </a:spcAft>
              <a:buClr>
                <a:schemeClr val="dk1"/>
              </a:buClr>
              <a:buSzPts val="605"/>
              <a:buFont typeface="Arial"/>
              <a:buNone/>
            </a:pPr>
            <a:r>
              <a:rPr lang="en-US" sz="2040">
                <a:latin typeface="Lato Light"/>
                <a:ea typeface="Lato Light"/>
                <a:cs typeface="Lato Light"/>
                <a:sym typeface="Lato Light"/>
              </a:rPr>
              <a:t>Free access to</a:t>
            </a:r>
            <a:endParaRPr sz="20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t/>
            </a:r>
            <a:endParaRPr sz="4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scientific publications (e.g. articles, books, research reports, conference papers),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research data (digital or analogue, raw or processed, metadata, records, images, protocols, analysis codes, workflows, and more),</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educational resources (teaching, learning and research materials),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open source software and source code</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rPr lang="en-US" sz="1640">
                <a:latin typeface="Lato Light"/>
                <a:ea typeface="Lato Light"/>
                <a:cs typeface="Lato Light"/>
                <a:sym typeface="Lato Light"/>
              </a:rPr>
              <a:t>❚ open hardware, such as the design specifications of physical objects.</a:t>
            </a:r>
            <a:endParaRPr sz="1640">
              <a:latin typeface="Lato Light"/>
              <a:ea typeface="Lato Light"/>
              <a:cs typeface="Lato Light"/>
              <a:sym typeface="Lato Light"/>
            </a:endParaRPr>
          </a:p>
          <a:p>
            <a:pPr indent="0" lvl="0" marL="0" rtl="0" algn="l">
              <a:lnSpc>
                <a:spcPct val="115000"/>
              </a:lnSpc>
              <a:spcBef>
                <a:spcPts val="1000"/>
              </a:spcBef>
              <a:spcAft>
                <a:spcPts val="0"/>
              </a:spcAft>
              <a:buClr>
                <a:schemeClr val="dk1"/>
              </a:buClr>
              <a:buSzPts val="605"/>
              <a:buFont typeface="Arial"/>
              <a:buNone/>
            </a:pPr>
            <a:r>
              <a:t/>
            </a:r>
            <a:endParaRPr sz="1640">
              <a:latin typeface="Lato"/>
              <a:ea typeface="Lato"/>
              <a:cs typeface="Lato"/>
              <a:sym typeface="Lato"/>
            </a:endParaRPr>
          </a:p>
          <a:p>
            <a:pPr indent="0" lvl="0" marL="914400" rtl="0" algn="l">
              <a:lnSpc>
                <a:spcPct val="115000"/>
              </a:lnSpc>
              <a:spcBef>
                <a:spcPts val="1000"/>
              </a:spcBef>
              <a:spcAft>
                <a:spcPts val="0"/>
              </a:spcAft>
              <a:buSzPts val="605"/>
              <a:buNone/>
            </a:pPr>
            <a:r>
              <a:rPr lang="en-US" sz="1640">
                <a:latin typeface="Lato"/>
                <a:ea typeface="Lato"/>
                <a:cs typeface="Lato"/>
                <a:sym typeface="Lato"/>
              </a:rPr>
              <a:t>           </a:t>
            </a:r>
            <a:endParaRPr sz="164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4d1cf5dcd5_0_1063"/>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10" name="Google Shape;310;g34d1cf5dcd5_0_106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11" name="Google Shape;311;g34d1cf5dcd5_0_106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4fce246725_0_1688"/>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18" name="Google Shape;318;g34fce246725_0_1688"/>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19" name="Google Shape;319;g34fce246725_0_1688"/>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20" name="Google Shape;320;g34fce246725_0_1688"/>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21" name="Google Shape;321;g34fce246725_0_1688"/>
          <p:cNvGrpSpPr/>
          <p:nvPr/>
        </p:nvGrpSpPr>
        <p:grpSpPr>
          <a:xfrm>
            <a:off x="10157536" y="3060700"/>
            <a:ext cx="2034083" cy="3797176"/>
            <a:chOff x="3048000" y="2295578"/>
            <a:chExt cx="1524000" cy="2847953"/>
          </a:xfrm>
        </p:grpSpPr>
        <p:grpSp>
          <p:nvGrpSpPr>
            <p:cNvPr id="322" name="Google Shape;322;g34fce246725_0_1688"/>
            <p:cNvGrpSpPr/>
            <p:nvPr/>
          </p:nvGrpSpPr>
          <p:grpSpPr>
            <a:xfrm>
              <a:off x="3048000" y="2295578"/>
              <a:ext cx="1524000" cy="2847953"/>
              <a:chOff x="0" y="2295575"/>
              <a:chExt cx="1524000" cy="2837455"/>
            </a:xfrm>
          </p:grpSpPr>
          <p:sp>
            <p:nvSpPr>
              <p:cNvPr id="323" name="Google Shape;323;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5" name="Google Shape;325;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326" name="Google Shape;326;g34fce246725_0_1688"/>
          <p:cNvGrpSpPr/>
          <p:nvPr/>
        </p:nvGrpSpPr>
        <p:grpSpPr>
          <a:xfrm>
            <a:off x="8123502" y="3060697"/>
            <a:ext cx="2034083" cy="3797180"/>
            <a:chOff x="3048000" y="2295575"/>
            <a:chExt cx="1524000" cy="2847956"/>
          </a:xfrm>
        </p:grpSpPr>
        <p:grpSp>
          <p:nvGrpSpPr>
            <p:cNvPr id="327" name="Google Shape;327;g34fce246725_0_1688"/>
            <p:cNvGrpSpPr/>
            <p:nvPr/>
          </p:nvGrpSpPr>
          <p:grpSpPr>
            <a:xfrm>
              <a:off x="3048000" y="2295578"/>
              <a:ext cx="1524000" cy="2847953"/>
              <a:chOff x="0" y="2295575"/>
              <a:chExt cx="1524000" cy="2837455"/>
            </a:xfrm>
          </p:grpSpPr>
          <p:sp>
            <p:nvSpPr>
              <p:cNvPr id="328" name="Google Shape;328;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30" name="Google Shape;330;g34fce246725_0_168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31" name="Google Shape;331;g34fce246725_0_1688"/>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Increased scientific output: publication and peer-review becomes routine</a:t>
              </a:r>
              <a:endParaRPr sz="1200">
                <a:solidFill>
                  <a:srgbClr val="888888"/>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Journals expensive, access is limited </a:t>
              </a:r>
              <a:endParaRPr sz="1200">
                <a:solidFill>
                  <a:srgbClr val="888888"/>
                </a:solidFill>
                <a:latin typeface="Lato Light"/>
                <a:ea typeface="Lato Light"/>
                <a:cs typeface="Lato Light"/>
                <a:sym typeface="Lato Light"/>
              </a:endParaRPr>
            </a:p>
          </p:txBody>
        </p:sp>
        <p:sp>
          <p:nvSpPr>
            <p:cNvPr id="332" name="Google Shape;332;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333" name="Google Shape;333;g34fce246725_0_1688"/>
          <p:cNvGrpSpPr/>
          <p:nvPr/>
        </p:nvGrpSpPr>
        <p:grpSpPr>
          <a:xfrm>
            <a:off x="4055291" y="3060704"/>
            <a:ext cx="4068013" cy="3797180"/>
            <a:chOff x="3048000" y="2295575"/>
            <a:chExt cx="1524000" cy="2847956"/>
          </a:xfrm>
        </p:grpSpPr>
        <p:grpSp>
          <p:nvGrpSpPr>
            <p:cNvPr id="334" name="Google Shape;334;g34fce246725_0_1688"/>
            <p:cNvGrpSpPr/>
            <p:nvPr/>
          </p:nvGrpSpPr>
          <p:grpSpPr>
            <a:xfrm>
              <a:off x="3048000" y="2295578"/>
              <a:ext cx="1524000" cy="2847953"/>
              <a:chOff x="0" y="2295575"/>
              <a:chExt cx="1524000" cy="2837455"/>
            </a:xfrm>
          </p:grpSpPr>
          <p:sp>
            <p:nvSpPr>
              <p:cNvPr id="335" name="Google Shape;335;g34fce246725_0_1688"/>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336" name="Google Shape;336;g34fce246725_0_1688"/>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37" name="Google Shape;337;g34fce246725_0_1688"/>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38" name="Google Shape;338;g34fce246725_0_1688"/>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Scientific societies and publications</a:t>
              </a:r>
              <a:endParaRPr b="1" i="0" sz="1500" u="none" cap="none" strike="noStrike">
                <a:solidFill>
                  <a:srgbClr val="888888"/>
                </a:solidFill>
                <a:latin typeface="Lora"/>
                <a:ea typeface="Lora"/>
                <a:cs typeface="Lora"/>
                <a:sym typeface="Lora"/>
              </a:endParaRPr>
            </a:p>
          </p:txBody>
        </p:sp>
        <p:sp>
          <p:nvSpPr>
            <p:cNvPr id="339" name="Google Shape;339;g34fce246725_0_1688"/>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1660-1700</a:t>
              </a:r>
              <a:endParaRPr b="0" i="0" sz="1300" u="none" cap="none" strike="noStrike">
                <a:solidFill>
                  <a:srgbClr val="888888"/>
                </a:solidFill>
                <a:latin typeface="Roboto"/>
                <a:ea typeface="Roboto"/>
                <a:cs typeface="Roboto"/>
                <a:sym typeface="Roboto"/>
              </a:endParaRPr>
            </a:p>
          </p:txBody>
        </p:sp>
      </p:grpSp>
      <p:sp>
        <p:nvSpPr>
          <p:cNvPr id="340" name="Google Shape;340;g34fce246725_0_1688"/>
          <p:cNvSpPr/>
          <p:nvPr/>
        </p:nvSpPr>
        <p:spPr>
          <a:xfrm>
            <a:off x="2021249" y="3765154"/>
            <a:ext cx="2033949" cy="3092723"/>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341" name="Google Shape;341;g34fce246725_0_1688"/>
          <p:cNvSpPr/>
          <p:nvPr/>
        </p:nvSpPr>
        <p:spPr>
          <a:xfrm>
            <a:off x="2021249" y="3060705"/>
            <a:ext cx="2033949" cy="71598"/>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342" name="Google Shape;342;g34fce246725_0_1688"/>
          <p:cNvSpPr txBox="1"/>
          <p:nvPr/>
        </p:nvSpPr>
        <p:spPr>
          <a:xfrm>
            <a:off x="2256879" y="3990446"/>
            <a:ext cx="1562761" cy="905177"/>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Aristocratic patronage </a:t>
            </a:r>
            <a:endParaRPr b="1" i="0" sz="1500" u="none" cap="none" strike="noStrike">
              <a:solidFill>
                <a:srgbClr val="888888"/>
              </a:solidFill>
              <a:latin typeface="Lora"/>
              <a:ea typeface="Lora"/>
              <a:cs typeface="Lora"/>
              <a:sym typeface="Lora"/>
            </a:endParaRPr>
          </a:p>
        </p:txBody>
      </p:sp>
      <p:sp>
        <p:nvSpPr>
          <p:cNvPr id="343" name="Google Shape;343;g34fce246725_0_1688"/>
          <p:cNvSpPr txBox="1"/>
          <p:nvPr/>
        </p:nvSpPr>
        <p:spPr>
          <a:xfrm>
            <a:off x="2256874" y="3254750"/>
            <a:ext cx="1400765" cy="347191"/>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1600-1660</a:t>
            </a:r>
            <a:endParaRPr b="0" i="0" sz="1300" u="none" cap="none" strike="noStrike">
              <a:solidFill>
                <a:srgbClr val="888888"/>
              </a:solidFill>
              <a:latin typeface="Roboto"/>
              <a:ea typeface="Roboto"/>
              <a:cs typeface="Roboto"/>
              <a:sym typeface="Roboto"/>
            </a:endParaRPr>
          </a:p>
        </p:txBody>
      </p:sp>
      <p:cxnSp>
        <p:nvCxnSpPr>
          <p:cNvPr id="344" name="Google Shape;344;g34fce246725_0_1688"/>
          <p:cNvCxnSpPr/>
          <p:nvPr/>
        </p:nvCxnSpPr>
        <p:spPr>
          <a:xfrm>
            <a:off x="4055231" y="3060705"/>
            <a:ext cx="0" cy="3783105"/>
          </a:xfrm>
          <a:prstGeom prst="straightConnector1">
            <a:avLst/>
          </a:prstGeom>
          <a:noFill/>
          <a:ln cap="flat" cmpd="sng" w="9525">
            <a:solidFill>
              <a:srgbClr val="83E3DA"/>
            </a:solidFill>
            <a:prstDash val="dot"/>
            <a:round/>
            <a:headEnd len="sm" w="sm" type="none"/>
            <a:tailEnd len="sm" w="sm" type="none"/>
          </a:ln>
        </p:spPr>
      </p:cxnSp>
      <p:grpSp>
        <p:nvGrpSpPr>
          <p:cNvPr id="345" name="Google Shape;345;g34fce246725_0_1688"/>
          <p:cNvGrpSpPr/>
          <p:nvPr/>
        </p:nvGrpSpPr>
        <p:grpSpPr>
          <a:xfrm>
            <a:off x="-84" y="3060705"/>
            <a:ext cx="2033981" cy="3797172"/>
            <a:chOff x="1515975" y="2295580"/>
            <a:chExt cx="1525524" cy="2847950"/>
          </a:xfrm>
        </p:grpSpPr>
        <p:sp>
          <p:nvSpPr>
            <p:cNvPr id="346" name="Google Shape;346;g34fce246725_0_1688"/>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7" name="Google Shape;347;g34fce246725_0_1688"/>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4fce246725_0_1688"/>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349" name="Google Shape;349;g34fce246725_0_1688"/>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350" name="Google Shape;350;g34fce246725_0_1688"/>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351" name="Google Shape;351;g34fce246725_0_1688"/>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352" name="Google Shape;352;g34fce246725_0_1688"/>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353" name="Google Shape;353;g34fce246725_0_1688"/>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354" name="Google Shape;354;g34fce246725_0_1688"/>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355" name="Google Shape;355;g34fce246725_0_1688"/>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356" name="Google Shape;356;g34fce246725_0_1688"/>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357" name="Google Shape;357;g34fce246725_0_1688"/>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58" name="Google Shape;358;g34fce246725_0_1688"/>
          <p:cNvCxnSpPr>
            <a:endCxn id="359"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360" name="Google Shape;360;g34fce246725_0_1688"/>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1" name="Google Shape;361;g34fce246725_0_1688"/>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2" name="Google Shape;362;g34fce246725_0_1688"/>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3" name="Google Shape;363;g34fce246725_0_1688"/>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4" name="Google Shape;364;g34fce246725_0_1688"/>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9" name="Google Shape;359;g34fce246725_0_1688"/>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5" name="Google Shape;365;g34fce246725_0_1688"/>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366" name="Google Shape;366;g34fce246725_0_1688"/>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367" name="Google Shape;367;g34fce246725_0_1688"/>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368" name="Google Shape;368;g34fce246725_0_1688"/>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369" name="Google Shape;369;g34fce246725_0_1688"/>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370" name="Google Shape;370;g34fce246725_0_1688"/>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371" name="Google Shape;371;g34fce246725_0_1688"/>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372" name="Google Shape;372;g34fce246725_0_1688"/>
          <p:cNvCxnSpPr/>
          <p:nvPr/>
        </p:nvCxnSpPr>
        <p:spPr>
          <a:xfrm>
            <a:off x="75300" y="2204150"/>
            <a:ext cx="11784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4d1cf5dcd5_0_115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379" name="Google Shape;379;g34d1cf5dcd5_0_115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380" name="Google Shape;380;g34d1cf5dcd5_0_115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381" name="Google Shape;381;g34d1cf5dcd5_0_115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382" name="Google Shape;382;g34d1cf5dcd5_0_1154"/>
          <p:cNvGrpSpPr/>
          <p:nvPr/>
        </p:nvGrpSpPr>
        <p:grpSpPr>
          <a:xfrm>
            <a:off x="10157536" y="3060700"/>
            <a:ext cx="2034083" cy="3797176"/>
            <a:chOff x="3048000" y="2295578"/>
            <a:chExt cx="1524000" cy="2847953"/>
          </a:xfrm>
        </p:grpSpPr>
        <p:grpSp>
          <p:nvGrpSpPr>
            <p:cNvPr id="383" name="Google Shape;383;g34d1cf5dcd5_0_1154"/>
            <p:cNvGrpSpPr/>
            <p:nvPr/>
          </p:nvGrpSpPr>
          <p:grpSpPr>
            <a:xfrm>
              <a:off x="3048000" y="2295578"/>
              <a:ext cx="1524000" cy="2847953"/>
              <a:chOff x="0" y="2295575"/>
              <a:chExt cx="1524000" cy="2837455"/>
            </a:xfrm>
          </p:grpSpPr>
          <p:sp>
            <p:nvSpPr>
              <p:cNvPr id="384" name="Google Shape;384;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387" name="Google Shape;387;g34d1cf5dcd5_0_1154"/>
          <p:cNvGrpSpPr/>
          <p:nvPr/>
        </p:nvGrpSpPr>
        <p:grpSpPr>
          <a:xfrm>
            <a:off x="8123502" y="3060697"/>
            <a:ext cx="2034083" cy="3797180"/>
            <a:chOff x="3048000" y="2295575"/>
            <a:chExt cx="1524000" cy="2847956"/>
          </a:xfrm>
        </p:grpSpPr>
        <p:grpSp>
          <p:nvGrpSpPr>
            <p:cNvPr id="388" name="Google Shape;388;g34d1cf5dcd5_0_1154"/>
            <p:cNvGrpSpPr/>
            <p:nvPr/>
          </p:nvGrpSpPr>
          <p:grpSpPr>
            <a:xfrm>
              <a:off x="3048000" y="2295578"/>
              <a:ext cx="1524000" cy="2847953"/>
              <a:chOff x="0" y="2295575"/>
              <a:chExt cx="1524000" cy="2837455"/>
            </a:xfrm>
          </p:grpSpPr>
          <p:sp>
            <p:nvSpPr>
              <p:cNvPr id="389" name="Google Shape;389;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91" name="Google Shape;391;g34d1cf5dcd5_0_115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92" name="Google Shape;392;g34d1cf5dcd5_0_1154"/>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Increased scientific output: publication and peer-review becomes routine</a:t>
              </a:r>
              <a:endParaRPr sz="1200">
                <a:solidFill>
                  <a:srgbClr val="888888"/>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Journals expensive, access is limited </a:t>
              </a:r>
              <a:endParaRPr sz="1200">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888888"/>
                </a:solidFill>
                <a:latin typeface="Lato Light"/>
                <a:ea typeface="Lato Light"/>
                <a:cs typeface="Lato Light"/>
                <a:sym typeface="Lato Light"/>
              </a:endParaRPr>
            </a:p>
          </p:txBody>
        </p:sp>
        <p:sp>
          <p:nvSpPr>
            <p:cNvPr id="393" name="Google Shape;393;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394" name="Google Shape;394;g34d1cf5dcd5_0_1154"/>
          <p:cNvGrpSpPr/>
          <p:nvPr/>
        </p:nvGrpSpPr>
        <p:grpSpPr>
          <a:xfrm>
            <a:off x="4055291" y="3060704"/>
            <a:ext cx="4068013" cy="3797180"/>
            <a:chOff x="3048000" y="2295575"/>
            <a:chExt cx="1524000" cy="2847956"/>
          </a:xfrm>
        </p:grpSpPr>
        <p:grpSp>
          <p:nvGrpSpPr>
            <p:cNvPr id="395" name="Google Shape;395;g34d1cf5dcd5_0_1154"/>
            <p:cNvGrpSpPr/>
            <p:nvPr/>
          </p:nvGrpSpPr>
          <p:grpSpPr>
            <a:xfrm>
              <a:off x="3048000" y="2295578"/>
              <a:ext cx="1524000" cy="2847953"/>
              <a:chOff x="0" y="2295575"/>
              <a:chExt cx="1524000" cy="2837455"/>
            </a:xfrm>
          </p:grpSpPr>
          <p:sp>
            <p:nvSpPr>
              <p:cNvPr id="396" name="Google Shape;396;g34d1cf5dcd5_0_115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397" name="Google Shape;397;g34d1cf5dcd5_0_115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98" name="Google Shape;398;g34d1cf5dcd5_0_115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399" name="Google Shape;399;g34d1cf5dcd5_0_1154"/>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Scientific societies and publications</a:t>
              </a:r>
              <a:endParaRPr b="1" i="0" sz="1500" u="none" cap="none" strike="noStrike">
                <a:solidFill>
                  <a:srgbClr val="888888"/>
                </a:solidFill>
                <a:latin typeface="Lora"/>
                <a:ea typeface="Lora"/>
                <a:cs typeface="Lora"/>
                <a:sym typeface="Lora"/>
              </a:endParaRPr>
            </a:p>
          </p:txBody>
        </p:sp>
        <p:sp>
          <p:nvSpPr>
            <p:cNvPr id="400" name="Google Shape;400;g34d1cf5dcd5_0_115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1660-1700</a:t>
              </a:r>
              <a:endParaRPr b="0" i="0" sz="1300" u="none" cap="none" strike="noStrike">
                <a:solidFill>
                  <a:srgbClr val="888888"/>
                </a:solidFill>
                <a:latin typeface="Roboto"/>
                <a:ea typeface="Roboto"/>
                <a:cs typeface="Roboto"/>
                <a:sym typeface="Roboto"/>
              </a:endParaRPr>
            </a:p>
          </p:txBody>
        </p:sp>
      </p:grpSp>
      <p:sp>
        <p:nvSpPr>
          <p:cNvPr id="401" name="Google Shape;401;g34d1cf5dcd5_0_1154"/>
          <p:cNvSpPr/>
          <p:nvPr/>
        </p:nvSpPr>
        <p:spPr>
          <a:xfrm>
            <a:off x="2021249" y="3765154"/>
            <a:ext cx="2033949" cy="3092723"/>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02" name="Google Shape;402;g34d1cf5dcd5_0_1154"/>
          <p:cNvSpPr/>
          <p:nvPr/>
        </p:nvSpPr>
        <p:spPr>
          <a:xfrm>
            <a:off x="2021249" y="3060705"/>
            <a:ext cx="2033949" cy="71598"/>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4d1cf5dcd5_0_1154"/>
          <p:cNvSpPr txBox="1"/>
          <p:nvPr/>
        </p:nvSpPr>
        <p:spPr>
          <a:xfrm>
            <a:off x="2256879" y="3990446"/>
            <a:ext cx="1562761" cy="905177"/>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404" name="Google Shape;404;g34d1cf5dcd5_0_1154"/>
          <p:cNvSpPr txBox="1"/>
          <p:nvPr/>
        </p:nvSpPr>
        <p:spPr>
          <a:xfrm>
            <a:off x="2256874" y="3254750"/>
            <a:ext cx="1400765" cy="347191"/>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405" name="Google Shape;405;g34d1cf5dcd5_0_1154"/>
          <p:cNvCxnSpPr/>
          <p:nvPr/>
        </p:nvCxnSpPr>
        <p:spPr>
          <a:xfrm>
            <a:off x="4055231" y="3060705"/>
            <a:ext cx="0" cy="3783105"/>
          </a:xfrm>
          <a:prstGeom prst="straightConnector1">
            <a:avLst/>
          </a:prstGeom>
          <a:noFill/>
          <a:ln cap="flat" cmpd="sng" w="9525">
            <a:solidFill>
              <a:srgbClr val="83E3DA"/>
            </a:solidFill>
            <a:prstDash val="dot"/>
            <a:round/>
            <a:headEnd len="sm" w="sm" type="none"/>
            <a:tailEnd len="sm" w="sm" type="none"/>
          </a:ln>
        </p:spPr>
      </p:cxnSp>
      <p:grpSp>
        <p:nvGrpSpPr>
          <p:cNvPr id="406" name="Google Shape;406;g34d1cf5dcd5_0_1154"/>
          <p:cNvGrpSpPr/>
          <p:nvPr/>
        </p:nvGrpSpPr>
        <p:grpSpPr>
          <a:xfrm>
            <a:off x="-84" y="3060705"/>
            <a:ext cx="2033981" cy="3797172"/>
            <a:chOff x="1515975" y="2295580"/>
            <a:chExt cx="1525524" cy="2847950"/>
          </a:xfrm>
        </p:grpSpPr>
        <p:sp>
          <p:nvSpPr>
            <p:cNvPr id="407" name="Google Shape;407;g34d1cf5dcd5_0_115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8" name="Google Shape;408;g34d1cf5dcd5_0_115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4d1cf5dcd5_0_115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410" name="Google Shape;410;g34d1cf5dcd5_0_1154"/>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11" name="Google Shape;411;g34d1cf5dcd5_0_1154"/>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412" name="Google Shape;412;g34d1cf5dcd5_0_115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413" name="Google Shape;413;g34d1cf5dcd5_0_1154"/>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14" name="Google Shape;414;g34d1cf5dcd5_0_1154"/>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415" name="Google Shape;415;g34d1cf5dcd5_0_1154"/>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416" name="Google Shape;416;g34d1cf5dcd5_0_1154"/>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417" name="Google Shape;417;g34d1cf5dcd5_0_1154"/>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418" name="Google Shape;418;g34d1cf5dcd5_0_1154"/>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19" name="Google Shape;419;g34d1cf5dcd5_0_1154"/>
          <p:cNvCxnSpPr>
            <a:endCxn id="420"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421" name="Google Shape;421;g34d1cf5dcd5_0_1154"/>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2" name="Google Shape;422;g34d1cf5dcd5_0_1154"/>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3" name="Google Shape;423;g34d1cf5dcd5_0_1154"/>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4" name="Google Shape;424;g34d1cf5dcd5_0_1154"/>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5" name="Google Shape;425;g34d1cf5dcd5_0_1154"/>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0" name="Google Shape;420;g34d1cf5dcd5_0_1154"/>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6" name="Google Shape;426;g34d1cf5dcd5_0_1154"/>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427" name="Google Shape;427;g34d1cf5dcd5_0_1154"/>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428" name="Google Shape;428;g34d1cf5dcd5_0_1154"/>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429" name="Google Shape;429;g34d1cf5dcd5_0_1154"/>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430" name="Google Shape;430;g34d1cf5dcd5_0_1154"/>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431" name="Google Shape;431;g34d1cf5dcd5_0_1154"/>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432" name="Google Shape;432;g34d1cf5dcd5_0_1154"/>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433" name="Google Shape;433;g34d1cf5dcd5_0_1154"/>
          <p:cNvCxnSpPr/>
          <p:nvPr/>
        </p:nvCxnSpPr>
        <p:spPr>
          <a:xfrm>
            <a:off x="1431950" y="2204300"/>
            <a:ext cx="11784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4d1cf5dcd5_0_119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440" name="Google Shape;440;g34d1cf5dcd5_0_119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41" name="Google Shape;441;g34d1cf5dcd5_0_119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442" name="Google Shape;442;g34d1cf5dcd5_0_1199"/>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443" name="Google Shape;443;g34d1cf5dcd5_0_1199"/>
          <p:cNvGrpSpPr/>
          <p:nvPr/>
        </p:nvGrpSpPr>
        <p:grpSpPr>
          <a:xfrm>
            <a:off x="10157536" y="3060700"/>
            <a:ext cx="2034083" cy="3797176"/>
            <a:chOff x="3048000" y="2295578"/>
            <a:chExt cx="1524000" cy="2847953"/>
          </a:xfrm>
        </p:grpSpPr>
        <p:grpSp>
          <p:nvGrpSpPr>
            <p:cNvPr id="444" name="Google Shape;444;g34d1cf5dcd5_0_1199"/>
            <p:cNvGrpSpPr/>
            <p:nvPr/>
          </p:nvGrpSpPr>
          <p:grpSpPr>
            <a:xfrm>
              <a:off x="3048000" y="2295578"/>
              <a:ext cx="1524000" cy="2847953"/>
              <a:chOff x="0" y="2295575"/>
              <a:chExt cx="1524000" cy="2837455"/>
            </a:xfrm>
          </p:grpSpPr>
          <p:sp>
            <p:nvSpPr>
              <p:cNvPr id="445" name="Google Shape;445;g34d1cf5dcd5_0_119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4d1cf5dcd5_0_119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7" name="Google Shape;447;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448" name="Google Shape;448;g34d1cf5dcd5_0_1199"/>
          <p:cNvGrpSpPr/>
          <p:nvPr/>
        </p:nvGrpSpPr>
        <p:grpSpPr>
          <a:xfrm>
            <a:off x="8123502" y="3060697"/>
            <a:ext cx="2034083" cy="3797180"/>
            <a:chOff x="3048000" y="2295575"/>
            <a:chExt cx="1524000" cy="2847956"/>
          </a:xfrm>
        </p:grpSpPr>
        <p:grpSp>
          <p:nvGrpSpPr>
            <p:cNvPr id="449" name="Google Shape;449;g34d1cf5dcd5_0_1199"/>
            <p:cNvGrpSpPr/>
            <p:nvPr/>
          </p:nvGrpSpPr>
          <p:grpSpPr>
            <a:xfrm>
              <a:off x="3048000" y="2295578"/>
              <a:ext cx="1524000" cy="2847953"/>
              <a:chOff x="0" y="2295575"/>
              <a:chExt cx="1524000" cy="2837455"/>
            </a:xfrm>
          </p:grpSpPr>
          <p:sp>
            <p:nvSpPr>
              <p:cNvPr id="450" name="Google Shape;450;g34d1cf5dcd5_0_119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g34d1cf5dcd5_0_119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452" name="Google Shape;452;g34d1cf5dcd5_0_1199"/>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453" name="Google Shape;453;g34d1cf5dcd5_0_1199"/>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Increased scientific output: publication and peer-review becomes routine</a:t>
              </a:r>
              <a:endParaRPr sz="1200">
                <a:solidFill>
                  <a:srgbClr val="888888"/>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rgbClr val="888888"/>
                  </a:solidFill>
                  <a:latin typeface="Lato Light"/>
                  <a:ea typeface="Lato Light"/>
                  <a:cs typeface="Lato Light"/>
                  <a:sym typeface="Lato Light"/>
                </a:rPr>
                <a:t>- Journals expensive, access is limited </a:t>
              </a:r>
              <a:endParaRPr sz="1200">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sz="1200">
                <a:solidFill>
                  <a:srgbClr val="888888"/>
                </a:solidFill>
                <a:latin typeface="Lato Light"/>
                <a:ea typeface="Lato Light"/>
                <a:cs typeface="Lato Light"/>
                <a:sym typeface="Lato Light"/>
              </a:endParaRPr>
            </a:p>
          </p:txBody>
        </p:sp>
        <p:sp>
          <p:nvSpPr>
            <p:cNvPr id="454" name="Google Shape;454;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1700-1900</a:t>
              </a:r>
              <a:endParaRPr b="0" i="0" sz="1300" u="none" cap="none" strike="noStrike">
                <a:solidFill>
                  <a:srgbClr val="888888"/>
                </a:solidFill>
                <a:latin typeface="Roboto"/>
                <a:ea typeface="Roboto"/>
                <a:cs typeface="Roboto"/>
                <a:sym typeface="Roboto"/>
              </a:endParaRPr>
            </a:p>
          </p:txBody>
        </p:sp>
      </p:grpSp>
      <p:grpSp>
        <p:nvGrpSpPr>
          <p:cNvPr id="455" name="Google Shape;455;g34d1cf5dcd5_0_1199"/>
          <p:cNvGrpSpPr/>
          <p:nvPr/>
        </p:nvGrpSpPr>
        <p:grpSpPr>
          <a:xfrm>
            <a:off x="4055291" y="3060704"/>
            <a:ext cx="4068013" cy="3797180"/>
            <a:chOff x="3048000" y="2295575"/>
            <a:chExt cx="1524000" cy="2847956"/>
          </a:xfrm>
        </p:grpSpPr>
        <p:grpSp>
          <p:nvGrpSpPr>
            <p:cNvPr id="456" name="Google Shape;456;g34d1cf5dcd5_0_1199"/>
            <p:cNvGrpSpPr/>
            <p:nvPr/>
          </p:nvGrpSpPr>
          <p:grpSpPr>
            <a:xfrm>
              <a:off x="3048000" y="2295578"/>
              <a:ext cx="1524000" cy="2847953"/>
              <a:chOff x="0" y="2295575"/>
              <a:chExt cx="1524000" cy="2837455"/>
            </a:xfrm>
          </p:grpSpPr>
          <p:sp>
            <p:nvSpPr>
              <p:cNvPr id="457" name="Google Shape;457;g34d1cf5dcd5_0_119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58" name="Google Shape;458;g34d1cf5dcd5_0_119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459" name="Google Shape;459;g34d1cf5dcd5_0_1199"/>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460" name="Google Shape;460;g34d1cf5dcd5_0_1199"/>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461" name="Google Shape;461;g34d1cf5dcd5_0_119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462" name="Google Shape;462;g34d1cf5dcd5_0_1199"/>
          <p:cNvGrpSpPr/>
          <p:nvPr/>
        </p:nvGrpSpPr>
        <p:grpSpPr>
          <a:xfrm>
            <a:off x="2021249" y="3060705"/>
            <a:ext cx="2033981" cy="3797172"/>
            <a:chOff x="1515975" y="2295580"/>
            <a:chExt cx="1525524" cy="2847950"/>
          </a:xfrm>
        </p:grpSpPr>
        <p:sp>
          <p:nvSpPr>
            <p:cNvPr id="463" name="Google Shape;463;g34d1cf5dcd5_0_119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464" name="Google Shape;464;g34d1cf5dcd5_0_119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34d1cf5dcd5_0_1199"/>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466" name="Google Shape;466;g34d1cf5dcd5_0_1199"/>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467" name="Google Shape;467;g34d1cf5dcd5_0_119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468" name="Google Shape;468;g34d1cf5dcd5_0_1199"/>
          <p:cNvGrpSpPr/>
          <p:nvPr/>
        </p:nvGrpSpPr>
        <p:grpSpPr>
          <a:xfrm>
            <a:off x="-84" y="3060705"/>
            <a:ext cx="2033981" cy="3797172"/>
            <a:chOff x="1515975" y="2295580"/>
            <a:chExt cx="1525524" cy="2847950"/>
          </a:xfrm>
        </p:grpSpPr>
        <p:sp>
          <p:nvSpPr>
            <p:cNvPr id="469" name="Google Shape;469;g34d1cf5dcd5_0_119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0" name="Google Shape;470;g34d1cf5dcd5_0_119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4d1cf5dcd5_0_1199"/>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472" name="Google Shape;472;g34d1cf5dcd5_0_1199"/>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3" name="Google Shape;473;g34d1cf5dcd5_0_1199"/>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474" name="Google Shape;474;g34d1cf5dcd5_0_119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475" name="Google Shape;475;g34d1cf5dcd5_0_1199"/>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6" name="Google Shape;476;g34d1cf5dcd5_0_1199"/>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477" name="Google Shape;477;g34d1cf5dcd5_0_1199"/>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Limited access</a:t>
            </a:r>
            <a:endParaRPr b="1" i="0" sz="1500" u="none" cap="none" strike="noStrike">
              <a:solidFill>
                <a:srgbClr val="888888"/>
              </a:solidFill>
              <a:latin typeface="Lora"/>
              <a:ea typeface="Lora"/>
              <a:cs typeface="Lora"/>
              <a:sym typeface="Lora"/>
            </a:endParaRPr>
          </a:p>
        </p:txBody>
      </p:sp>
      <p:sp>
        <p:nvSpPr>
          <p:cNvPr id="478" name="Google Shape;478;g34d1cf5dcd5_0_1199"/>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479" name="Google Shape;479;g34d1cf5dcd5_0_1199"/>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480" name="Google Shape;480;g34d1cf5dcd5_0_1199"/>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1" name="Google Shape;481;g34d1cf5dcd5_0_119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82" name="Google Shape;482;g34d1cf5dcd5_0_1199"/>
          <p:cNvCxnSpPr>
            <a:endCxn id="483"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484" name="Google Shape;484;g34d1cf5dcd5_0_119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5" name="Google Shape;485;g34d1cf5dcd5_0_119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6" name="Google Shape;486;g34d1cf5dcd5_0_119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7" name="Google Shape;487;g34d1cf5dcd5_0_119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8" name="Google Shape;488;g34d1cf5dcd5_0_119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3" name="Google Shape;483;g34d1cf5dcd5_0_119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9" name="Google Shape;489;g34d1cf5dcd5_0_119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490" name="Google Shape;490;g34d1cf5dcd5_0_119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491" name="Google Shape;491;g34d1cf5dcd5_0_119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492" name="Google Shape;492;g34d1cf5dcd5_0_119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493" name="Google Shape;493;g34d1cf5dcd5_0_119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494" name="Google Shape;494;g34d1cf5dcd5_0_119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495" name="Google Shape;495;g34d1cf5dcd5_0_119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496" name="Google Shape;496;g34d1cf5dcd5_0_1199"/>
          <p:cNvCxnSpPr/>
          <p:nvPr/>
        </p:nvCxnSpPr>
        <p:spPr>
          <a:xfrm>
            <a:off x="2525475" y="2204150"/>
            <a:ext cx="7125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4d1cf5dcd5_0_1244"/>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503" name="Google Shape;503;g34d1cf5dcd5_0_124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04" name="Google Shape;504;g34d1cf5dcd5_0_124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505" name="Google Shape;505;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506" name="Google Shape;506;g34d1cf5dcd5_0_1244"/>
          <p:cNvGrpSpPr/>
          <p:nvPr/>
        </p:nvGrpSpPr>
        <p:grpSpPr>
          <a:xfrm>
            <a:off x="10157536" y="3060700"/>
            <a:ext cx="2034083" cy="3797176"/>
            <a:chOff x="3048000" y="2295578"/>
            <a:chExt cx="1524000" cy="2847953"/>
          </a:xfrm>
        </p:grpSpPr>
        <p:grpSp>
          <p:nvGrpSpPr>
            <p:cNvPr id="507" name="Google Shape;507;g34d1cf5dcd5_0_1244"/>
            <p:cNvGrpSpPr/>
            <p:nvPr/>
          </p:nvGrpSpPr>
          <p:grpSpPr>
            <a:xfrm>
              <a:off x="3048000" y="2295578"/>
              <a:ext cx="1524000" cy="2847953"/>
              <a:chOff x="0" y="2295575"/>
              <a:chExt cx="1524000" cy="2837455"/>
            </a:xfrm>
          </p:grpSpPr>
          <p:sp>
            <p:nvSpPr>
              <p:cNvPr id="508" name="Google Shape;508;g34d1cf5dcd5_0_1244"/>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g34d1cf5dcd5_0_1244"/>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0" name="Google Shape;510;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1900-1950</a:t>
              </a:r>
              <a:endParaRPr b="0" i="0" sz="1300" u="none" cap="none" strike="noStrike">
                <a:solidFill>
                  <a:srgbClr val="888888"/>
                </a:solidFill>
                <a:latin typeface="Roboto"/>
                <a:ea typeface="Roboto"/>
                <a:cs typeface="Roboto"/>
                <a:sym typeface="Roboto"/>
              </a:endParaRPr>
            </a:p>
          </p:txBody>
        </p:sp>
      </p:grpSp>
      <p:grpSp>
        <p:nvGrpSpPr>
          <p:cNvPr id="511" name="Google Shape;511;g34d1cf5dcd5_0_1244"/>
          <p:cNvGrpSpPr/>
          <p:nvPr/>
        </p:nvGrpSpPr>
        <p:grpSpPr>
          <a:xfrm>
            <a:off x="8123502" y="3060697"/>
            <a:ext cx="2034083" cy="3797180"/>
            <a:chOff x="3048000" y="2295575"/>
            <a:chExt cx="1524000" cy="2847956"/>
          </a:xfrm>
        </p:grpSpPr>
        <p:grpSp>
          <p:nvGrpSpPr>
            <p:cNvPr id="512" name="Google Shape;512;g34d1cf5dcd5_0_1244"/>
            <p:cNvGrpSpPr/>
            <p:nvPr/>
          </p:nvGrpSpPr>
          <p:grpSpPr>
            <a:xfrm>
              <a:off x="3048000" y="2295578"/>
              <a:ext cx="1524000" cy="2847953"/>
              <a:chOff x="0" y="2295575"/>
              <a:chExt cx="1524000" cy="2837455"/>
            </a:xfrm>
          </p:grpSpPr>
          <p:sp>
            <p:nvSpPr>
              <p:cNvPr id="513" name="Google Shape;513;g34d1cf5dcd5_0_1244"/>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34d1cf5dcd5_0_1244"/>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15" name="Google Shape;515;g34d1cf5dcd5_0_124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16" name="Google Shape;516;g34d1cf5dcd5_0_1244"/>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Increased scientific output: publication and peer-review becomes routine</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a:t>
              </a:r>
              <a:r>
                <a:rPr lang="en-US" sz="1200">
                  <a:solidFill>
                    <a:schemeClr val="lt1"/>
                  </a:solidFill>
                  <a:latin typeface="Lato Light"/>
                  <a:ea typeface="Lato Light"/>
                  <a:cs typeface="Lato Light"/>
                  <a:sym typeface="Lato Light"/>
                </a:rPr>
                <a:t>J</a:t>
              </a:r>
              <a:r>
                <a:rPr b="0" i="0" lang="en-US" sz="1200" u="none" cap="none" strike="noStrike">
                  <a:solidFill>
                    <a:schemeClr val="lt1"/>
                  </a:solidFill>
                  <a:latin typeface="Lato Light"/>
                  <a:ea typeface="Lato Light"/>
                  <a:cs typeface="Lato Light"/>
                  <a:sym typeface="Lato Light"/>
                </a:rPr>
                <a:t>ournals expensive, access is limited </a:t>
              </a:r>
              <a:endParaRPr b="0" i="0" sz="1200" u="none" cap="none" strike="noStrike">
                <a:solidFill>
                  <a:schemeClr val="lt1"/>
                </a:solidFill>
                <a:latin typeface="Lato Light"/>
                <a:ea typeface="Lato Light"/>
                <a:cs typeface="Lato Light"/>
                <a:sym typeface="Lato Light"/>
              </a:endParaRPr>
            </a:p>
          </p:txBody>
        </p:sp>
        <p:sp>
          <p:nvSpPr>
            <p:cNvPr id="517" name="Google Shape;517;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1700-1900</a:t>
              </a:r>
              <a:endParaRPr b="0" i="0" sz="1300" u="none" cap="none" strike="noStrike">
                <a:solidFill>
                  <a:srgbClr val="4C979F"/>
                </a:solidFill>
                <a:latin typeface="Roboto"/>
                <a:ea typeface="Roboto"/>
                <a:cs typeface="Roboto"/>
                <a:sym typeface="Roboto"/>
              </a:endParaRPr>
            </a:p>
          </p:txBody>
        </p:sp>
      </p:grpSp>
      <p:grpSp>
        <p:nvGrpSpPr>
          <p:cNvPr id="518" name="Google Shape;518;g34d1cf5dcd5_0_1244"/>
          <p:cNvGrpSpPr/>
          <p:nvPr/>
        </p:nvGrpSpPr>
        <p:grpSpPr>
          <a:xfrm>
            <a:off x="4055291" y="3060704"/>
            <a:ext cx="4068013" cy="3797180"/>
            <a:chOff x="3048000" y="2295575"/>
            <a:chExt cx="1524000" cy="2847956"/>
          </a:xfrm>
        </p:grpSpPr>
        <p:grpSp>
          <p:nvGrpSpPr>
            <p:cNvPr id="519" name="Google Shape;519;g34d1cf5dcd5_0_1244"/>
            <p:cNvGrpSpPr/>
            <p:nvPr/>
          </p:nvGrpSpPr>
          <p:grpSpPr>
            <a:xfrm>
              <a:off x="3048000" y="2295578"/>
              <a:ext cx="1524000" cy="2847953"/>
              <a:chOff x="0" y="2295575"/>
              <a:chExt cx="1524000" cy="2837455"/>
            </a:xfrm>
          </p:grpSpPr>
          <p:sp>
            <p:nvSpPr>
              <p:cNvPr id="520" name="Google Shape;520;g34d1cf5dcd5_0_1244"/>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21" name="Google Shape;521;g34d1cf5dcd5_0_1244"/>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22" name="Google Shape;522;g34d1cf5dcd5_0_1244"/>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23" name="Google Shape;523;g34d1cf5dcd5_0_1244"/>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524" name="Google Shape;524;g34d1cf5dcd5_0_1244"/>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525" name="Google Shape;525;g34d1cf5dcd5_0_1244"/>
          <p:cNvGrpSpPr/>
          <p:nvPr/>
        </p:nvGrpSpPr>
        <p:grpSpPr>
          <a:xfrm>
            <a:off x="2021249" y="3060705"/>
            <a:ext cx="2033981" cy="3797172"/>
            <a:chOff x="1515975" y="2295580"/>
            <a:chExt cx="1525524" cy="2847950"/>
          </a:xfrm>
        </p:grpSpPr>
        <p:sp>
          <p:nvSpPr>
            <p:cNvPr id="526" name="Google Shape;526;g34d1cf5dcd5_0_124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27" name="Google Shape;527;g34d1cf5dcd5_0_124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34d1cf5dcd5_0_124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529" name="Google Shape;529;g34d1cf5dcd5_0_1244"/>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530" name="Google Shape;530;g34d1cf5dcd5_0_124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531" name="Google Shape;531;g34d1cf5dcd5_0_1244"/>
          <p:cNvGrpSpPr/>
          <p:nvPr/>
        </p:nvGrpSpPr>
        <p:grpSpPr>
          <a:xfrm>
            <a:off x="-84" y="3060705"/>
            <a:ext cx="2033981" cy="3797172"/>
            <a:chOff x="1515975" y="2295580"/>
            <a:chExt cx="1525524" cy="2847950"/>
          </a:xfrm>
        </p:grpSpPr>
        <p:sp>
          <p:nvSpPr>
            <p:cNvPr id="532" name="Google Shape;532;g34d1cf5dcd5_0_1244"/>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3" name="Google Shape;533;g34d1cf5dcd5_0_1244"/>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g34d1cf5dcd5_0_1244"/>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Secrecy is Power</a:t>
              </a:r>
              <a:endParaRPr b="1" i="0" sz="1500" u="none" cap="none" strike="noStrike">
                <a:solidFill>
                  <a:schemeClr val="lt1"/>
                </a:solidFill>
                <a:latin typeface="Lora"/>
                <a:ea typeface="Lora"/>
                <a:cs typeface="Lora"/>
                <a:sym typeface="Lora"/>
              </a:endParaRPr>
            </a:p>
          </p:txBody>
        </p:sp>
        <p:sp>
          <p:nvSpPr>
            <p:cNvPr id="535" name="Google Shape;535;g34d1cf5dcd5_0_1244"/>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36" name="Google Shape;536;g34d1cf5dcd5_0_1244"/>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537" name="Google Shape;537;g34d1cf5dcd5_0_1244"/>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538" name="Google Shape;538;g34d1cf5dcd5_0_1244"/>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39" name="Google Shape;539;g34d1cf5dcd5_0_1244"/>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540" name="Google Shape;540;g34d1cf5dcd5_0_1244"/>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Limited access</a:t>
            </a:r>
            <a:endParaRPr b="1" i="0" sz="1500" u="none" cap="none" strike="noStrike">
              <a:solidFill>
                <a:schemeClr val="lt1"/>
              </a:solidFill>
              <a:latin typeface="Lora"/>
              <a:ea typeface="Lora"/>
              <a:cs typeface="Lora"/>
              <a:sym typeface="Lora"/>
            </a:endParaRPr>
          </a:p>
        </p:txBody>
      </p:sp>
      <p:sp>
        <p:nvSpPr>
          <p:cNvPr id="541" name="Google Shape;541;g34d1cf5dcd5_0_1244"/>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Mertonian norms </a:t>
            </a:r>
            <a:endParaRPr b="1" i="0" sz="1500" u="none" cap="none" strike="noStrike">
              <a:solidFill>
                <a:srgbClr val="888888"/>
              </a:solidFill>
              <a:latin typeface="Lora"/>
              <a:ea typeface="Lora"/>
              <a:cs typeface="Lora"/>
              <a:sym typeface="Lora"/>
            </a:endParaRPr>
          </a:p>
        </p:txBody>
      </p:sp>
      <p:sp>
        <p:nvSpPr>
          <p:cNvPr id="542" name="Google Shape;542;g34d1cf5dcd5_0_1244"/>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C</a:t>
            </a:r>
            <a:r>
              <a:rPr b="0" i="0" lang="en-US" sz="1200" u="none" cap="none" strike="noStrike">
                <a:solidFill>
                  <a:srgbClr val="888888"/>
                </a:solidFill>
                <a:latin typeface="Lato Light"/>
                <a:ea typeface="Lato Light"/>
                <a:cs typeface="Lato Light"/>
                <a:sym typeface="Lato Light"/>
              </a:rPr>
              <a:t>ommunism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U</a:t>
            </a:r>
            <a:r>
              <a:rPr b="0" i="0" lang="en-US" sz="1200" u="none" cap="none" strike="noStrike">
                <a:solidFill>
                  <a:srgbClr val="888888"/>
                </a:solidFill>
                <a:latin typeface="Lato Light"/>
                <a:ea typeface="Lato Light"/>
                <a:cs typeface="Lato Light"/>
                <a:sym typeface="Lato Light"/>
              </a:rPr>
              <a:t>niversalism</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D</a:t>
            </a:r>
            <a:r>
              <a:rPr b="0" i="0" lang="en-US" sz="1200" u="none" cap="none" strike="noStrike">
                <a:solidFill>
                  <a:srgbClr val="888888"/>
                </a:solidFill>
                <a:latin typeface="Lato Light"/>
                <a:ea typeface="Lato Light"/>
                <a:cs typeface="Lato Light"/>
                <a:sym typeface="Lato Light"/>
              </a:rPr>
              <a:t>isinterestedness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888888"/>
                </a:solidFill>
                <a:latin typeface="Lato"/>
                <a:ea typeface="Lato"/>
                <a:cs typeface="Lato"/>
                <a:sym typeface="Lato"/>
              </a:rPr>
              <a:t>O</a:t>
            </a:r>
            <a:r>
              <a:rPr b="0" i="0" lang="en-US" sz="1200" u="none" cap="none" strike="noStrike">
                <a:solidFill>
                  <a:srgbClr val="888888"/>
                </a:solidFill>
                <a:latin typeface="Lato Light"/>
                <a:ea typeface="Lato Light"/>
                <a:cs typeface="Lato Light"/>
                <a:sym typeface="Lato Light"/>
              </a:rPr>
              <a:t>rganized skepticism</a:t>
            </a:r>
            <a:endParaRPr b="0" i="0" sz="1200" u="none" cap="none" strike="noStrike">
              <a:solidFill>
                <a:srgbClr val="888888"/>
              </a:solidFill>
              <a:latin typeface="Lato Light"/>
              <a:ea typeface="Lato Light"/>
              <a:cs typeface="Lato Light"/>
              <a:sym typeface="Lato Light"/>
            </a:endParaRPr>
          </a:p>
        </p:txBody>
      </p:sp>
      <p:sp>
        <p:nvSpPr>
          <p:cNvPr id="543" name="Google Shape;543;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4" name="Google Shape;544;g34d1cf5dcd5_0_1244"/>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5" name="Google Shape;545;g34d1cf5dcd5_0_1244"/>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46" name="Google Shape;546;g34d1cf5dcd5_0_1244"/>
          <p:cNvCxnSpPr>
            <a:endCxn id="547"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548" name="Google Shape;548;g34d1cf5dcd5_0_1244"/>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9" name="Google Shape;549;g34d1cf5dcd5_0_1244"/>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0" name="Google Shape;550;g34d1cf5dcd5_0_1244"/>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1" name="Google Shape;551;g34d1cf5dcd5_0_1244"/>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2" name="Google Shape;552;g34d1cf5dcd5_0_1244"/>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7" name="Google Shape;547;g34d1cf5dcd5_0_1244"/>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3" name="Google Shape;553;g34d1cf5dcd5_0_1244"/>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554" name="Google Shape;554;g34d1cf5dcd5_0_1244"/>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555" name="Google Shape;555;g34d1cf5dcd5_0_1244"/>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556" name="Google Shape;556;g34d1cf5dcd5_0_1244"/>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557" name="Google Shape;557;g34d1cf5dcd5_0_1244"/>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558" name="Google Shape;558;g34d1cf5dcd5_0_1244"/>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559" name="Google Shape;559;g34d1cf5dcd5_0_1244"/>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560" name="Google Shape;560;g34d1cf5dcd5_0_1244"/>
          <p:cNvCxnSpPr/>
          <p:nvPr/>
        </p:nvCxnSpPr>
        <p:spPr>
          <a:xfrm>
            <a:off x="3586050" y="2194975"/>
            <a:ext cx="36357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4d1cf5dcd5_0_1003"/>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567" name="Google Shape;567;g34d1cf5dcd5_0_100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568" name="Google Shape;568;g34d1cf5dcd5_0_100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569" name="Google Shape;569;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nvGrpSpPr>
          <p:cNvPr id="570" name="Google Shape;570;g34d1cf5dcd5_0_1003"/>
          <p:cNvGrpSpPr/>
          <p:nvPr/>
        </p:nvGrpSpPr>
        <p:grpSpPr>
          <a:xfrm>
            <a:off x="10157536" y="3060700"/>
            <a:ext cx="2034083" cy="3797176"/>
            <a:chOff x="3048000" y="2295578"/>
            <a:chExt cx="1524000" cy="2847953"/>
          </a:xfrm>
        </p:grpSpPr>
        <p:grpSp>
          <p:nvGrpSpPr>
            <p:cNvPr id="571" name="Google Shape;571;g34d1cf5dcd5_0_1003"/>
            <p:cNvGrpSpPr/>
            <p:nvPr/>
          </p:nvGrpSpPr>
          <p:grpSpPr>
            <a:xfrm>
              <a:off x="3048000" y="2295578"/>
              <a:ext cx="1524000" cy="2847953"/>
              <a:chOff x="0" y="2295575"/>
              <a:chExt cx="1524000" cy="2837455"/>
            </a:xfrm>
          </p:grpSpPr>
          <p:sp>
            <p:nvSpPr>
              <p:cNvPr id="572" name="Google Shape;572;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4" name="Google Shape;574;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1900-1950</a:t>
              </a:r>
              <a:endParaRPr b="0" i="0" sz="1300" u="none" cap="none" strike="noStrike">
                <a:solidFill>
                  <a:srgbClr val="4C979F"/>
                </a:solidFill>
                <a:latin typeface="Roboto"/>
                <a:ea typeface="Roboto"/>
                <a:cs typeface="Roboto"/>
                <a:sym typeface="Roboto"/>
              </a:endParaRPr>
            </a:p>
          </p:txBody>
        </p:sp>
      </p:grpSp>
      <p:grpSp>
        <p:nvGrpSpPr>
          <p:cNvPr id="575" name="Google Shape;575;g34d1cf5dcd5_0_1003"/>
          <p:cNvGrpSpPr/>
          <p:nvPr/>
        </p:nvGrpSpPr>
        <p:grpSpPr>
          <a:xfrm>
            <a:off x="8123502" y="3060697"/>
            <a:ext cx="2034083" cy="3797180"/>
            <a:chOff x="3048000" y="2295575"/>
            <a:chExt cx="1524000" cy="2847956"/>
          </a:xfrm>
        </p:grpSpPr>
        <p:grpSp>
          <p:nvGrpSpPr>
            <p:cNvPr id="576" name="Google Shape;576;g34d1cf5dcd5_0_1003"/>
            <p:cNvGrpSpPr/>
            <p:nvPr/>
          </p:nvGrpSpPr>
          <p:grpSpPr>
            <a:xfrm>
              <a:off x="3048000" y="2295578"/>
              <a:ext cx="1524000" cy="2847953"/>
              <a:chOff x="0" y="2295575"/>
              <a:chExt cx="1524000" cy="2837455"/>
            </a:xfrm>
          </p:grpSpPr>
          <p:sp>
            <p:nvSpPr>
              <p:cNvPr id="577" name="Google Shape;577;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79" name="Google Shape;579;g34d1cf5dcd5_0_1003"/>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80" name="Google Shape;580;g34d1cf5dcd5_0_1003"/>
            <p:cNvSpPr txBox="1"/>
            <p:nvPr/>
          </p:nvSpPr>
          <p:spPr>
            <a:xfrm>
              <a:off x="3121704" y="3598435"/>
              <a:ext cx="1261800" cy="1431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 Increased scientific output: publication and peer-review becomes routine</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 Journals expensive, access is limited </a:t>
              </a:r>
              <a:endParaRPr sz="1200">
                <a:solidFill>
                  <a:schemeClr val="lt1"/>
                </a:solidFill>
                <a:latin typeface="Lato Light"/>
                <a:ea typeface="Lato Light"/>
                <a:cs typeface="Lato Light"/>
                <a:sym typeface="Lato Light"/>
              </a:endParaRPr>
            </a:p>
          </p:txBody>
        </p:sp>
        <p:sp>
          <p:nvSpPr>
            <p:cNvPr id="581" name="Google Shape;581;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1700-1900</a:t>
              </a:r>
              <a:endParaRPr b="0" i="0" sz="1300" u="none" cap="none" strike="noStrike">
                <a:solidFill>
                  <a:srgbClr val="4C979F"/>
                </a:solidFill>
                <a:latin typeface="Roboto"/>
                <a:ea typeface="Roboto"/>
                <a:cs typeface="Roboto"/>
                <a:sym typeface="Roboto"/>
              </a:endParaRPr>
            </a:p>
          </p:txBody>
        </p:sp>
      </p:grpSp>
      <p:grpSp>
        <p:nvGrpSpPr>
          <p:cNvPr id="582" name="Google Shape;582;g34d1cf5dcd5_0_1003"/>
          <p:cNvGrpSpPr/>
          <p:nvPr/>
        </p:nvGrpSpPr>
        <p:grpSpPr>
          <a:xfrm>
            <a:off x="4055291" y="3060704"/>
            <a:ext cx="4068013" cy="3797180"/>
            <a:chOff x="3048000" y="2295575"/>
            <a:chExt cx="1524000" cy="2847956"/>
          </a:xfrm>
        </p:grpSpPr>
        <p:grpSp>
          <p:nvGrpSpPr>
            <p:cNvPr id="583" name="Google Shape;583;g34d1cf5dcd5_0_1003"/>
            <p:cNvGrpSpPr/>
            <p:nvPr/>
          </p:nvGrpSpPr>
          <p:grpSpPr>
            <a:xfrm>
              <a:off x="3048000" y="2295578"/>
              <a:ext cx="1524000" cy="2847953"/>
              <a:chOff x="0" y="2295575"/>
              <a:chExt cx="1524000" cy="2837455"/>
            </a:xfrm>
          </p:grpSpPr>
          <p:sp>
            <p:nvSpPr>
              <p:cNvPr id="584" name="Google Shape;584;g34d1cf5dcd5_0_1003"/>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85" name="Google Shape;585;g34d1cf5dcd5_0_1003"/>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586" name="Google Shape;586;g34d1cf5dcd5_0_1003"/>
            <p:cNvCxnSpPr/>
            <p:nvPr/>
          </p:nvCxnSpPr>
          <p:spPr>
            <a:xfrm>
              <a:off x="4572000" y="2295575"/>
              <a:ext cx="0" cy="2837400"/>
            </a:xfrm>
            <a:prstGeom prst="straightConnector1">
              <a:avLst/>
            </a:prstGeom>
            <a:noFill/>
            <a:ln cap="flat" cmpd="sng" w="9525">
              <a:solidFill>
                <a:srgbClr val="D9D9D9"/>
              </a:solidFill>
              <a:prstDash val="dot"/>
              <a:round/>
              <a:headEnd len="sm" w="sm" type="none"/>
              <a:tailEnd len="sm" w="sm" type="none"/>
            </a:ln>
          </p:spPr>
        </p:cxnSp>
        <p:sp>
          <p:nvSpPr>
            <p:cNvPr id="587" name="Google Shape;587;g34d1cf5dcd5_0_1003"/>
            <p:cNvSpPr txBox="1"/>
            <p:nvPr/>
          </p:nvSpPr>
          <p:spPr>
            <a:xfrm>
              <a:off x="3167454" y="2992902"/>
              <a:ext cx="13017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Scientific societies and publications</a:t>
              </a:r>
              <a:endParaRPr b="1" i="0" sz="1500" u="none" cap="none" strike="noStrike">
                <a:solidFill>
                  <a:schemeClr val="lt1"/>
                </a:solidFill>
                <a:latin typeface="Lora"/>
                <a:ea typeface="Lora"/>
                <a:cs typeface="Lora"/>
                <a:sym typeface="Lora"/>
              </a:endParaRPr>
            </a:p>
          </p:txBody>
        </p:sp>
        <p:sp>
          <p:nvSpPr>
            <p:cNvPr id="588" name="Google Shape;588;g34d1cf5dcd5_0_1003"/>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1660-1700</a:t>
              </a:r>
              <a:endParaRPr b="0" i="0" sz="1300" u="none" cap="none" strike="noStrike">
                <a:solidFill>
                  <a:srgbClr val="4C979F"/>
                </a:solidFill>
                <a:latin typeface="Roboto"/>
                <a:ea typeface="Roboto"/>
                <a:cs typeface="Roboto"/>
                <a:sym typeface="Roboto"/>
              </a:endParaRPr>
            </a:p>
          </p:txBody>
        </p:sp>
      </p:grpSp>
      <p:grpSp>
        <p:nvGrpSpPr>
          <p:cNvPr id="589" name="Google Shape;589;g34d1cf5dcd5_0_1003"/>
          <p:cNvGrpSpPr/>
          <p:nvPr/>
        </p:nvGrpSpPr>
        <p:grpSpPr>
          <a:xfrm>
            <a:off x="2021249" y="3060705"/>
            <a:ext cx="2033981" cy="3797172"/>
            <a:chOff x="1515975" y="2295580"/>
            <a:chExt cx="1525524" cy="2847950"/>
          </a:xfrm>
        </p:grpSpPr>
        <p:sp>
          <p:nvSpPr>
            <p:cNvPr id="590" name="Google Shape;590;g34d1cf5dcd5_0_1003"/>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591" name="Google Shape;591;g34d1cf5dcd5_0_1003"/>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34d1cf5dcd5_0_1003"/>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Aristocratic patronage </a:t>
              </a:r>
              <a:endParaRPr b="1" i="0" sz="1500" u="none" cap="none" strike="noStrike">
                <a:solidFill>
                  <a:schemeClr val="lt1"/>
                </a:solidFill>
                <a:latin typeface="Lora"/>
                <a:ea typeface="Lora"/>
                <a:cs typeface="Lora"/>
                <a:sym typeface="Lora"/>
              </a:endParaRPr>
            </a:p>
          </p:txBody>
        </p:sp>
        <p:sp>
          <p:nvSpPr>
            <p:cNvPr id="593" name="Google Shape;593;g34d1cf5dcd5_0_1003"/>
            <p:cNvSpPr txBox="1"/>
            <p:nvPr/>
          </p:nvSpPr>
          <p:spPr>
            <a:xfrm>
              <a:off x="1692698" y="2441117"/>
              <a:ext cx="10506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1600-1660</a:t>
              </a:r>
              <a:endParaRPr b="0" i="0" sz="1300" u="none" cap="none" strike="noStrike">
                <a:solidFill>
                  <a:srgbClr val="4C979F"/>
                </a:solidFill>
                <a:latin typeface="Roboto"/>
                <a:ea typeface="Roboto"/>
                <a:cs typeface="Roboto"/>
                <a:sym typeface="Roboto"/>
              </a:endParaRPr>
            </a:p>
          </p:txBody>
        </p:sp>
        <p:cxnSp>
          <p:nvCxnSpPr>
            <p:cNvPr id="594" name="Google Shape;594;g34d1cf5dcd5_0_1003"/>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595" name="Google Shape;595;g34d1cf5dcd5_0_1003"/>
          <p:cNvGrpSpPr/>
          <p:nvPr/>
        </p:nvGrpSpPr>
        <p:grpSpPr>
          <a:xfrm>
            <a:off x="-84" y="3060705"/>
            <a:ext cx="2033981" cy="3797172"/>
            <a:chOff x="1515975" y="2295580"/>
            <a:chExt cx="1525524" cy="2847950"/>
          </a:xfrm>
        </p:grpSpPr>
        <p:sp>
          <p:nvSpPr>
            <p:cNvPr id="596" name="Google Shape;596;g34d1cf5dcd5_0_1003"/>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g34d1cf5dcd5_0_1003"/>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4d1cf5dcd5_0_1003"/>
            <p:cNvSpPr txBox="1"/>
            <p:nvPr/>
          </p:nvSpPr>
          <p:spPr>
            <a:xfrm>
              <a:off x="1692702" y="2992904"/>
              <a:ext cx="11721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FFFF"/>
                  </a:solidFill>
                  <a:latin typeface="Lora"/>
                  <a:ea typeface="Lora"/>
                  <a:cs typeface="Lora"/>
                  <a:sym typeface="Lora"/>
                </a:rPr>
                <a:t>Secrecy is Power</a:t>
              </a:r>
              <a:endParaRPr b="1" i="0" sz="1500" u="none" cap="none" strike="noStrike">
                <a:solidFill>
                  <a:srgbClr val="FFFFFF"/>
                </a:solidFill>
                <a:latin typeface="Lora"/>
                <a:ea typeface="Lora"/>
                <a:cs typeface="Lora"/>
                <a:sym typeface="Lora"/>
              </a:endParaRPr>
            </a:p>
          </p:txBody>
        </p:sp>
        <p:sp>
          <p:nvSpPr>
            <p:cNvPr id="599" name="Google Shape;599;g34d1cf5dcd5_0_1003"/>
            <p:cNvSpPr txBox="1"/>
            <p:nvPr/>
          </p:nvSpPr>
          <p:spPr>
            <a:xfrm>
              <a:off x="1692705" y="3598434"/>
              <a:ext cx="1172100" cy="1431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natural philosophers, alchemists and craft guilds kept discoveries secret to create monopolies focused on maximizing profit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0" name="Google Shape;600;g34d1cf5dcd5_0_1003"/>
            <p:cNvSpPr txBox="1"/>
            <p:nvPr/>
          </p:nvSpPr>
          <p:spPr>
            <a:xfrm>
              <a:off x="1692702" y="2441112"/>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Pre-1600</a:t>
              </a:r>
              <a:endParaRPr b="0" i="0" sz="1300" u="none" cap="none" strike="noStrike">
                <a:solidFill>
                  <a:srgbClr val="4C979F"/>
                </a:solidFill>
                <a:latin typeface="Roboto"/>
                <a:ea typeface="Roboto"/>
                <a:cs typeface="Roboto"/>
                <a:sym typeface="Roboto"/>
              </a:endParaRPr>
            </a:p>
          </p:txBody>
        </p:sp>
        <p:cxnSp>
          <p:nvCxnSpPr>
            <p:cNvPr id="601" name="Google Shape;601;g34d1cf5dcd5_0_1003"/>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602" name="Google Shape;602;g34d1cf5dcd5_0_1003"/>
          <p:cNvSpPr txBox="1"/>
          <p:nvPr/>
        </p:nvSpPr>
        <p:spPr>
          <a:xfrm>
            <a:off x="2263300" y="4797800"/>
            <a:ext cx="15627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science funded by aristocrats who needed help with solving practical problems and wanted to enhance their reputation</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3" name="Google Shape;603;g34d1cf5dcd5_0_1003"/>
          <p:cNvSpPr txBox="1"/>
          <p:nvPr/>
        </p:nvSpPr>
        <p:spPr>
          <a:xfrm>
            <a:off x="4291000" y="4797800"/>
            <a:ext cx="35580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patrons incentivized knowledge-sharing to avoid funding charlatans and enhance the reputation of their protégé</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research pooled into academies funded by multiple patrons : Royal Society of London (1660) &amp; Académie Royale des Sciences (1666)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 birth of the academic journal: Journal des savants (1665) &amp; Philosophical Transactions of the Royal Society (1665)</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04" name="Google Shape;604;g34d1cf5dcd5_0_1003"/>
          <p:cNvSpPr txBox="1"/>
          <p:nvPr/>
        </p:nvSpPr>
        <p:spPr>
          <a:xfrm>
            <a:off x="8276400" y="3981600"/>
            <a:ext cx="17361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Limited access</a:t>
            </a:r>
            <a:endParaRPr b="1" i="0" sz="1500" u="none" cap="none" strike="noStrike">
              <a:solidFill>
                <a:schemeClr val="lt1"/>
              </a:solidFill>
              <a:latin typeface="Lora"/>
              <a:ea typeface="Lora"/>
              <a:cs typeface="Lora"/>
              <a:sym typeface="Lora"/>
            </a:endParaRPr>
          </a:p>
        </p:txBody>
      </p:sp>
      <p:sp>
        <p:nvSpPr>
          <p:cNvPr id="605" name="Google Shape;605;g34d1cf5dcd5_0_1003"/>
          <p:cNvSpPr txBox="1"/>
          <p:nvPr/>
        </p:nvSpPr>
        <p:spPr>
          <a:xfrm>
            <a:off x="102485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Mertonian norms </a:t>
            </a:r>
            <a:endParaRPr b="1" i="0" sz="1500" u="none" cap="none" strike="noStrike">
              <a:solidFill>
                <a:schemeClr val="lt1"/>
              </a:solidFill>
              <a:latin typeface="Lora"/>
              <a:ea typeface="Lora"/>
              <a:cs typeface="Lora"/>
              <a:sym typeface="Lora"/>
            </a:endParaRPr>
          </a:p>
        </p:txBody>
      </p:sp>
      <p:sp>
        <p:nvSpPr>
          <p:cNvPr id="606" name="Google Shape;606;g34d1cf5dcd5_0_1003"/>
          <p:cNvSpPr txBox="1"/>
          <p:nvPr/>
        </p:nvSpPr>
        <p:spPr>
          <a:xfrm>
            <a:off x="10274450" y="47978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C</a:t>
            </a:r>
            <a:r>
              <a:rPr b="0" i="0" lang="en-US" sz="1200" u="none" cap="none" strike="noStrike">
                <a:solidFill>
                  <a:schemeClr val="lt1"/>
                </a:solidFill>
                <a:latin typeface="Lato Light"/>
                <a:ea typeface="Lato Light"/>
                <a:cs typeface="Lato Light"/>
                <a:sym typeface="Lato Light"/>
              </a:rPr>
              <a:t>ommunism</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U</a:t>
            </a:r>
            <a:r>
              <a:rPr b="0" i="0" lang="en-US" sz="1200" u="none" cap="none" strike="noStrike">
                <a:solidFill>
                  <a:schemeClr val="lt1"/>
                </a:solidFill>
                <a:latin typeface="Lato Light"/>
                <a:ea typeface="Lato Light"/>
                <a:cs typeface="Lato Light"/>
                <a:sym typeface="Lato Light"/>
              </a:rPr>
              <a:t>niversalism</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D</a:t>
            </a:r>
            <a:r>
              <a:rPr b="0" i="0" lang="en-US" sz="1200" u="none" cap="none" strike="noStrike">
                <a:solidFill>
                  <a:schemeClr val="lt1"/>
                </a:solidFill>
                <a:latin typeface="Lato Light"/>
                <a:ea typeface="Lato Light"/>
                <a:cs typeface="Lato Light"/>
                <a:sym typeface="Lato Light"/>
              </a:rPr>
              <a:t>isinterestedness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Lato"/>
                <a:ea typeface="Lato"/>
                <a:cs typeface="Lato"/>
                <a:sym typeface="Lato"/>
              </a:rPr>
              <a:t>O</a:t>
            </a:r>
            <a:r>
              <a:rPr b="0" i="0" lang="en-US" sz="1200" u="none" cap="none" strike="noStrike">
                <a:solidFill>
                  <a:schemeClr val="lt1"/>
                </a:solidFill>
                <a:latin typeface="Lato Light"/>
                <a:ea typeface="Lato Light"/>
                <a:cs typeface="Lato Light"/>
                <a:sym typeface="Lato Light"/>
              </a:rPr>
              <a:t>rganized skepticism</a:t>
            </a:r>
            <a:endParaRPr b="0" i="0" sz="1200" u="none" cap="none" strike="noStrike">
              <a:solidFill>
                <a:schemeClr val="lt1"/>
              </a:solidFill>
              <a:latin typeface="Lato Light"/>
              <a:ea typeface="Lato Light"/>
              <a:cs typeface="Lato Light"/>
              <a:sym typeface="Lato Light"/>
            </a:endParaRPr>
          </a:p>
        </p:txBody>
      </p:sp>
      <p:sp>
        <p:nvSpPr>
          <p:cNvPr id="607" name="Google Shape;607;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8" name="Google Shape;608;g34d1cf5dcd5_0_1003"/>
          <p:cNvSpPr/>
          <p:nvPr/>
        </p:nvSpPr>
        <p:spPr>
          <a:xfrm>
            <a:off x="10348775" y="19565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9" name="Google Shape;609;g34d1cf5dcd5_0_1003"/>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10" name="Google Shape;610;g34d1cf5dcd5_0_1003"/>
          <p:cNvCxnSpPr>
            <a:endCxn id="611"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12" name="Google Shape;612;g34d1cf5dcd5_0_1003"/>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3" name="Google Shape;613;g34d1cf5dcd5_0_1003"/>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4" name="Google Shape;614;g34d1cf5dcd5_0_1003"/>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5" name="Google Shape;615;g34d1cf5dcd5_0_1003"/>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6" name="Google Shape;616;g34d1cf5dcd5_0_1003"/>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1" name="Google Shape;611;g34d1cf5dcd5_0_1003"/>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7" name="Google Shape;617;g34d1cf5dcd5_0_1003"/>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618" name="Google Shape;618;g34d1cf5dcd5_0_1003"/>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619" name="Google Shape;619;g34d1cf5dcd5_0_1003"/>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620" name="Google Shape;620;g34d1cf5dcd5_0_1003"/>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621" name="Google Shape;621;g34d1cf5dcd5_0_1003"/>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622" name="Google Shape;622;g34d1cf5dcd5_0_1003"/>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623" name="Google Shape;623;g34d1cf5dcd5_0_1003"/>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624" name="Google Shape;624;g34d1cf5dcd5_0_1003"/>
          <p:cNvCxnSpPr/>
          <p:nvPr/>
        </p:nvCxnSpPr>
        <p:spPr>
          <a:xfrm>
            <a:off x="7612863" y="2211775"/>
            <a:ext cx="892800" cy="0"/>
          </a:xfrm>
          <a:prstGeom prst="straightConnector1">
            <a:avLst/>
          </a:prstGeom>
          <a:noFill/>
          <a:ln cap="flat" cmpd="sng" w="38100">
            <a:solidFill>
              <a:srgbClr val="045C64"/>
            </a:solidFill>
            <a:prstDash val="solid"/>
            <a:round/>
            <a:headEnd len="med" w="med" type="triangl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4d1cf5dcd5_0_110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631" name="Google Shape;631;g34d1cf5dcd5_0_110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32" name="Google Shape;632;g34d1cf5dcd5_0_110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633" name="Google Shape;633;g34d1cf5dcd5_0_110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34" name="Google Shape;634;g34d1cf5dcd5_0_1109"/>
          <p:cNvCxnSpPr>
            <a:endCxn id="63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36" name="Google Shape;636;g34d1cf5dcd5_0_110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7" name="Google Shape;637;g34d1cf5dcd5_0_110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8" name="Google Shape;638;g34d1cf5dcd5_0_110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9" name="Google Shape;639;g34d1cf5dcd5_0_110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0" name="Google Shape;640;g34d1cf5dcd5_0_110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5" name="Google Shape;635;g34d1cf5dcd5_0_110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1" name="Google Shape;641;g34d1cf5dcd5_0_110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642" name="Google Shape;642;g34d1cf5dcd5_0_110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643" name="Google Shape;643;g34d1cf5dcd5_0_110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644" name="Google Shape;644;g34d1cf5dcd5_0_110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645" name="Google Shape;645;g34d1cf5dcd5_0_110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646" name="Google Shape;646;g34d1cf5dcd5_0_110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647" name="Google Shape;647;g34d1cf5dcd5_0_110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648" name="Google Shape;648;g34d1cf5dcd5_0_1109"/>
          <p:cNvCxnSpPr/>
          <p:nvPr/>
        </p:nvCxnSpPr>
        <p:spPr>
          <a:xfrm>
            <a:off x="8428800" y="2204175"/>
            <a:ext cx="674700" cy="0"/>
          </a:xfrm>
          <a:prstGeom prst="straightConnector1">
            <a:avLst/>
          </a:prstGeom>
          <a:noFill/>
          <a:ln cap="flat" cmpd="sng" w="38100">
            <a:solidFill>
              <a:srgbClr val="045C64"/>
            </a:solidFill>
            <a:prstDash val="solid"/>
            <a:round/>
            <a:headEnd len="med" w="med" type="triangle"/>
            <a:tailEnd len="med" w="med" type="triangle"/>
          </a:ln>
        </p:spPr>
      </p:cxnSp>
      <p:grpSp>
        <p:nvGrpSpPr>
          <p:cNvPr id="649" name="Google Shape;649;g34d1cf5dcd5_0_1109"/>
          <p:cNvGrpSpPr/>
          <p:nvPr/>
        </p:nvGrpSpPr>
        <p:grpSpPr>
          <a:xfrm>
            <a:off x="9952817" y="3060701"/>
            <a:ext cx="2238908" cy="3797176"/>
            <a:chOff x="3048000" y="2295578"/>
            <a:chExt cx="1524000" cy="2847953"/>
          </a:xfrm>
        </p:grpSpPr>
        <p:grpSp>
          <p:nvGrpSpPr>
            <p:cNvPr id="650" name="Google Shape;650;g34d1cf5dcd5_0_1109"/>
            <p:cNvGrpSpPr/>
            <p:nvPr/>
          </p:nvGrpSpPr>
          <p:grpSpPr>
            <a:xfrm>
              <a:off x="3048000" y="2295578"/>
              <a:ext cx="1524000" cy="2847953"/>
              <a:chOff x="0" y="2295575"/>
              <a:chExt cx="1524000" cy="2837455"/>
            </a:xfrm>
          </p:grpSpPr>
          <p:sp>
            <p:nvSpPr>
              <p:cNvPr id="651" name="Google Shape;651;g34d1cf5dcd5_0_110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53" name="Google Shape;653;g34d1cf5dcd5_0_110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654" name="Google Shape;654;g34d1cf5dcd5_0_1109"/>
          <p:cNvGrpSpPr/>
          <p:nvPr/>
        </p:nvGrpSpPr>
        <p:grpSpPr>
          <a:xfrm>
            <a:off x="7661250" y="3060560"/>
            <a:ext cx="2496312" cy="3797077"/>
            <a:chOff x="0" y="2295575"/>
            <a:chExt cx="1524000" cy="2837451"/>
          </a:xfrm>
        </p:grpSpPr>
        <p:sp>
          <p:nvSpPr>
            <p:cNvPr id="655" name="Google Shape;655;g34d1cf5dcd5_0_1109"/>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657" name="Google Shape;657;g34d1cf5dcd5_0_1109"/>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658" name="Google Shape;658;g34d1cf5dcd5_0_1109"/>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659" name="Google Shape;659;g34d1cf5dcd5_0_1109"/>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660" name="Google Shape;660;g34d1cf5dcd5_0_1109"/>
          <p:cNvGrpSpPr/>
          <p:nvPr/>
        </p:nvGrpSpPr>
        <p:grpSpPr>
          <a:xfrm>
            <a:off x="4055300" y="3060560"/>
            <a:ext cx="3687013" cy="3797082"/>
            <a:chOff x="0" y="2295575"/>
            <a:chExt cx="1524000" cy="2837455"/>
          </a:xfrm>
        </p:grpSpPr>
        <p:sp>
          <p:nvSpPr>
            <p:cNvPr id="661" name="Google Shape;661;g34d1cf5dcd5_0_1109"/>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62" name="Google Shape;662;g34d1cf5dcd5_0_1109"/>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663" name="Google Shape;663;g34d1cf5dcd5_0_1109"/>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1990-2000</a:t>
            </a:r>
            <a:endParaRPr b="0" i="0" sz="1300" u="none" cap="none" strike="noStrike">
              <a:solidFill>
                <a:srgbClr val="888888"/>
              </a:solidFill>
              <a:latin typeface="Roboto"/>
              <a:ea typeface="Roboto"/>
              <a:cs typeface="Roboto"/>
              <a:sym typeface="Roboto"/>
            </a:endParaRPr>
          </a:p>
        </p:txBody>
      </p:sp>
      <p:grpSp>
        <p:nvGrpSpPr>
          <p:cNvPr id="664" name="Google Shape;664;g34d1cf5dcd5_0_1109"/>
          <p:cNvGrpSpPr/>
          <p:nvPr/>
        </p:nvGrpSpPr>
        <p:grpSpPr>
          <a:xfrm>
            <a:off x="2021177" y="3060697"/>
            <a:ext cx="2740451" cy="3797172"/>
            <a:chOff x="1515975" y="2295580"/>
            <a:chExt cx="1525524" cy="2847950"/>
          </a:xfrm>
        </p:grpSpPr>
        <p:sp>
          <p:nvSpPr>
            <p:cNvPr id="665" name="Google Shape;665;g34d1cf5dcd5_0_1109"/>
            <p:cNvSpPr/>
            <p:nvPr/>
          </p:nvSpPr>
          <p:spPr>
            <a:xfrm>
              <a:off x="1515975" y="2823930"/>
              <a:ext cx="1525500" cy="23196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666" name="Google Shape;666;g34d1cf5dcd5_0_1109"/>
            <p:cNvSpPr/>
            <p:nvPr/>
          </p:nvSpPr>
          <p:spPr>
            <a:xfrm>
              <a:off x="1515975" y="2295580"/>
              <a:ext cx="15255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7" name="Google Shape;667;g34d1cf5dcd5_0_1109"/>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668" name="Google Shape;668;g34d1cf5dcd5_0_1109"/>
          <p:cNvGrpSpPr/>
          <p:nvPr/>
        </p:nvGrpSpPr>
        <p:grpSpPr>
          <a:xfrm>
            <a:off x="10" y="3060697"/>
            <a:ext cx="2313783" cy="3873748"/>
            <a:chOff x="1515975" y="2295580"/>
            <a:chExt cx="1525638" cy="2905383"/>
          </a:xfrm>
        </p:grpSpPr>
        <p:sp>
          <p:nvSpPr>
            <p:cNvPr id="669" name="Google Shape;669;g34d1cf5dcd5_0_110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0" name="Google Shape;670;g34d1cf5dcd5_0_110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34d1cf5dcd5_0_1109"/>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672" name="Google Shape;672;g34d1cf5dcd5_0_1109"/>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Post WWII: rise of large-scale, government-funded science programs, ‘Golden Age of Science’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lang="en-US" sz="1200">
                  <a:solidFill>
                    <a:schemeClr val="lt1"/>
                  </a:solidFill>
                  <a:latin typeface="Lato Light"/>
                  <a:ea typeface="Lato Light"/>
                  <a:cs typeface="Lato Light"/>
                  <a:sym typeface="Lato Light"/>
                </a:rPr>
                <a:t>Some s</a:t>
              </a:r>
              <a:r>
                <a:rPr b="0" i="0" lang="en-US" sz="1200" u="none" cap="none" strike="noStrike">
                  <a:solidFill>
                    <a:schemeClr val="lt1"/>
                  </a:solidFill>
                  <a:latin typeface="Lato Light"/>
                  <a:ea typeface="Lato Light"/>
                  <a:cs typeface="Lato Light"/>
                  <a:sym typeface="Lato Light"/>
                </a:rPr>
                <a:t>cientific journals no longer funded by scientific societies or universities, but by for-profit publishers</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673" name="Google Shape;673;g34d1cf5dcd5_0_1109"/>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674" name="Google Shape;674;g34d1cf5dcd5_0_110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675" name="Google Shape;675;g34d1cf5dcd5_0_1109"/>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The rise of the internet</a:t>
            </a:r>
            <a:endParaRPr b="1" i="0" sz="1500" u="none" cap="none" strike="noStrike">
              <a:solidFill>
                <a:srgbClr val="888888"/>
              </a:solidFill>
              <a:latin typeface="Lora"/>
              <a:ea typeface="Lora"/>
              <a:cs typeface="Lora"/>
              <a:sym typeface="Lora"/>
            </a:endParaRPr>
          </a:p>
        </p:txBody>
      </p:sp>
      <p:sp>
        <p:nvSpPr>
          <p:cNvPr id="676" name="Google Shape;676;g34d1cf5dcd5_0_1109"/>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677" name="Google Shape;677;g34d1cf5dcd5_0_1109"/>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678" name="Google Shape;678;g34d1cf5dcd5_0_1109"/>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Digital publishing is born with the 1991 launch of arXiv</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First Open Access journals emerged: authors paid, readers could access content freely.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rgbClr val="888888"/>
              </a:solidFill>
              <a:latin typeface="Lato Light"/>
              <a:ea typeface="Lato Light"/>
              <a:cs typeface="Lato Light"/>
              <a:sym typeface="Lato Light"/>
            </a:endParaRPr>
          </a:p>
        </p:txBody>
      </p:sp>
      <p:sp>
        <p:nvSpPr>
          <p:cNvPr id="679" name="Google Shape;679;g34d1cf5dcd5_0_1109"/>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2000-2010</a:t>
            </a:r>
            <a:endParaRPr b="0" i="0" sz="1300" u="none" cap="none" strike="noStrike">
              <a:solidFill>
                <a:srgbClr val="888888"/>
              </a:solidFill>
              <a:latin typeface="Roboto"/>
              <a:ea typeface="Roboto"/>
              <a:cs typeface="Roboto"/>
              <a:sym typeface="Roboto"/>
            </a:endParaRPr>
          </a:p>
        </p:txBody>
      </p:sp>
      <p:sp>
        <p:nvSpPr>
          <p:cNvPr id="680" name="Google Shape;680;g34d1cf5dcd5_0_1109"/>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Transformation</a:t>
            </a:r>
            <a:endParaRPr b="1" i="0" sz="1500" u="none" cap="none" strike="noStrike">
              <a:solidFill>
                <a:srgbClr val="888888"/>
              </a:solidFill>
              <a:latin typeface="Lora"/>
              <a:ea typeface="Lora"/>
              <a:cs typeface="Lora"/>
              <a:sym typeface="Lora"/>
            </a:endParaRPr>
          </a:p>
        </p:txBody>
      </p:sp>
      <p:sp>
        <p:nvSpPr>
          <p:cNvPr id="681" name="Google Shape;681;g34d1cf5dcd5_0_1109"/>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Budapest Open Access Initiative, Bethesda Statement, Berlin Declaration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Beginning of open data and OER</a:t>
            </a:r>
            <a:endParaRPr b="0" i="0" sz="1100" u="none" cap="none" strike="noStrike">
              <a:solidFill>
                <a:srgbClr val="888888"/>
              </a:solidFill>
              <a:latin typeface="Lato Light"/>
              <a:ea typeface="Lato Light"/>
              <a:cs typeface="Lato Light"/>
              <a:sym typeface="Lato Light"/>
            </a:endParaRPr>
          </a:p>
        </p:txBody>
      </p:sp>
      <p:cxnSp>
        <p:nvCxnSpPr>
          <p:cNvPr id="682" name="Google Shape;682;g34d1cf5dcd5_0_1109"/>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683" name="Google Shape;683;g34d1cf5dcd5_0_1109"/>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684" name="Google Shape;684;g34d1cf5dcd5_0_1109"/>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4fce246725_0_1540"/>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691" name="Google Shape;691;g34fce246725_0_1540"/>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92" name="Google Shape;692;g34fce246725_0_1540"/>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693" name="Google Shape;693;g34fce246725_0_1540"/>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694" name="Google Shape;694;g34fce246725_0_1540"/>
          <p:cNvCxnSpPr/>
          <p:nvPr/>
        </p:nvCxnSpPr>
        <p:spPr>
          <a:xfrm>
            <a:off x="551375"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695" name="Google Shape;695;g34fce246725_0_1540"/>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6" name="Google Shape;696;g34fce246725_0_1540"/>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7" name="Google Shape;697;g34fce246725_0_1540"/>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8" name="Google Shape;698;g34fce246725_0_1540"/>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99" name="Google Shape;699;g34fce246725_0_1540"/>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00" name="Google Shape;700;g34fce246725_0_1540"/>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01" name="Google Shape;701;g34fce246725_0_1540"/>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702" name="Google Shape;702;g34fce246725_0_1540"/>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703" name="Google Shape;703;g34fce246725_0_1540"/>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704" name="Google Shape;704;g34fce246725_0_1540"/>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705" name="Google Shape;705;g34fce246725_0_1540"/>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706" name="Google Shape;706;g34fce246725_0_1540"/>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707" name="Google Shape;707;g34fce246725_0_1540"/>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708" name="Google Shape;708;g34fce246725_0_1540"/>
          <p:cNvCxnSpPr/>
          <p:nvPr/>
        </p:nvCxnSpPr>
        <p:spPr>
          <a:xfrm flipH="1" rot="10800000">
            <a:off x="8860200" y="2224663"/>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709" name="Google Shape;709;g34fce246725_0_1540"/>
          <p:cNvGrpSpPr/>
          <p:nvPr/>
        </p:nvGrpSpPr>
        <p:grpSpPr>
          <a:xfrm>
            <a:off x="9952817" y="3060701"/>
            <a:ext cx="2238908" cy="3797176"/>
            <a:chOff x="3048000" y="2295578"/>
            <a:chExt cx="1524000" cy="2847953"/>
          </a:xfrm>
        </p:grpSpPr>
        <p:grpSp>
          <p:nvGrpSpPr>
            <p:cNvPr id="710" name="Google Shape;710;g34fce246725_0_1540"/>
            <p:cNvGrpSpPr/>
            <p:nvPr/>
          </p:nvGrpSpPr>
          <p:grpSpPr>
            <a:xfrm>
              <a:off x="3048000" y="2295578"/>
              <a:ext cx="1524000" cy="2847953"/>
              <a:chOff x="0" y="2295575"/>
              <a:chExt cx="1524000" cy="2837455"/>
            </a:xfrm>
          </p:grpSpPr>
          <p:sp>
            <p:nvSpPr>
              <p:cNvPr id="711" name="Google Shape;711;g34fce246725_0_1540"/>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3" name="Google Shape;713;g34fce246725_0_1540"/>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714" name="Google Shape;714;g34fce246725_0_1540"/>
          <p:cNvGrpSpPr/>
          <p:nvPr/>
        </p:nvGrpSpPr>
        <p:grpSpPr>
          <a:xfrm>
            <a:off x="7661250" y="3060560"/>
            <a:ext cx="2496312" cy="3797077"/>
            <a:chOff x="0" y="2295575"/>
            <a:chExt cx="1524000" cy="2837451"/>
          </a:xfrm>
        </p:grpSpPr>
        <p:sp>
          <p:nvSpPr>
            <p:cNvPr id="715" name="Google Shape;715;g34fce246725_0_1540"/>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17" name="Google Shape;717;g34fce246725_0_1540"/>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718" name="Google Shape;718;g34fce246725_0_1540"/>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719" name="Google Shape;719;g34fce246725_0_1540"/>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720" name="Google Shape;720;g34fce246725_0_1540"/>
          <p:cNvGrpSpPr/>
          <p:nvPr/>
        </p:nvGrpSpPr>
        <p:grpSpPr>
          <a:xfrm>
            <a:off x="4055300" y="3060560"/>
            <a:ext cx="3687013" cy="3797082"/>
            <a:chOff x="0" y="2295575"/>
            <a:chExt cx="1524000" cy="2837455"/>
          </a:xfrm>
        </p:grpSpPr>
        <p:sp>
          <p:nvSpPr>
            <p:cNvPr id="721" name="Google Shape;721;g34fce246725_0_1540"/>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22" name="Google Shape;722;g34fce246725_0_1540"/>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723" name="Google Shape;723;g34fce246725_0_1540"/>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724" name="Google Shape;724;g34fce246725_0_1540"/>
          <p:cNvGrpSpPr/>
          <p:nvPr/>
        </p:nvGrpSpPr>
        <p:grpSpPr>
          <a:xfrm>
            <a:off x="2021177" y="3060697"/>
            <a:ext cx="2740451" cy="3797172"/>
            <a:chOff x="1515975" y="2295580"/>
            <a:chExt cx="1525524" cy="2847950"/>
          </a:xfrm>
        </p:grpSpPr>
        <p:sp>
          <p:nvSpPr>
            <p:cNvPr id="725" name="Google Shape;725;g34fce246725_0_1540"/>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726" name="Google Shape;726;g34fce246725_0_1540"/>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27" name="Google Shape;727;g34fce246725_0_1540"/>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728" name="Google Shape;728;g34fce246725_0_1540"/>
          <p:cNvGrpSpPr/>
          <p:nvPr/>
        </p:nvGrpSpPr>
        <p:grpSpPr>
          <a:xfrm>
            <a:off x="10" y="3060697"/>
            <a:ext cx="2313783" cy="3873748"/>
            <a:chOff x="1515975" y="2295580"/>
            <a:chExt cx="1525638" cy="2905383"/>
          </a:xfrm>
        </p:grpSpPr>
        <p:sp>
          <p:nvSpPr>
            <p:cNvPr id="729" name="Google Shape;729;g34fce246725_0_1540"/>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30" name="Google Shape;730;g34fce246725_0_1540"/>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4fce246725_0_1540"/>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732" name="Google Shape;732;g34fce246725_0_1540"/>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Post WWII: rise of large-scale, government-funded science programs, ‘Golden Age of Science’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Some scientific journals no longer funded by scientific societies or universities, but by for-profit publishers</a:t>
              </a:r>
              <a:endParaRPr sz="1200">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33" name="Google Shape;733;g34fce246725_0_1540"/>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734" name="Google Shape;734;g34fce246725_0_1540"/>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735" name="Google Shape;735;g34fce246725_0_1540"/>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736" name="Google Shape;736;g34fce246725_0_1540"/>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737" name="Google Shape;737;g34fce246725_0_1540"/>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738" name="Google Shape;738;g34fce246725_0_1540"/>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39" name="Google Shape;739;g34fce246725_0_1540"/>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2000-2010</a:t>
            </a:r>
            <a:endParaRPr b="0" i="0" sz="1300" u="none" cap="none" strike="noStrike">
              <a:solidFill>
                <a:srgbClr val="888888"/>
              </a:solidFill>
              <a:latin typeface="Roboto"/>
              <a:ea typeface="Roboto"/>
              <a:cs typeface="Roboto"/>
              <a:sym typeface="Roboto"/>
            </a:endParaRPr>
          </a:p>
        </p:txBody>
      </p:sp>
      <p:sp>
        <p:nvSpPr>
          <p:cNvPr id="740" name="Google Shape;740;g34fce246725_0_1540"/>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Transformation</a:t>
            </a:r>
            <a:endParaRPr b="1" i="0" sz="1500" u="none" cap="none" strike="noStrike">
              <a:solidFill>
                <a:srgbClr val="888888"/>
              </a:solidFill>
              <a:latin typeface="Lora"/>
              <a:ea typeface="Lora"/>
              <a:cs typeface="Lora"/>
              <a:sym typeface="Lora"/>
            </a:endParaRPr>
          </a:p>
        </p:txBody>
      </p:sp>
      <p:sp>
        <p:nvSpPr>
          <p:cNvPr id="741" name="Google Shape;741;g34fce246725_0_1540"/>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Budapest Open Access Initiative, Bethesda Statement, Berlin Declaration</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Beginning of open data and OER</a:t>
            </a:r>
            <a:endParaRPr b="0" i="0" sz="1100" u="none" cap="none" strike="noStrike">
              <a:solidFill>
                <a:srgbClr val="888888"/>
              </a:solidFill>
              <a:latin typeface="Lato Light"/>
              <a:ea typeface="Lato Light"/>
              <a:cs typeface="Lato Light"/>
              <a:sym typeface="Lato Light"/>
            </a:endParaRPr>
          </a:p>
        </p:txBody>
      </p:sp>
      <p:cxnSp>
        <p:nvCxnSpPr>
          <p:cNvPr id="742" name="Google Shape;742;g34fce246725_0_1540"/>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743" name="Google Shape;743;g34fce246725_0_1540"/>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744" name="Google Shape;744;g34fce246725_0_1540"/>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4fce246725_0_1632"/>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751" name="Google Shape;751;g34fce246725_0_163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752" name="Google Shape;752;g34fce246725_0_163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753" name="Google Shape;753;g34fce246725_0_1632"/>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754" name="Google Shape;754;g34fce246725_0_1632"/>
          <p:cNvCxnSpPr>
            <a:endCxn id="75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756" name="Google Shape;756;g34fce246725_0_1632"/>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7" name="Google Shape;757;g34fce246725_0_1632"/>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8" name="Google Shape;758;g34fce246725_0_1632"/>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9" name="Google Shape;759;g34fce246725_0_1632"/>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0" name="Google Shape;760;g34fce246725_0_1632"/>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5" name="Google Shape;755;g34fce246725_0_1632"/>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61" name="Google Shape;761;g34fce246725_0_1632"/>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762" name="Google Shape;762;g34fce246725_0_1632"/>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763" name="Google Shape;763;g34fce246725_0_1632"/>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764" name="Google Shape;764;g34fce246725_0_1632"/>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765" name="Google Shape;765;g34fce246725_0_1632"/>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766" name="Google Shape;766;g34fce246725_0_1632"/>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767" name="Google Shape;767;g34fce246725_0_1632"/>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768" name="Google Shape;768;g34fce246725_0_1632"/>
          <p:cNvCxnSpPr/>
          <p:nvPr/>
        </p:nvCxnSpPr>
        <p:spPr>
          <a:xfrm flipH="1" rot="10800000">
            <a:off x="9521950" y="2183975"/>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769" name="Google Shape;769;g34fce246725_0_1632"/>
          <p:cNvGrpSpPr/>
          <p:nvPr/>
        </p:nvGrpSpPr>
        <p:grpSpPr>
          <a:xfrm>
            <a:off x="9952817" y="3060701"/>
            <a:ext cx="2238908" cy="3797176"/>
            <a:chOff x="3048000" y="2295578"/>
            <a:chExt cx="1524000" cy="2847953"/>
          </a:xfrm>
        </p:grpSpPr>
        <p:grpSp>
          <p:nvGrpSpPr>
            <p:cNvPr id="770" name="Google Shape;770;g34fce246725_0_1632"/>
            <p:cNvGrpSpPr/>
            <p:nvPr/>
          </p:nvGrpSpPr>
          <p:grpSpPr>
            <a:xfrm>
              <a:off x="3048000" y="2295578"/>
              <a:ext cx="1524000" cy="2847953"/>
              <a:chOff x="0" y="2295575"/>
              <a:chExt cx="1524000" cy="2837455"/>
            </a:xfrm>
          </p:grpSpPr>
          <p:sp>
            <p:nvSpPr>
              <p:cNvPr id="771" name="Google Shape;771;g34fce246725_0_1632"/>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34fce246725_0_163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3" name="Google Shape;773;g34fce246725_0_1632"/>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774" name="Google Shape;774;g34fce246725_0_1632"/>
          <p:cNvGrpSpPr/>
          <p:nvPr/>
        </p:nvGrpSpPr>
        <p:grpSpPr>
          <a:xfrm>
            <a:off x="7661250" y="3060560"/>
            <a:ext cx="2496312" cy="3797077"/>
            <a:chOff x="0" y="2295575"/>
            <a:chExt cx="1524000" cy="2837451"/>
          </a:xfrm>
        </p:grpSpPr>
        <p:sp>
          <p:nvSpPr>
            <p:cNvPr id="775" name="Google Shape;775;g34fce246725_0_1632"/>
            <p:cNvSpPr/>
            <p:nvPr/>
          </p:nvSpPr>
          <p:spPr>
            <a:xfrm>
              <a:off x="0" y="2823926"/>
              <a:ext cx="14547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34fce246725_0_163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777" name="Google Shape;777;g34fce246725_0_1632"/>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778" name="Google Shape;778;g34fce246725_0_1632"/>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779" name="Google Shape;779;g34fce246725_0_1632"/>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2010-2020</a:t>
            </a:r>
            <a:endParaRPr b="0" i="0" sz="1300" u="none" cap="none" strike="noStrike">
              <a:solidFill>
                <a:srgbClr val="888888"/>
              </a:solidFill>
              <a:latin typeface="Roboto"/>
              <a:ea typeface="Roboto"/>
              <a:cs typeface="Roboto"/>
              <a:sym typeface="Roboto"/>
            </a:endParaRPr>
          </a:p>
        </p:txBody>
      </p:sp>
      <p:grpSp>
        <p:nvGrpSpPr>
          <p:cNvPr id="780" name="Google Shape;780;g34fce246725_0_1632"/>
          <p:cNvGrpSpPr/>
          <p:nvPr/>
        </p:nvGrpSpPr>
        <p:grpSpPr>
          <a:xfrm>
            <a:off x="4055300" y="3060535"/>
            <a:ext cx="3645560" cy="3797082"/>
            <a:chOff x="0" y="2295575"/>
            <a:chExt cx="1524000" cy="2837455"/>
          </a:xfrm>
        </p:grpSpPr>
        <p:sp>
          <p:nvSpPr>
            <p:cNvPr id="781" name="Google Shape;781;g34fce246725_0_1632"/>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2" name="Google Shape;782;g34fce246725_0_163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783" name="Google Shape;783;g34fce246725_0_1632"/>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784" name="Google Shape;784;g34fce246725_0_1632"/>
          <p:cNvGrpSpPr/>
          <p:nvPr/>
        </p:nvGrpSpPr>
        <p:grpSpPr>
          <a:xfrm>
            <a:off x="2021177" y="3060697"/>
            <a:ext cx="2740451" cy="3797172"/>
            <a:chOff x="1515975" y="2295580"/>
            <a:chExt cx="1525524" cy="2847950"/>
          </a:xfrm>
        </p:grpSpPr>
        <p:sp>
          <p:nvSpPr>
            <p:cNvPr id="785" name="Google Shape;785;g34fce246725_0_163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786" name="Google Shape;786;g34fce246725_0_163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87" name="Google Shape;787;g34fce246725_0_1632"/>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788" name="Google Shape;788;g34fce246725_0_1632"/>
          <p:cNvGrpSpPr/>
          <p:nvPr/>
        </p:nvGrpSpPr>
        <p:grpSpPr>
          <a:xfrm>
            <a:off x="10" y="3060697"/>
            <a:ext cx="2313783" cy="3873748"/>
            <a:chOff x="1515975" y="2295580"/>
            <a:chExt cx="1525638" cy="2905383"/>
          </a:xfrm>
        </p:grpSpPr>
        <p:sp>
          <p:nvSpPr>
            <p:cNvPr id="789" name="Google Shape;789;g34fce246725_0_163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0" name="Google Shape;790;g34fce246725_0_163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g34fce246725_0_1632"/>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792" name="Google Shape;792;g34fce246725_0_1632"/>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Post WWII: rise of large-scale, government-funded science programs, ‘Golden Age of Science’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Some scientific journals no longer funded by scientific societies or universities, but by for-profit publishers</a:t>
              </a:r>
              <a:endParaRPr sz="1200">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93" name="Google Shape;793;g34fce246725_0_1632"/>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794" name="Google Shape;794;g34fce246725_0_1632"/>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795" name="Google Shape;795;g34fce246725_0_1632"/>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796" name="Google Shape;796;g34fce246725_0_1632"/>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797" name="Google Shape;797;g34fce246725_0_1632"/>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798" name="Google Shape;798;g34fce246725_0_1632"/>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799" name="Google Shape;799;g34fce246725_0_1632"/>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800" name="Google Shape;800;g34fce246725_0_1632"/>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801" name="Google Shape;801;g34fce246725_0_1632"/>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802" name="Google Shape;802;g34fce246725_0_1632"/>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803" name="Google Shape;803;g34fce246725_0_1632"/>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Paradigm shifts and policy</a:t>
            </a:r>
            <a:endParaRPr b="1" i="0" sz="1500" u="none" cap="none" strike="noStrike">
              <a:solidFill>
                <a:srgbClr val="888888"/>
              </a:solidFill>
              <a:latin typeface="Lora"/>
              <a:ea typeface="Lora"/>
              <a:cs typeface="Lora"/>
              <a:sym typeface="Lora"/>
            </a:endParaRPr>
          </a:p>
        </p:txBody>
      </p:sp>
      <p:sp>
        <p:nvSpPr>
          <p:cNvPr id="804" name="Google Shape;804;g34fce246725_0_1632"/>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Open Access mandates by funders - Plan 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Introduction of FAIR data principles and data management plans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preprint servers, OERs, citizen science, and altmetrics</a:t>
            </a:r>
            <a:endParaRPr b="0" i="0" sz="1100" u="none" cap="none" strike="noStrike">
              <a:solidFill>
                <a:srgbClr val="888888"/>
              </a:solidFill>
              <a:latin typeface="Lato Light"/>
              <a:ea typeface="Lato Light"/>
              <a:cs typeface="Lato Light"/>
              <a:sym typeface="La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34fce246725_0_1752"/>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811" name="Google Shape;811;g34fce246725_0_175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12" name="Google Shape;812;g34fce246725_0_175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813" name="Google Shape;813;g34fce246725_0_1752"/>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14" name="Google Shape;814;g34fce246725_0_1752"/>
          <p:cNvCxnSpPr>
            <a:endCxn id="81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816" name="Google Shape;816;g34fce246725_0_1752"/>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7" name="Google Shape;817;g34fce246725_0_1752"/>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8" name="Google Shape;818;g34fce246725_0_1752"/>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9" name="Google Shape;819;g34fce246725_0_1752"/>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20" name="Google Shape;820;g34fce246725_0_1752"/>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15" name="Google Shape;815;g34fce246725_0_1752"/>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21" name="Google Shape;821;g34fce246725_0_1752"/>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822" name="Google Shape;822;g34fce246725_0_1752"/>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823" name="Google Shape;823;g34fce246725_0_1752"/>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824" name="Google Shape;824;g34fce246725_0_1752"/>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825" name="Google Shape;825;g34fce246725_0_1752"/>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826" name="Google Shape;826;g34fce246725_0_1752"/>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827" name="Google Shape;827;g34fce246725_0_1752"/>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828" name="Google Shape;828;g34fce246725_0_1752"/>
          <p:cNvCxnSpPr/>
          <p:nvPr/>
        </p:nvCxnSpPr>
        <p:spPr>
          <a:xfrm flipH="1" rot="10800000">
            <a:off x="9873325" y="2204150"/>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829" name="Google Shape;829;g34fce246725_0_1752"/>
          <p:cNvGrpSpPr/>
          <p:nvPr/>
        </p:nvGrpSpPr>
        <p:grpSpPr>
          <a:xfrm>
            <a:off x="9952817" y="3060701"/>
            <a:ext cx="2238908" cy="3797176"/>
            <a:chOff x="3048000" y="2295578"/>
            <a:chExt cx="1524000" cy="2847953"/>
          </a:xfrm>
        </p:grpSpPr>
        <p:grpSp>
          <p:nvGrpSpPr>
            <p:cNvPr id="830" name="Google Shape;830;g34fce246725_0_1752"/>
            <p:cNvGrpSpPr/>
            <p:nvPr/>
          </p:nvGrpSpPr>
          <p:grpSpPr>
            <a:xfrm>
              <a:off x="3048000" y="2295578"/>
              <a:ext cx="1524000" cy="2847953"/>
              <a:chOff x="0" y="2295575"/>
              <a:chExt cx="1524000" cy="2837455"/>
            </a:xfrm>
          </p:grpSpPr>
          <p:sp>
            <p:nvSpPr>
              <p:cNvPr id="831" name="Google Shape;831;g34fce246725_0_1752"/>
              <p:cNvSpPr/>
              <p:nvPr/>
            </p:nvSpPr>
            <p:spPr>
              <a:xfrm>
                <a:off x="0" y="2823930"/>
                <a:ext cx="1524000" cy="23091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34fce246725_0_1752"/>
              <p:cNvSpPr/>
              <p:nvPr/>
            </p:nvSpPr>
            <p:spPr>
              <a:xfrm>
                <a:off x="0" y="2295575"/>
                <a:ext cx="1524000" cy="53700"/>
              </a:xfrm>
              <a:prstGeom prst="rect">
                <a:avLst/>
              </a:prstGeom>
              <a:solidFill>
                <a:srgbClr val="EFEFE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33" name="Google Shape;833;g34fce246725_0_1752"/>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888888"/>
                  </a:solidFill>
                  <a:latin typeface="Roboto"/>
                  <a:ea typeface="Roboto"/>
                  <a:cs typeface="Roboto"/>
                  <a:sym typeface="Roboto"/>
                </a:rPr>
                <a:t>2020-...</a:t>
              </a:r>
              <a:endParaRPr b="0" i="0" sz="1300" u="none" cap="none" strike="noStrike">
                <a:solidFill>
                  <a:srgbClr val="888888"/>
                </a:solidFill>
                <a:latin typeface="Roboto"/>
                <a:ea typeface="Roboto"/>
                <a:cs typeface="Roboto"/>
                <a:sym typeface="Roboto"/>
              </a:endParaRPr>
            </a:p>
          </p:txBody>
        </p:sp>
      </p:grpSp>
      <p:grpSp>
        <p:nvGrpSpPr>
          <p:cNvPr id="834" name="Google Shape;834;g34fce246725_0_1752"/>
          <p:cNvGrpSpPr/>
          <p:nvPr/>
        </p:nvGrpSpPr>
        <p:grpSpPr>
          <a:xfrm>
            <a:off x="7661250" y="3060560"/>
            <a:ext cx="2496312" cy="3797077"/>
            <a:chOff x="0" y="2295575"/>
            <a:chExt cx="1524000" cy="2837451"/>
          </a:xfrm>
        </p:grpSpPr>
        <p:sp>
          <p:nvSpPr>
            <p:cNvPr id="835" name="Google Shape;835;g34fce246725_0_1752"/>
            <p:cNvSpPr/>
            <p:nvPr/>
          </p:nvSpPr>
          <p:spPr>
            <a:xfrm>
              <a:off x="0" y="2823926"/>
              <a:ext cx="14547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g34fce246725_0_175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37" name="Google Shape;837;g34fce246725_0_1752"/>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838" name="Google Shape;838;g34fce246725_0_1752"/>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839" name="Google Shape;839;g34fce246725_0_1752"/>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2010-2020</a:t>
            </a:r>
            <a:endParaRPr b="0" i="0" sz="1300" u="none" cap="none" strike="noStrike">
              <a:solidFill>
                <a:srgbClr val="4C979F"/>
              </a:solidFill>
              <a:latin typeface="Roboto"/>
              <a:ea typeface="Roboto"/>
              <a:cs typeface="Roboto"/>
              <a:sym typeface="Roboto"/>
            </a:endParaRPr>
          </a:p>
        </p:txBody>
      </p:sp>
      <p:grpSp>
        <p:nvGrpSpPr>
          <p:cNvPr id="840" name="Google Shape;840;g34fce246725_0_1752"/>
          <p:cNvGrpSpPr/>
          <p:nvPr/>
        </p:nvGrpSpPr>
        <p:grpSpPr>
          <a:xfrm>
            <a:off x="4055300" y="3060535"/>
            <a:ext cx="3645560" cy="3797082"/>
            <a:chOff x="0" y="2295575"/>
            <a:chExt cx="1524000" cy="2837455"/>
          </a:xfrm>
        </p:grpSpPr>
        <p:sp>
          <p:nvSpPr>
            <p:cNvPr id="841" name="Google Shape;841;g34fce246725_0_1752"/>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42" name="Google Shape;842;g34fce246725_0_1752"/>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843" name="Google Shape;843;g34fce246725_0_1752"/>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844" name="Google Shape;844;g34fce246725_0_1752"/>
          <p:cNvGrpSpPr/>
          <p:nvPr/>
        </p:nvGrpSpPr>
        <p:grpSpPr>
          <a:xfrm>
            <a:off x="2021177" y="3060697"/>
            <a:ext cx="2740451" cy="3797172"/>
            <a:chOff x="1515975" y="2295580"/>
            <a:chExt cx="1525524" cy="2847950"/>
          </a:xfrm>
        </p:grpSpPr>
        <p:sp>
          <p:nvSpPr>
            <p:cNvPr id="845" name="Google Shape;845;g34fce246725_0_175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EFEFEF"/>
                </a:highlight>
                <a:latin typeface="Arial"/>
                <a:ea typeface="Arial"/>
                <a:cs typeface="Arial"/>
                <a:sym typeface="Arial"/>
              </a:endParaRPr>
            </a:p>
          </p:txBody>
        </p:sp>
        <p:sp>
          <p:nvSpPr>
            <p:cNvPr id="846" name="Google Shape;846;g34fce246725_0_175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47" name="Google Shape;847;g34fce246725_0_1752"/>
            <p:cNvCxnSpPr/>
            <p:nvPr/>
          </p:nvCxnSpPr>
          <p:spPr>
            <a:xfrm>
              <a:off x="3041499" y="2295580"/>
              <a:ext cx="0" cy="2837400"/>
            </a:xfrm>
            <a:prstGeom prst="straightConnector1">
              <a:avLst/>
            </a:prstGeom>
            <a:noFill/>
            <a:ln cap="flat" cmpd="sng" w="9525">
              <a:solidFill>
                <a:srgbClr val="D9D9D9"/>
              </a:solidFill>
              <a:prstDash val="dot"/>
              <a:round/>
              <a:headEnd len="sm" w="sm" type="none"/>
              <a:tailEnd len="sm" w="sm" type="none"/>
            </a:ln>
          </p:spPr>
        </p:cxnSp>
      </p:grpSp>
      <p:grpSp>
        <p:nvGrpSpPr>
          <p:cNvPr id="848" name="Google Shape;848;g34fce246725_0_1752"/>
          <p:cNvGrpSpPr/>
          <p:nvPr/>
        </p:nvGrpSpPr>
        <p:grpSpPr>
          <a:xfrm>
            <a:off x="10" y="3060697"/>
            <a:ext cx="2313783" cy="3873748"/>
            <a:chOff x="1515975" y="2295580"/>
            <a:chExt cx="1525638" cy="2905383"/>
          </a:xfrm>
        </p:grpSpPr>
        <p:sp>
          <p:nvSpPr>
            <p:cNvPr id="849" name="Google Shape;849;g34fce246725_0_1752"/>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0" name="Google Shape;850;g34fce246725_0_1752"/>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34fce246725_0_1752"/>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852" name="Google Shape;852;g34fce246725_0_1752"/>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Post WWII: rise of large-scale, government-funded science programs, ‘Golden Age of Science’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Some scientific journals no longer funded by scientific societies or universities, but by for-profit publishers</a:t>
              </a:r>
              <a:endParaRPr sz="1200">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853" name="Google Shape;853;g34fce246725_0_1752"/>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854" name="Google Shape;854;g34fce246725_0_1752"/>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855" name="Google Shape;855;g34fce246725_0_1752"/>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856" name="Google Shape;856;g34fce246725_0_1752"/>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888888"/>
                </a:solidFill>
                <a:latin typeface="Lora"/>
                <a:ea typeface="Lora"/>
                <a:cs typeface="Lora"/>
                <a:sym typeface="Lora"/>
              </a:rPr>
              <a:t>Global change and rewards</a:t>
            </a:r>
            <a:endParaRPr b="1" i="0" sz="1500" u="none" cap="none" strike="noStrike">
              <a:solidFill>
                <a:srgbClr val="888888"/>
              </a:solidFill>
              <a:latin typeface="Lora"/>
              <a:ea typeface="Lora"/>
              <a:cs typeface="Lora"/>
              <a:sym typeface="Lora"/>
            </a:endParaRPr>
          </a:p>
        </p:txBody>
      </p:sp>
      <p:sp>
        <p:nvSpPr>
          <p:cNvPr id="857" name="Google Shape;857;g34fce246725_0_1752"/>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UNESCO recommendations</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CoARA launched</a:t>
            </a:r>
            <a:endParaRPr b="0" i="0" sz="1200" u="none" cap="none" strike="noStrike">
              <a:solidFill>
                <a:srgbClr val="888888"/>
              </a:solidFill>
              <a:latin typeface="Lato Light"/>
              <a:ea typeface="Lato Light"/>
              <a:cs typeface="Lato Light"/>
              <a:sym typeface="Lato Light"/>
            </a:endParaRPr>
          </a:p>
        </p:txBody>
      </p:sp>
      <p:sp>
        <p:nvSpPr>
          <p:cNvPr id="858" name="Google Shape;858;g34fce246725_0_1752"/>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859" name="Google Shape;859;g34fce246725_0_1752"/>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860" name="Google Shape;860;g34fce246725_0_1752"/>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861" name="Google Shape;861;g34fce246725_0_1752"/>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862" name="Google Shape;862;g34fce246725_0_1752"/>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863" name="Google Shape;863;g34fce246725_0_1752"/>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Paradigm shifts and policy</a:t>
            </a:r>
            <a:endParaRPr b="1" i="0" sz="1500" u="none" cap="none" strike="noStrike">
              <a:solidFill>
                <a:schemeClr val="lt1"/>
              </a:solidFill>
              <a:latin typeface="Lora"/>
              <a:ea typeface="Lora"/>
              <a:cs typeface="Lora"/>
              <a:sym typeface="Lora"/>
            </a:endParaRPr>
          </a:p>
        </p:txBody>
      </p:sp>
      <p:sp>
        <p:nvSpPr>
          <p:cNvPr id="864" name="Google Shape;864;g34fce246725_0_1752"/>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Open Access mandates by funders - Plan 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Introduction of FAIR data principles and data management plans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preprint servers, OERs, citizen science, and altmetrics</a:t>
            </a:r>
            <a:endParaRPr b="0" i="0" sz="11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501d60e36d_0_69"/>
          <p:cNvSpPr txBox="1"/>
          <p:nvPr>
            <p:ph type="title"/>
          </p:nvPr>
        </p:nvSpPr>
        <p:spPr>
          <a:xfrm>
            <a:off x="838200" y="365126"/>
            <a:ext cx="9538200" cy="8301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0909"/>
              <a:buNone/>
            </a:pPr>
            <a:r>
              <a:rPr lang="en-US">
                <a:latin typeface="Lora"/>
                <a:ea typeface="Lora"/>
                <a:cs typeface="Lora"/>
                <a:sym typeface="Lora"/>
              </a:rPr>
              <a:t>Open Science - How did we get here?</a:t>
            </a:r>
            <a:endParaRPr>
              <a:latin typeface="Lora"/>
              <a:ea typeface="Lora"/>
              <a:cs typeface="Lora"/>
              <a:sym typeface="Lora"/>
            </a:endParaRPr>
          </a:p>
        </p:txBody>
      </p:sp>
      <p:sp>
        <p:nvSpPr>
          <p:cNvPr id="871" name="Google Shape;871;g3501d60e36d_0_6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72" name="Google Shape;872;g3501d60e36d_0_6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873" name="Google Shape;873;g3501d60e36d_0_69"/>
          <p:cNvSpPr/>
          <p:nvPr/>
        </p:nvSpPr>
        <p:spPr>
          <a:xfrm>
            <a:off x="11263175" y="2032700"/>
            <a:ext cx="864900" cy="597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874" name="Google Shape;874;g3501d60e36d_0_69"/>
          <p:cNvCxnSpPr>
            <a:endCxn id="875" idx="6"/>
          </p:cNvCxnSpPr>
          <p:nvPr/>
        </p:nvCxnSpPr>
        <p:spPr>
          <a:xfrm>
            <a:off x="603600" y="2204150"/>
            <a:ext cx="11107800" cy="0"/>
          </a:xfrm>
          <a:prstGeom prst="straightConnector1">
            <a:avLst/>
          </a:prstGeom>
          <a:noFill/>
          <a:ln cap="flat" cmpd="sng" w="9525">
            <a:solidFill>
              <a:schemeClr val="dk2"/>
            </a:solidFill>
            <a:prstDash val="solid"/>
            <a:round/>
            <a:headEnd len="sm" w="sm" type="none"/>
            <a:tailEnd len="sm" w="sm" type="none"/>
          </a:ln>
        </p:spPr>
      </p:cxnSp>
      <p:sp>
        <p:nvSpPr>
          <p:cNvPr id="876" name="Google Shape;876;g3501d60e36d_0_69"/>
          <p:cNvSpPr/>
          <p:nvPr/>
        </p:nvSpPr>
        <p:spPr>
          <a:xfrm>
            <a:off x="1137050" y="204305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7" name="Google Shape;877;g3501d60e36d_0_69"/>
          <p:cNvSpPr/>
          <p:nvPr/>
        </p:nvSpPr>
        <p:spPr>
          <a:xfrm>
            <a:off x="3177700" y="203686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8" name="Google Shape;878;g3501d60e36d_0_69"/>
          <p:cNvSpPr/>
          <p:nvPr/>
        </p:nvSpPr>
        <p:spPr>
          <a:xfrm>
            <a:off x="5218350"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9" name="Google Shape;879;g3501d60e36d_0_69"/>
          <p:cNvSpPr/>
          <p:nvPr/>
        </p:nvSpPr>
        <p:spPr>
          <a:xfrm>
            <a:off x="72590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80" name="Google Shape;880;g3501d60e36d_0_69"/>
          <p:cNvSpPr/>
          <p:nvPr/>
        </p:nvSpPr>
        <p:spPr>
          <a:xfrm>
            <a:off x="9299638" y="2018613"/>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75" name="Google Shape;875;g3501d60e36d_0_69"/>
          <p:cNvSpPr/>
          <p:nvPr/>
        </p:nvSpPr>
        <p:spPr>
          <a:xfrm>
            <a:off x="11340300" y="2018600"/>
            <a:ext cx="371100" cy="371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81" name="Google Shape;881;g3501d60e36d_0_69"/>
          <p:cNvSpPr txBox="1"/>
          <p:nvPr/>
        </p:nvSpPr>
        <p:spPr>
          <a:xfrm>
            <a:off x="86887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1600</a:t>
            </a:r>
            <a:endParaRPr b="0" i="0" sz="2200" u="none" cap="none" strike="noStrike">
              <a:solidFill>
                <a:schemeClr val="dk1"/>
              </a:solidFill>
              <a:latin typeface="Lato Light"/>
              <a:ea typeface="Lato Light"/>
              <a:cs typeface="Lato Light"/>
              <a:sym typeface="Lato Light"/>
            </a:endParaRPr>
          </a:p>
        </p:txBody>
      </p:sp>
      <p:sp>
        <p:nvSpPr>
          <p:cNvPr id="882" name="Google Shape;882;g3501d60e36d_0_69"/>
          <p:cNvSpPr txBox="1"/>
          <p:nvPr/>
        </p:nvSpPr>
        <p:spPr>
          <a:xfrm>
            <a:off x="29581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1700</a:t>
            </a:r>
            <a:endParaRPr b="0" i="0" sz="2200" u="none" cap="none" strike="noStrike">
              <a:solidFill>
                <a:schemeClr val="dk1"/>
              </a:solidFill>
              <a:latin typeface="Lato Light"/>
              <a:ea typeface="Lato Light"/>
              <a:cs typeface="Lato Light"/>
              <a:sym typeface="Lato Light"/>
            </a:endParaRPr>
          </a:p>
        </p:txBody>
      </p:sp>
      <p:sp>
        <p:nvSpPr>
          <p:cNvPr id="883" name="Google Shape;883;g3501d60e36d_0_69"/>
          <p:cNvSpPr txBox="1"/>
          <p:nvPr/>
        </p:nvSpPr>
        <p:spPr>
          <a:xfrm>
            <a:off x="4936350" y="153255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1800</a:t>
            </a:r>
            <a:endParaRPr b="0" i="0" sz="2200" u="none" cap="none" strike="noStrike">
              <a:solidFill>
                <a:schemeClr val="dk1"/>
              </a:solidFill>
              <a:latin typeface="Lato Light"/>
              <a:ea typeface="Lato Light"/>
              <a:cs typeface="Lato Light"/>
              <a:sym typeface="Lato Light"/>
            </a:endParaRPr>
          </a:p>
        </p:txBody>
      </p:sp>
      <p:sp>
        <p:nvSpPr>
          <p:cNvPr id="884" name="Google Shape;884;g3501d60e36d_0_69"/>
          <p:cNvSpPr txBox="1"/>
          <p:nvPr/>
        </p:nvSpPr>
        <p:spPr>
          <a:xfrm>
            <a:off x="697700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1900</a:t>
            </a:r>
            <a:endParaRPr b="0" i="0" sz="2200" u="none" cap="none" strike="noStrike">
              <a:solidFill>
                <a:schemeClr val="dk1"/>
              </a:solidFill>
              <a:latin typeface="Lato Light"/>
              <a:ea typeface="Lato Light"/>
              <a:cs typeface="Lato Light"/>
              <a:sym typeface="Lato Light"/>
            </a:endParaRPr>
          </a:p>
        </p:txBody>
      </p:sp>
      <p:sp>
        <p:nvSpPr>
          <p:cNvPr id="885" name="Google Shape;885;g3501d60e36d_0_69"/>
          <p:cNvSpPr txBox="1"/>
          <p:nvPr/>
        </p:nvSpPr>
        <p:spPr>
          <a:xfrm>
            <a:off x="9017650"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2000</a:t>
            </a:r>
            <a:endParaRPr b="0" i="0" sz="2200" u="none" cap="none" strike="noStrike">
              <a:solidFill>
                <a:schemeClr val="dk1"/>
              </a:solidFill>
              <a:latin typeface="Lato Light"/>
              <a:ea typeface="Lato Light"/>
              <a:cs typeface="Lato Light"/>
              <a:sym typeface="Lato Light"/>
            </a:endParaRPr>
          </a:p>
        </p:txBody>
      </p:sp>
      <p:sp>
        <p:nvSpPr>
          <p:cNvPr id="886" name="Google Shape;886;g3501d60e36d_0_69"/>
          <p:cNvSpPr txBox="1"/>
          <p:nvPr/>
        </p:nvSpPr>
        <p:spPr>
          <a:xfrm>
            <a:off x="11088025" y="1549800"/>
            <a:ext cx="9351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Lato Light"/>
                <a:ea typeface="Lato Light"/>
                <a:cs typeface="Lato Light"/>
                <a:sym typeface="Lato Light"/>
              </a:rPr>
              <a:t>2100</a:t>
            </a:r>
            <a:endParaRPr b="0" i="0" sz="2200" u="none" cap="none" strike="noStrike">
              <a:solidFill>
                <a:schemeClr val="dk1"/>
              </a:solidFill>
              <a:latin typeface="Lato Light"/>
              <a:ea typeface="Lato Light"/>
              <a:cs typeface="Lato Light"/>
              <a:sym typeface="Lato Light"/>
            </a:endParaRPr>
          </a:p>
        </p:txBody>
      </p:sp>
      <p:sp>
        <p:nvSpPr>
          <p:cNvPr id="887" name="Google Shape;887;g3501d60e36d_0_69"/>
          <p:cNvSpPr txBox="1"/>
          <p:nvPr/>
        </p:nvSpPr>
        <p:spPr>
          <a:xfrm>
            <a:off x="0" y="1611300"/>
            <a:ext cx="71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Lato Light"/>
                <a:ea typeface="Lato Light"/>
                <a:cs typeface="Lato Light"/>
                <a:sym typeface="Lato Light"/>
              </a:rPr>
              <a:t>Year</a:t>
            </a:r>
            <a:endParaRPr b="0" i="0" sz="1800" u="none" cap="none" strike="noStrike">
              <a:solidFill>
                <a:schemeClr val="dk1"/>
              </a:solidFill>
              <a:latin typeface="Lato Light"/>
              <a:ea typeface="Lato Light"/>
              <a:cs typeface="Lato Light"/>
              <a:sym typeface="Lato Light"/>
            </a:endParaRPr>
          </a:p>
        </p:txBody>
      </p:sp>
      <p:cxnSp>
        <p:nvCxnSpPr>
          <p:cNvPr id="888" name="Google Shape;888;g3501d60e36d_0_69"/>
          <p:cNvCxnSpPr/>
          <p:nvPr/>
        </p:nvCxnSpPr>
        <p:spPr>
          <a:xfrm flipH="1" rot="10800000">
            <a:off x="10055775" y="2204150"/>
            <a:ext cx="568500" cy="600"/>
          </a:xfrm>
          <a:prstGeom prst="straightConnector1">
            <a:avLst/>
          </a:prstGeom>
          <a:noFill/>
          <a:ln cap="flat" cmpd="sng" w="38100">
            <a:solidFill>
              <a:srgbClr val="045C64"/>
            </a:solidFill>
            <a:prstDash val="solid"/>
            <a:round/>
            <a:headEnd len="med" w="med" type="triangle"/>
            <a:tailEnd len="med" w="med" type="triangle"/>
          </a:ln>
        </p:spPr>
      </p:cxnSp>
      <p:grpSp>
        <p:nvGrpSpPr>
          <p:cNvPr id="889" name="Google Shape;889;g3501d60e36d_0_69"/>
          <p:cNvGrpSpPr/>
          <p:nvPr/>
        </p:nvGrpSpPr>
        <p:grpSpPr>
          <a:xfrm>
            <a:off x="9952817" y="3060701"/>
            <a:ext cx="2238908" cy="3797176"/>
            <a:chOff x="3048000" y="2295578"/>
            <a:chExt cx="1524000" cy="2847953"/>
          </a:xfrm>
        </p:grpSpPr>
        <p:grpSp>
          <p:nvGrpSpPr>
            <p:cNvPr id="890" name="Google Shape;890;g3501d60e36d_0_69"/>
            <p:cNvGrpSpPr/>
            <p:nvPr/>
          </p:nvGrpSpPr>
          <p:grpSpPr>
            <a:xfrm>
              <a:off x="3048000" y="2295578"/>
              <a:ext cx="1524000" cy="2847953"/>
              <a:chOff x="0" y="2295575"/>
              <a:chExt cx="1524000" cy="2837455"/>
            </a:xfrm>
          </p:grpSpPr>
          <p:sp>
            <p:nvSpPr>
              <p:cNvPr id="891" name="Google Shape;891;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3" name="Google Shape;893;g3501d60e36d_0_69"/>
            <p:cNvSpPr txBox="1"/>
            <p:nvPr/>
          </p:nvSpPr>
          <p:spPr>
            <a:xfrm>
              <a:off x="3224550" y="2441107"/>
              <a:ext cx="8712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2020-...</a:t>
              </a:r>
              <a:endParaRPr b="0" i="0" sz="1300" u="none" cap="none" strike="noStrike">
                <a:solidFill>
                  <a:srgbClr val="4C979F"/>
                </a:solidFill>
                <a:latin typeface="Roboto"/>
                <a:ea typeface="Roboto"/>
                <a:cs typeface="Roboto"/>
                <a:sym typeface="Roboto"/>
              </a:endParaRPr>
            </a:p>
          </p:txBody>
        </p:sp>
      </p:grpSp>
      <p:grpSp>
        <p:nvGrpSpPr>
          <p:cNvPr id="894" name="Google Shape;894;g3501d60e36d_0_69"/>
          <p:cNvGrpSpPr/>
          <p:nvPr/>
        </p:nvGrpSpPr>
        <p:grpSpPr>
          <a:xfrm>
            <a:off x="7661250" y="3060560"/>
            <a:ext cx="2496312" cy="3797082"/>
            <a:chOff x="0" y="2295575"/>
            <a:chExt cx="1524000" cy="2837455"/>
          </a:xfrm>
        </p:grpSpPr>
        <p:sp>
          <p:nvSpPr>
            <p:cNvPr id="895" name="Google Shape;895;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897" name="Google Shape;897;g3501d60e36d_0_69"/>
          <p:cNvCxnSpPr/>
          <p:nvPr/>
        </p:nvCxnSpPr>
        <p:spPr>
          <a:xfrm>
            <a:off x="10005185" y="3060697"/>
            <a:ext cx="0" cy="3783000"/>
          </a:xfrm>
          <a:prstGeom prst="straightConnector1">
            <a:avLst/>
          </a:prstGeom>
          <a:noFill/>
          <a:ln cap="flat" cmpd="sng" w="9525">
            <a:solidFill>
              <a:srgbClr val="D9D9D9"/>
            </a:solidFill>
            <a:prstDash val="dot"/>
            <a:round/>
            <a:headEnd len="sm" w="sm" type="none"/>
            <a:tailEnd len="sm" w="sm" type="none"/>
          </a:ln>
        </p:spPr>
      </p:cxnSp>
      <p:sp>
        <p:nvSpPr>
          <p:cNvPr id="898" name="Google Shape;898;g3501d60e36d_0_69"/>
          <p:cNvSpPr txBox="1"/>
          <p:nvPr/>
        </p:nvSpPr>
        <p:spPr>
          <a:xfrm>
            <a:off x="5687788" y="4886700"/>
            <a:ext cx="16842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publication and peer-review becomes routine</a:t>
            </a:r>
            <a:endParaRPr b="0" i="0" sz="1200" u="none" cap="none" strike="noStrike">
              <a:solidFill>
                <a:srgbClr val="888888"/>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888888"/>
                </a:solidFill>
                <a:latin typeface="Lato Light"/>
                <a:ea typeface="Lato Light"/>
                <a:cs typeface="Lato Light"/>
                <a:sym typeface="Lato Light"/>
              </a:rPr>
              <a:t>- journals expensive, access is limited </a:t>
            </a:r>
            <a:endParaRPr b="0" i="0" sz="1200" u="none" cap="none" strike="noStrike">
              <a:solidFill>
                <a:srgbClr val="888888"/>
              </a:solidFill>
              <a:latin typeface="Lato Light"/>
              <a:ea typeface="Lato Light"/>
              <a:cs typeface="Lato Light"/>
              <a:sym typeface="Lato Light"/>
            </a:endParaRPr>
          </a:p>
        </p:txBody>
      </p:sp>
      <p:sp>
        <p:nvSpPr>
          <p:cNvPr id="899" name="Google Shape;899;g3501d60e36d_0_69"/>
          <p:cNvSpPr txBox="1"/>
          <p:nvPr/>
        </p:nvSpPr>
        <p:spPr>
          <a:xfrm>
            <a:off x="7806544" y="325473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2010-2020</a:t>
            </a:r>
            <a:endParaRPr b="0" i="0" sz="1300" u="none" cap="none" strike="noStrike">
              <a:solidFill>
                <a:srgbClr val="4C979F"/>
              </a:solidFill>
              <a:latin typeface="Roboto"/>
              <a:ea typeface="Roboto"/>
              <a:cs typeface="Roboto"/>
              <a:sym typeface="Roboto"/>
            </a:endParaRPr>
          </a:p>
        </p:txBody>
      </p:sp>
      <p:grpSp>
        <p:nvGrpSpPr>
          <p:cNvPr id="900" name="Google Shape;900;g3501d60e36d_0_69"/>
          <p:cNvGrpSpPr/>
          <p:nvPr/>
        </p:nvGrpSpPr>
        <p:grpSpPr>
          <a:xfrm>
            <a:off x="4055300" y="3060560"/>
            <a:ext cx="3687013" cy="3797082"/>
            <a:chOff x="0" y="2295575"/>
            <a:chExt cx="1524000" cy="2837455"/>
          </a:xfrm>
        </p:grpSpPr>
        <p:sp>
          <p:nvSpPr>
            <p:cNvPr id="901" name="Google Shape;901;g3501d60e36d_0_69"/>
            <p:cNvSpPr/>
            <p:nvPr/>
          </p:nvSpPr>
          <p:spPr>
            <a:xfrm>
              <a:off x="0" y="2823930"/>
              <a:ext cx="1524000" cy="23091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02" name="Google Shape;902;g3501d60e36d_0_69"/>
            <p:cNvSpPr/>
            <p:nvPr/>
          </p:nvSpPr>
          <p:spPr>
            <a:xfrm>
              <a:off x="0" y="2295575"/>
              <a:ext cx="15240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903" name="Google Shape;903;g3501d60e36d_0_69"/>
          <p:cNvSpPr txBox="1"/>
          <p:nvPr/>
        </p:nvSpPr>
        <p:spPr>
          <a:xfrm>
            <a:off x="2525456" y="3228179"/>
            <a:ext cx="23256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1990-2000</a:t>
            </a:r>
            <a:endParaRPr b="0" i="0" sz="1300" u="none" cap="none" strike="noStrike">
              <a:solidFill>
                <a:srgbClr val="4C979F"/>
              </a:solidFill>
              <a:latin typeface="Roboto"/>
              <a:ea typeface="Roboto"/>
              <a:cs typeface="Roboto"/>
              <a:sym typeface="Roboto"/>
            </a:endParaRPr>
          </a:p>
        </p:txBody>
      </p:sp>
      <p:grpSp>
        <p:nvGrpSpPr>
          <p:cNvPr id="904" name="Google Shape;904;g3501d60e36d_0_69"/>
          <p:cNvGrpSpPr/>
          <p:nvPr/>
        </p:nvGrpSpPr>
        <p:grpSpPr>
          <a:xfrm>
            <a:off x="2021177" y="3060697"/>
            <a:ext cx="2740451" cy="3797172"/>
            <a:chOff x="1515975" y="2295580"/>
            <a:chExt cx="1525524" cy="2847950"/>
          </a:xfrm>
        </p:grpSpPr>
        <p:sp>
          <p:nvSpPr>
            <p:cNvPr id="905" name="Google Shape;905;g3501d60e36d_0_6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chemeClr val="lt2"/>
                </a:highlight>
                <a:latin typeface="Arial"/>
                <a:ea typeface="Arial"/>
                <a:cs typeface="Arial"/>
                <a:sym typeface="Arial"/>
              </a:endParaRPr>
            </a:p>
          </p:txBody>
        </p:sp>
        <p:sp>
          <p:nvSpPr>
            <p:cNvPr id="906" name="Google Shape;906;g3501d60e36d_0_6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07" name="Google Shape;907;g3501d60e36d_0_6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grpSp>
        <p:nvGrpSpPr>
          <p:cNvPr id="908" name="Google Shape;908;g3501d60e36d_0_69"/>
          <p:cNvGrpSpPr/>
          <p:nvPr/>
        </p:nvGrpSpPr>
        <p:grpSpPr>
          <a:xfrm>
            <a:off x="10" y="3060697"/>
            <a:ext cx="2313783" cy="3873748"/>
            <a:chOff x="1515975" y="2295580"/>
            <a:chExt cx="1525638" cy="2905383"/>
          </a:xfrm>
        </p:grpSpPr>
        <p:sp>
          <p:nvSpPr>
            <p:cNvPr id="909" name="Google Shape;909;g3501d60e36d_0_69"/>
            <p:cNvSpPr/>
            <p:nvPr/>
          </p:nvSpPr>
          <p:spPr>
            <a:xfrm>
              <a:off x="1515975" y="2823930"/>
              <a:ext cx="1525500" cy="23196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0" name="Google Shape;910;g3501d60e36d_0_69"/>
            <p:cNvSpPr/>
            <p:nvPr/>
          </p:nvSpPr>
          <p:spPr>
            <a:xfrm>
              <a:off x="1515975" y="2295580"/>
              <a:ext cx="1525500" cy="53700"/>
            </a:xfrm>
            <a:prstGeom prst="rect">
              <a:avLst/>
            </a:prstGeom>
            <a:solidFill>
              <a:srgbClr val="4C979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3501d60e36d_0_69"/>
            <p:cNvSpPr txBox="1"/>
            <p:nvPr/>
          </p:nvSpPr>
          <p:spPr>
            <a:xfrm>
              <a:off x="1570033" y="2992911"/>
              <a:ext cx="1463400" cy="67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Public funding, private publishing</a:t>
              </a:r>
              <a:endParaRPr b="1" i="0" sz="1500" u="none" cap="none" strike="noStrike">
                <a:solidFill>
                  <a:schemeClr val="lt1"/>
                </a:solidFill>
                <a:latin typeface="Lora"/>
                <a:ea typeface="Lora"/>
                <a:cs typeface="Lora"/>
                <a:sym typeface="Lora"/>
              </a:endParaRPr>
            </a:p>
          </p:txBody>
        </p:sp>
        <p:sp>
          <p:nvSpPr>
            <p:cNvPr id="912" name="Google Shape;912;g3501d60e36d_0_69"/>
            <p:cNvSpPr txBox="1"/>
            <p:nvPr/>
          </p:nvSpPr>
          <p:spPr>
            <a:xfrm>
              <a:off x="1578213" y="3553063"/>
              <a:ext cx="1463400" cy="1647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Post WWII: rise of large-scale, government-funded science programs, ‘Golden Age of Science’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t/>
              </a:r>
              <a:endParaRPr sz="1200">
                <a:solidFill>
                  <a:schemeClr val="lt1"/>
                </a:solidFill>
                <a:latin typeface="Lato Light"/>
                <a:ea typeface="Lato Light"/>
                <a:cs typeface="Lato Light"/>
                <a:sym typeface="Lato Light"/>
              </a:endParaRPr>
            </a:p>
            <a:p>
              <a:pPr indent="0" lvl="0" marL="0" rtl="0" algn="l">
                <a:spcBef>
                  <a:spcPts val="0"/>
                </a:spcBef>
                <a:spcAft>
                  <a:spcPts val="0"/>
                </a:spcAft>
                <a:buClr>
                  <a:schemeClr val="dk1"/>
                </a:buClr>
                <a:buSzPts val="1200"/>
                <a:buFont typeface="Arial"/>
                <a:buNone/>
              </a:pPr>
              <a:r>
                <a:rPr lang="en-US" sz="1200">
                  <a:solidFill>
                    <a:schemeClr val="lt1"/>
                  </a:solidFill>
                  <a:latin typeface="Lato Light"/>
                  <a:ea typeface="Lato Light"/>
                  <a:cs typeface="Lato Light"/>
                  <a:sym typeface="Lato Light"/>
                </a:rPr>
                <a:t>Some scientific journals no longer funded by scientific societies or universities, but by for-profit publishers</a:t>
              </a:r>
              <a:endParaRPr sz="1200">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913" name="Google Shape;913;g3501d60e36d_0_69"/>
            <p:cNvSpPr txBox="1"/>
            <p:nvPr/>
          </p:nvSpPr>
          <p:spPr>
            <a:xfrm>
              <a:off x="1614649" y="2423730"/>
              <a:ext cx="872100" cy="260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1950-1990</a:t>
              </a:r>
              <a:endParaRPr b="0" i="0" sz="1300" u="none" cap="none" strike="noStrike">
                <a:solidFill>
                  <a:srgbClr val="4C979F"/>
                </a:solidFill>
                <a:latin typeface="Roboto"/>
                <a:ea typeface="Roboto"/>
                <a:cs typeface="Roboto"/>
                <a:sym typeface="Roboto"/>
              </a:endParaRPr>
            </a:p>
          </p:txBody>
        </p:sp>
        <p:cxnSp>
          <p:nvCxnSpPr>
            <p:cNvPr id="914" name="Google Shape;914;g3501d60e36d_0_69"/>
            <p:cNvCxnSpPr/>
            <p:nvPr/>
          </p:nvCxnSpPr>
          <p:spPr>
            <a:xfrm>
              <a:off x="3041499" y="2295580"/>
              <a:ext cx="0" cy="2837400"/>
            </a:xfrm>
            <a:prstGeom prst="straightConnector1">
              <a:avLst/>
            </a:prstGeom>
            <a:noFill/>
            <a:ln cap="flat" cmpd="sng" w="9525">
              <a:solidFill>
                <a:srgbClr val="83E3DA"/>
              </a:solidFill>
              <a:prstDash val="dot"/>
              <a:round/>
              <a:headEnd len="sm" w="sm" type="none"/>
              <a:tailEnd len="sm" w="sm" type="none"/>
            </a:ln>
          </p:spPr>
        </p:cxnSp>
      </p:grpSp>
      <p:sp>
        <p:nvSpPr>
          <p:cNvPr id="915" name="Google Shape;915;g3501d60e36d_0_69"/>
          <p:cNvSpPr txBox="1"/>
          <p:nvPr/>
        </p:nvSpPr>
        <p:spPr>
          <a:xfrm>
            <a:off x="2313800" y="3981575"/>
            <a:ext cx="2740500" cy="527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The rise of the internet</a:t>
            </a:r>
            <a:endParaRPr b="1" i="0" sz="1500" u="none" cap="none" strike="noStrike">
              <a:solidFill>
                <a:schemeClr val="lt1"/>
              </a:solidFill>
              <a:latin typeface="Lora"/>
              <a:ea typeface="Lora"/>
              <a:cs typeface="Lora"/>
              <a:sym typeface="Lora"/>
            </a:endParaRPr>
          </a:p>
        </p:txBody>
      </p:sp>
      <p:sp>
        <p:nvSpPr>
          <p:cNvPr id="916" name="Google Shape;916;g3501d60e36d_0_69"/>
          <p:cNvSpPr txBox="1"/>
          <p:nvPr/>
        </p:nvSpPr>
        <p:spPr>
          <a:xfrm>
            <a:off x="10172300" y="3981600"/>
            <a:ext cx="1736100" cy="90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Global change and rewards</a:t>
            </a:r>
            <a:endParaRPr b="1" i="0" sz="1500" u="none" cap="none" strike="noStrike">
              <a:solidFill>
                <a:schemeClr val="lt1"/>
              </a:solidFill>
              <a:latin typeface="Lora"/>
              <a:ea typeface="Lora"/>
              <a:cs typeface="Lora"/>
              <a:sym typeface="Lora"/>
            </a:endParaRPr>
          </a:p>
        </p:txBody>
      </p:sp>
      <p:sp>
        <p:nvSpPr>
          <p:cNvPr id="917" name="Google Shape;917;g3501d60e36d_0_69"/>
          <p:cNvSpPr txBox="1"/>
          <p:nvPr/>
        </p:nvSpPr>
        <p:spPr>
          <a:xfrm>
            <a:off x="10093600" y="4730450"/>
            <a:ext cx="18534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F2F2"/>
                </a:solidFill>
                <a:latin typeface="Lato Light"/>
                <a:ea typeface="Lato Light"/>
                <a:cs typeface="Lato Light"/>
                <a:sym typeface="Lato Light"/>
              </a:rPr>
              <a:t>UNESCO recommendations</a:t>
            </a:r>
            <a:endParaRPr b="0" i="0" sz="1200" u="none" cap="none" strike="noStrike">
              <a:solidFill>
                <a:srgbClr val="F2F2F2"/>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F2F2F2"/>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F2F2"/>
                </a:solidFill>
                <a:latin typeface="Lato Light"/>
                <a:ea typeface="Lato Light"/>
                <a:cs typeface="Lato Light"/>
                <a:sym typeface="Lato Light"/>
              </a:rPr>
              <a:t>CoARA launched</a:t>
            </a:r>
            <a:endParaRPr b="0" i="0" sz="1200" u="none" cap="none" strike="noStrike">
              <a:solidFill>
                <a:srgbClr val="F2F2F2"/>
              </a:solidFill>
              <a:latin typeface="Lato Light"/>
              <a:ea typeface="Lato Light"/>
              <a:cs typeface="Lato Light"/>
              <a:sym typeface="Lato Light"/>
            </a:endParaRPr>
          </a:p>
        </p:txBody>
      </p:sp>
      <p:sp>
        <p:nvSpPr>
          <p:cNvPr id="918" name="Google Shape;918;g3501d60e36d_0_69"/>
          <p:cNvSpPr txBox="1"/>
          <p:nvPr/>
        </p:nvSpPr>
        <p:spPr>
          <a:xfrm>
            <a:off x="2363900" y="4730450"/>
            <a:ext cx="2496300" cy="1908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Digital publishing is born with the 1991 launch of arXiv</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First Open Access journals emerged: authors paid, readers could access content freely.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15000"/>
              </a:lnSpc>
              <a:spcBef>
                <a:spcPts val="0"/>
              </a:spcBef>
              <a:spcAft>
                <a:spcPts val="2100"/>
              </a:spcAft>
              <a:buClr>
                <a:srgbClr val="000000"/>
              </a:buClr>
              <a:buSzPts val="1100"/>
              <a:buFont typeface="Arial"/>
              <a:buNone/>
            </a:pPr>
            <a:r>
              <a:t/>
            </a:r>
            <a:endParaRPr b="0" i="0" sz="1100" u="none" cap="none" strike="noStrike">
              <a:solidFill>
                <a:schemeClr val="lt1"/>
              </a:solidFill>
              <a:latin typeface="Lato Light"/>
              <a:ea typeface="Lato Light"/>
              <a:cs typeface="Lato Light"/>
              <a:sym typeface="Lato Light"/>
            </a:endParaRPr>
          </a:p>
        </p:txBody>
      </p:sp>
      <p:sp>
        <p:nvSpPr>
          <p:cNvPr id="919" name="Google Shape;919;g3501d60e36d_0_69"/>
          <p:cNvSpPr txBox="1"/>
          <p:nvPr/>
        </p:nvSpPr>
        <p:spPr>
          <a:xfrm>
            <a:off x="5062694" y="3223485"/>
            <a:ext cx="1162800" cy="3471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300"/>
              <a:buFont typeface="Arial"/>
              <a:buNone/>
            </a:pPr>
            <a:r>
              <a:rPr b="0" i="0" lang="en-US" sz="1300" u="none" cap="none" strike="noStrike">
                <a:solidFill>
                  <a:srgbClr val="4C979F"/>
                </a:solidFill>
                <a:latin typeface="Roboto"/>
                <a:ea typeface="Roboto"/>
                <a:cs typeface="Roboto"/>
                <a:sym typeface="Roboto"/>
              </a:rPr>
              <a:t>2000-2010</a:t>
            </a:r>
            <a:endParaRPr b="0" i="0" sz="1300" u="none" cap="none" strike="noStrike">
              <a:solidFill>
                <a:srgbClr val="4C979F"/>
              </a:solidFill>
              <a:latin typeface="Roboto"/>
              <a:ea typeface="Roboto"/>
              <a:cs typeface="Roboto"/>
              <a:sym typeface="Roboto"/>
            </a:endParaRPr>
          </a:p>
        </p:txBody>
      </p:sp>
      <p:sp>
        <p:nvSpPr>
          <p:cNvPr id="920" name="Google Shape;920;g3501d60e36d_0_69"/>
          <p:cNvSpPr txBox="1"/>
          <p:nvPr/>
        </p:nvSpPr>
        <p:spPr>
          <a:xfrm>
            <a:off x="4854800" y="3981600"/>
            <a:ext cx="2740500" cy="4617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Transformation</a:t>
            </a:r>
            <a:endParaRPr b="1" i="0" sz="1500" u="none" cap="none" strike="noStrike">
              <a:solidFill>
                <a:schemeClr val="lt1"/>
              </a:solidFill>
              <a:latin typeface="Lora"/>
              <a:ea typeface="Lora"/>
              <a:cs typeface="Lora"/>
              <a:sym typeface="Lora"/>
            </a:endParaRPr>
          </a:p>
        </p:txBody>
      </p:sp>
      <p:sp>
        <p:nvSpPr>
          <p:cNvPr id="921" name="Google Shape;921;g3501d60e36d_0_69"/>
          <p:cNvSpPr txBox="1"/>
          <p:nvPr/>
        </p:nvSpPr>
        <p:spPr>
          <a:xfrm>
            <a:off x="4825700" y="4738300"/>
            <a:ext cx="2916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Budapest Open Access Initiative, Bethesda Statement, Berlin Declaration</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PLOS founded, PubMed Central launched, Creative Commons licenses introduced, university repositories set up</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Beginning of open data and OER</a:t>
            </a:r>
            <a:endParaRPr b="0" i="0" sz="1100" u="none" cap="none" strike="noStrike">
              <a:solidFill>
                <a:schemeClr val="lt1"/>
              </a:solidFill>
              <a:latin typeface="Lato Light"/>
              <a:ea typeface="Lato Light"/>
              <a:cs typeface="Lato Light"/>
              <a:sym typeface="Lato Light"/>
            </a:endParaRPr>
          </a:p>
        </p:txBody>
      </p:sp>
      <p:cxnSp>
        <p:nvCxnSpPr>
          <p:cNvPr id="922" name="Google Shape;922;g3501d60e36d_0_69"/>
          <p:cNvCxnSpPr/>
          <p:nvPr/>
        </p:nvCxnSpPr>
        <p:spPr>
          <a:xfrm>
            <a:off x="7700929" y="3060704"/>
            <a:ext cx="0" cy="3783000"/>
          </a:xfrm>
          <a:prstGeom prst="straightConnector1">
            <a:avLst/>
          </a:prstGeom>
          <a:noFill/>
          <a:ln cap="flat" cmpd="sng" w="9525">
            <a:solidFill>
              <a:srgbClr val="D9D9D9"/>
            </a:solidFill>
            <a:prstDash val="dot"/>
            <a:round/>
            <a:headEnd len="sm" w="sm" type="none"/>
            <a:tailEnd len="sm" w="sm" type="none"/>
          </a:ln>
        </p:spPr>
      </p:cxnSp>
      <p:sp>
        <p:nvSpPr>
          <p:cNvPr id="923" name="Google Shape;923;g3501d60e36d_0_69"/>
          <p:cNvSpPr txBox="1"/>
          <p:nvPr/>
        </p:nvSpPr>
        <p:spPr>
          <a:xfrm>
            <a:off x="7806550" y="4014275"/>
            <a:ext cx="2034000" cy="830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Lora"/>
                <a:ea typeface="Lora"/>
                <a:cs typeface="Lora"/>
                <a:sym typeface="Lora"/>
              </a:rPr>
              <a:t>Paradigm shifts and policy</a:t>
            </a:r>
            <a:endParaRPr b="1" i="0" sz="1500" u="none" cap="none" strike="noStrike">
              <a:solidFill>
                <a:schemeClr val="lt1"/>
              </a:solidFill>
              <a:latin typeface="Lora"/>
              <a:ea typeface="Lora"/>
              <a:cs typeface="Lora"/>
              <a:sym typeface="Lora"/>
            </a:endParaRPr>
          </a:p>
        </p:txBody>
      </p:sp>
      <p:sp>
        <p:nvSpPr>
          <p:cNvPr id="924" name="Google Shape;924;g3501d60e36d_0_69"/>
          <p:cNvSpPr txBox="1"/>
          <p:nvPr/>
        </p:nvSpPr>
        <p:spPr>
          <a:xfrm>
            <a:off x="7718288" y="4738300"/>
            <a:ext cx="2325600" cy="1810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Open Access mandates by funders - Plan 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Introduction of FAIR data principles and data management plans</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Lato Light"/>
              <a:ea typeface="Lato Light"/>
              <a:cs typeface="Lato Light"/>
              <a:sym typeface="Lato Light"/>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Lato Light"/>
                <a:ea typeface="Lato Light"/>
                <a:cs typeface="Lato Light"/>
                <a:sym typeface="Lato Light"/>
              </a:rPr>
              <a:t>preprint servers, OERs, citizen science, and altmetrics</a:t>
            </a:r>
            <a:endParaRPr b="0" i="0" sz="1100" u="none" cap="none" strike="noStrike">
              <a:solidFill>
                <a:schemeClr val="lt1"/>
              </a:solidFill>
              <a:latin typeface="Lato Light"/>
              <a:ea typeface="Lato Light"/>
              <a:cs typeface="Lato Light"/>
              <a:sym typeface="La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3798d99b92_0_483"/>
          <p:cNvSpPr txBox="1"/>
          <p:nvPr>
            <p:ph type="title"/>
          </p:nvPr>
        </p:nvSpPr>
        <p:spPr>
          <a:xfrm>
            <a:off x="803100" y="260425"/>
            <a:ext cx="116031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5200">
                <a:latin typeface="Lora"/>
                <a:ea typeface="Lora"/>
                <a:cs typeface="Lora"/>
                <a:sym typeface="Lora"/>
              </a:rPr>
              <a:t>Open Science: pros and cons</a:t>
            </a:r>
            <a:endParaRPr sz="5200">
              <a:latin typeface="Lora"/>
              <a:ea typeface="Lora"/>
              <a:cs typeface="Lora"/>
              <a:sym typeface="Lora"/>
            </a:endParaRPr>
          </a:p>
        </p:txBody>
      </p:sp>
      <p:sp>
        <p:nvSpPr>
          <p:cNvPr id="931" name="Google Shape;931;g33798d99b92_0_483"/>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32" name="Google Shape;932;g33798d99b92_0_483"/>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pic>
        <p:nvPicPr>
          <p:cNvPr id="933" name="Google Shape;933;g33798d99b92_0_483"/>
          <p:cNvPicPr preferRelativeResize="0"/>
          <p:nvPr/>
        </p:nvPicPr>
        <p:blipFill rotWithShape="1">
          <a:blip r:embed="rId3">
            <a:alphaModFix amt="29000"/>
          </a:blip>
          <a:srcRect b="19394" l="0" r="0" t="0"/>
          <a:stretch/>
        </p:blipFill>
        <p:spPr>
          <a:xfrm>
            <a:off x="1736425" y="1519571"/>
            <a:ext cx="1720401" cy="1471175"/>
          </a:xfrm>
          <a:prstGeom prst="rect">
            <a:avLst/>
          </a:prstGeom>
          <a:noFill/>
          <a:ln>
            <a:noFill/>
          </a:ln>
        </p:spPr>
      </p:pic>
      <p:sp>
        <p:nvSpPr>
          <p:cNvPr id="934" name="Google Shape;934;g33798d99b92_0_483"/>
          <p:cNvSpPr/>
          <p:nvPr/>
        </p:nvSpPr>
        <p:spPr>
          <a:xfrm>
            <a:off x="10348775" y="1956500"/>
            <a:ext cx="864900" cy="597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35" name="Google Shape;935;g33798d99b92_0_483"/>
          <p:cNvSpPr txBox="1"/>
          <p:nvPr/>
        </p:nvSpPr>
        <p:spPr>
          <a:xfrm>
            <a:off x="3744700" y="1956505"/>
            <a:ext cx="6839100" cy="932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US" sz="5400">
                <a:solidFill>
                  <a:srgbClr val="000000"/>
                </a:solidFill>
                <a:latin typeface="Lora"/>
                <a:ea typeface="Lora"/>
                <a:cs typeface="Lora"/>
                <a:sym typeface="Lora"/>
              </a:rPr>
              <a:t>Mentimeter time! </a:t>
            </a:r>
            <a:endParaRPr sz="5400">
              <a:solidFill>
                <a:srgbClr val="000000"/>
              </a:solidFill>
              <a:latin typeface="Lora"/>
              <a:ea typeface="Lora"/>
              <a:cs typeface="Lora"/>
              <a:sym typeface="Lora"/>
            </a:endParaRPr>
          </a:p>
        </p:txBody>
      </p:sp>
      <p:sp>
        <p:nvSpPr>
          <p:cNvPr id="936" name="Google Shape;936;g33798d99b92_0_483"/>
          <p:cNvSpPr txBox="1"/>
          <p:nvPr/>
        </p:nvSpPr>
        <p:spPr>
          <a:xfrm>
            <a:off x="460925" y="3961100"/>
            <a:ext cx="112887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100">
                <a:latin typeface="Lato Light"/>
                <a:ea typeface="Lato Light"/>
                <a:cs typeface="Lato Light"/>
                <a:sym typeface="Lato Light"/>
              </a:rPr>
              <a:t>Questions</a:t>
            </a:r>
            <a:r>
              <a:rPr lang="en-US" sz="2900">
                <a:latin typeface="Lato Light"/>
                <a:ea typeface="Lato Light"/>
                <a:cs typeface="Lato Light"/>
                <a:sym typeface="Lato Light"/>
              </a:rPr>
              <a:t>: </a:t>
            </a:r>
            <a:endParaRPr sz="2900">
              <a:latin typeface="Lato Light"/>
              <a:ea typeface="Lato Light"/>
              <a:cs typeface="Lato Light"/>
              <a:sym typeface="Lato Light"/>
            </a:endParaRPr>
          </a:p>
          <a:p>
            <a:pPr indent="-400050" lvl="0" marL="457200" rtl="0" algn="l">
              <a:spcBef>
                <a:spcPts val="0"/>
              </a:spcBef>
              <a:spcAft>
                <a:spcPts val="0"/>
              </a:spcAft>
              <a:buSzPts val="2700"/>
              <a:buFont typeface="Lato Light"/>
              <a:buChar char="●"/>
            </a:pPr>
            <a:r>
              <a:rPr lang="en-US" sz="2700">
                <a:latin typeface="Lato Light"/>
                <a:ea typeface="Lato Light"/>
                <a:cs typeface="Lato Light"/>
                <a:sym typeface="Lato Light"/>
              </a:rPr>
              <a:t>What benefits of Open Science have you experienced or heard about? (open ended)</a:t>
            </a:r>
            <a:endParaRPr sz="2700">
              <a:latin typeface="Lato Light"/>
              <a:ea typeface="Lato Light"/>
              <a:cs typeface="Lato Light"/>
              <a:sym typeface="Lato Light"/>
            </a:endParaRPr>
          </a:p>
          <a:p>
            <a:pPr indent="-400050" lvl="0" marL="457200" rtl="0" algn="l">
              <a:spcBef>
                <a:spcPts val="0"/>
              </a:spcBef>
              <a:spcAft>
                <a:spcPts val="0"/>
              </a:spcAft>
              <a:buSzPts val="2700"/>
              <a:buFont typeface="Lato Light"/>
              <a:buChar char="●"/>
            </a:pPr>
            <a:r>
              <a:rPr lang="en-US" sz="2700">
                <a:latin typeface="Lato Light"/>
                <a:ea typeface="Lato Light"/>
                <a:cs typeface="Lato Light"/>
                <a:sym typeface="Lato Light"/>
              </a:rPr>
              <a:t>What do you see as potential drawbacks of Open Science? (open ended)</a:t>
            </a:r>
            <a:endParaRPr sz="2700">
              <a:latin typeface="Lato Light"/>
              <a:ea typeface="Lato Light"/>
              <a:cs typeface="Lato Light"/>
              <a:sym typeface="La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g33798d99b92_0_499"/>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943" name="Google Shape;943;g33798d99b92_0_49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44" name="Google Shape;944;g33798d99b92_0_49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45" name="Google Shape;945;g33798d99b92_0_499"/>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946" name="Google Shape;946;g33798d99b92_0_499"/>
          <p:cNvSpPr txBox="1"/>
          <p:nvPr/>
        </p:nvSpPr>
        <p:spPr>
          <a:xfrm>
            <a:off x="4316700" y="6467550"/>
            <a:ext cx="78753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Image </a:t>
            </a:r>
            <a:r>
              <a:rPr b="0" i="1" lang="en-US" sz="1200" u="none" cap="none" strike="noStrike">
                <a:solidFill>
                  <a:schemeClr val="dk1"/>
                </a:solidFill>
                <a:latin typeface="Lato Hairline"/>
                <a:ea typeface="Lato Hairline"/>
                <a:cs typeface="Lato Hairline"/>
                <a:sym typeface="Lato Hairline"/>
              </a:rPr>
              <a:t>Collaboration</a:t>
            </a:r>
            <a:r>
              <a:rPr b="0" i="0" lang="en-US" sz="1200" u="none" cap="none" strike="noStrike">
                <a:solidFill>
                  <a:schemeClr val="dk1"/>
                </a:solidFill>
                <a:latin typeface="Lato Hairline"/>
                <a:ea typeface="Lato Hairline"/>
                <a:cs typeface="Lato Hairline"/>
                <a:sym typeface="Lato Hairline"/>
              </a:rPr>
              <a:t> by Roberto Chiaveri </a:t>
            </a:r>
            <a:r>
              <a:rPr b="0" i="0" lang="en-US" sz="1200" u="none" cap="none" strike="noStrike">
                <a:solidFill>
                  <a:schemeClr val="dk1"/>
                </a:solidFill>
                <a:uFill>
                  <a:noFill/>
                </a:uFill>
                <a:latin typeface="Lato Hairline"/>
                <a:ea typeface="Lato Hairline"/>
                <a:cs typeface="Lato Hairline"/>
                <a:sym typeface="Lato Hairline"/>
                <a:hlinkClick r:id="rId3">
                  <a:extLst>
                    <a:ext uri="{A12FA001-AC4F-418D-AE19-62706E023703}">
                      <ahyp:hlinkClr val="tx"/>
                    </a:ext>
                  </a:extLst>
                </a:hlinkClick>
              </a:rPr>
              <a:t>Noun Project</a:t>
            </a:r>
            <a:r>
              <a:rPr b="0" i="0" lang="en-US" sz="1200" u="none" cap="none" strike="noStrike">
                <a:solidFill>
                  <a:schemeClr val="dk1"/>
                </a:solidFill>
                <a:latin typeface="Lato Hairline"/>
                <a:ea typeface="Lato Hairline"/>
                <a:cs typeface="Lato Hairline"/>
                <a:sym typeface="Lato Hairline"/>
              </a:rPr>
              <a:t> CC-BY 3.0</a:t>
            </a:r>
            <a:endParaRPr b="0" i="0" sz="1200" u="none" cap="none" strike="noStrike">
              <a:solidFill>
                <a:schemeClr val="dk1"/>
              </a:solidFill>
              <a:latin typeface="Lato Hairline"/>
              <a:ea typeface="Lato Hairline"/>
              <a:cs typeface="Lato Hairline"/>
              <a:sym typeface="Lato Hairline"/>
            </a:endParaRPr>
          </a:p>
        </p:txBody>
      </p:sp>
      <p:sp>
        <p:nvSpPr>
          <p:cNvPr id="947" name="Google Shape;947;g33798d99b92_0_499"/>
          <p:cNvSpPr txBox="1"/>
          <p:nvPr/>
        </p:nvSpPr>
        <p:spPr>
          <a:xfrm>
            <a:off x="581400" y="1500400"/>
            <a:ext cx="10051800" cy="4887000"/>
          </a:xfrm>
          <a:prstGeom prst="rect">
            <a:avLst/>
          </a:prstGeom>
          <a:noFill/>
          <a:ln>
            <a:noFill/>
          </a:ln>
        </p:spPr>
        <p:txBody>
          <a:bodyPr anchorCtr="0" anchor="t" bIns="91425" lIns="91425" spcFirstLastPara="1" rIns="91425" wrap="square" tIns="91425">
            <a:spAutoFit/>
          </a:bodyPr>
          <a:lstStyle/>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Facilitates collaboration between researchers </a:t>
            </a:r>
            <a:r>
              <a:rPr b="0" baseline="30000" i="0" lang="en-US" sz="2300" u="sng" cap="none" strike="noStrike">
                <a:solidFill>
                  <a:schemeClr val="hlink"/>
                </a:solidFill>
                <a:latin typeface="Lato Light"/>
                <a:ea typeface="Lato Light"/>
                <a:cs typeface="Lato Light"/>
                <a:sym typeface="Lato Light"/>
                <a:hlinkClick r:id="rId4"/>
              </a:rPr>
              <a:t>1</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takes time, coordination, and infrastructure</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More efficient development of methodology </a:t>
            </a:r>
            <a:r>
              <a:rPr b="0" baseline="30000" i="0" lang="en-US" sz="2300" u="sng" cap="none" strike="noStrike">
                <a:solidFill>
                  <a:schemeClr val="hlink"/>
                </a:solidFill>
                <a:latin typeface="Lato Light"/>
                <a:ea typeface="Lato Light"/>
                <a:cs typeface="Lato Light"/>
                <a:sym typeface="Lato Light"/>
                <a:hlinkClick r:id="rId5"/>
              </a:rPr>
              <a:t>2</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fear of scooping, IPRs</a:t>
            </a:r>
            <a:endParaRPr b="0" baseline="30000" i="0" sz="24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Increased citations and impact of research </a:t>
            </a:r>
            <a:r>
              <a:rPr b="0" baseline="30000" i="0" lang="en-US" sz="2300" u="sng" cap="none" strike="noStrike">
                <a:solidFill>
                  <a:schemeClr val="hlink"/>
                </a:solidFill>
                <a:latin typeface="Lato Light"/>
                <a:ea typeface="Lato Light"/>
                <a:cs typeface="Lato Light"/>
                <a:sym typeface="Lato Light"/>
                <a:hlinkClick r:id="rId6"/>
              </a:rPr>
              <a:t>3</a:t>
            </a:r>
            <a:r>
              <a:rPr b="0" baseline="30000" i="0" lang="en-US" sz="2300" u="none" cap="none" strike="noStrike">
                <a:solidFill>
                  <a:srgbClr val="181717"/>
                </a:solidFill>
                <a:latin typeface="Lato Light"/>
                <a:ea typeface="Lato Light"/>
                <a:cs typeface="Lato Light"/>
                <a:sym typeface="Lato Light"/>
              </a:rPr>
              <a:t> </a:t>
            </a:r>
            <a:r>
              <a:rPr b="0" baseline="30000" i="0" lang="en-US" sz="2300" u="sng" cap="none" strike="noStrike">
                <a:solidFill>
                  <a:schemeClr val="hlink"/>
                </a:solidFill>
                <a:latin typeface="Lato Light"/>
                <a:ea typeface="Lato Light"/>
                <a:cs typeface="Lato Light"/>
                <a:sym typeface="Lato Light"/>
                <a:hlinkClick r:id="rId7"/>
              </a:rPr>
              <a:t>4</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APCs may be costly</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Faster dissemination of research </a:t>
            </a:r>
            <a:r>
              <a:rPr b="0" baseline="30000" i="0" lang="en-US" sz="2300" u="sng" cap="none" strike="noStrike">
                <a:solidFill>
                  <a:schemeClr val="hlink"/>
                </a:solidFill>
                <a:latin typeface="Lato Light"/>
                <a:ea typeface="Lato Light"/>
                <a:cs typeface="Lato Light"/>
                <a:sym typeface="Lato Light"/>
                <a:hlinkClick r:id="rId8"/>
              </a:rPr>
              <a:t>5</a:t>
            </a:r>
            <a:r>
              <a:rPr b="0" baseline="30000" i="0" lang="en-US" sz="2300" u="none" cap="none" strike="noStrike">
                <a:solidFill>
                  <a:srgbClr val="181717"/>
                </a:solidFill>
                <a:latin typeface="Lato Light"/>
                <a:ea typeface="Lato Light"/>
                <a:cs typeface="Lato Light"/>
                <a:sym typeface="Lato Light"/>
              </a:rPr>
              <a:t> </a:t>
            </a:r>
            <a:r>
              <a:rPr b="0" baseline="30000" i="0" lang="en-US" sz="2300" u="sng" cap="none" strike="noStrike">
                <a:solidFill>
                  <a:schemeClr val="hlink"/>
                </a:solidFill>
                <a:latin typeface="Lato Light"/>
                <a:ea typeface="Lato Light"/>
                <a:cs typeface="Lato Light"/>
                <a:sym typeface="Lato Light"/>
                <a:hlinkClick r:id="rId9"/>
              </a:rPr>
              <a:t>6</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speed must not compromise quality</a:t>
            </a:r>
            <a:endParaRPr b="0" i="0" sz="1900" u="none" cap="none" strike="noStrike">
              <a:solidFill>
                <a:srgbClr val="181717"/>
              </a:solidFill>
              <a:latin typeface="Lato Light"/>
              <a:ea typeface="Lato Light"/>
              <a:cs typeface="Lato Light"/>
              <a:sym typeface="Lato Light"/>
            </a:endParaRPr>
          </a:p>
          <a:p>
            <a:pPr indent="-374650" lvl="0" marL="457200" marR="0" rtl="0" algn="l">
              <a:lnSpc>
                <a:spcPct val="150000"/>
              </a:lnSpc>
              <a:spcBef>
                <a:spcPts val="0"/>
              </a:spcBef>
              <a:spcAft>
                <a:spcPts val="0"/>
              </a:spcAft>
              <a:buClr>
                <a:schemeClr val="dk1"/>
              </a:buClr>
              <a:buSzPts val="2300"/>
              <a:buFont typeface="Lato Light"/>
              <a:buChar char="➔"/>
            </a:pPr>
            <a:r>
              <a:rPr b="0" i="0" lang="en-US" sz="2300" u="none" cap="none" strike="noStrike">
                <a:solidFill>
                  <a:srgbClr val="181717"/>
                </a:solidFill>
                <a:latin typeface="Lato Light"/>
                <a:ea typeface="Lato Light"/>
                <a:cs typeface="Lato Light"/>
                <a:sym typeface="Lato Light"/>
              </a:rPr>
              <a:t>Improved reproducibility of data </a:t>
            </a:r>
            <a:r>
              <a:rPr b="0" baseline="30000" i="0" lang="en-US" sz="2300" u="sng" cap="none" strike="noStrike">
                <a:solidFill>
                  <a:schemeClr val="hlink"/>
                </a:solidFill>
                <a:latin typeface="Lato Light"/>
                <a:ea typeface="Lato Light"/>
                <a:cs typeface="Lato Light"/>
                <a:sym typeface="Lato Light"/>
                <a:hlinkClick r:id="rId10"/>
              </a:rPr>
              <a:t>7</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takes time without much recognition</a:t>
            </a:r>
            <a:endParaRPr b="0" i="0" sz="1400" u="none" cap="none" strike="noStrike">
              <a:solidFill>
                <a:srgbClr val="000000"/>
              </a:solidFill>
              <a:latin typeface="Lato Light"/>
              <a:ea typeface="Lato Light"/>
              <a:cs typeface="Lato Light"/>
              <a:sym typeface="Lato Light"/>
            </a:endParaRPr>
          </a:p>
        </p:txBody>
      </p:sp>
      <p:pic>
        <p:nvPicPr>
          <p:cNvPr id="948" name="Google Shape;948;g33798d99b92_0_499"/>
          <p:cNvPicPr preferRelativeResize="0"/>
          <p:nvPr/>
        </p:nvPicPr>
        <p:blipFill rotWithShape="1">
          <a:blip r:embed="rId11">
            <a:alphaModFix/>
          </a:blip>
          <a:srcRect b="15254" l="0" r="0" t="0"/>
          <a:stretch/>
        </p:blipFill>
        <p:spPr>
          <a:xfrm>
            <a:off x="8105450" y="2366179"/>
            <a:ext cx="3876724" cy="3285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g33798d99b92_0_51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55" name="Google Shape;955;g33798d99b92_0_51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56" name="Google Shape;956;g33798d99b92_0_516"/>
          <p:cNvSpPr txBox="1"/>
          <p:nvPr/>
        </p:nvSpPr>
        <p:spPr>
          <a:xfrm>
            <a:off x="673350" y="1617575"/>
            <a:ext cx="9867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Lato Light"/>
              <a:ea typeface="Lato Light"/>
              <a:cs typeface="Lato Light"/>
              <a:sym typeface="Lato Light"/>
            </a:endParaRPr>
          </a:p>
        </p:txBody>
      </p:sp>
      <p:sp>
        <p:nvSpPr>
          <p:cNvPr id="957" name="Google Shape;957;g33798d99b92_0_516"/>
          <p:cNvSpPr txBox="1"/>
          <p:nvPr/>
        </p:nvSpPr>
        <p:spPr>
          <a:xfrm>
            <a:off x="4316700" y="6467550"/>
            <a:ext cx="78753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Lato Hairline"/>
                <a:ea typeface="Lato Hairline"/>
                <a:cs typeface="Lato Hairline"/>
                <a:sym typeface="Lato Hairline"/>
              </a:rPr>
              <a:t>Image </a:t>
            </a:r>
            <a:r>
              <a:rPr b="0" i="1" lang="en-US" sz="1200" u="none" cap="none" strike="noStrike">
                <a:solidFill>
                  <a:schemeClr val="dk1"/>
                </a:solidFill>
                <a:latin typeface="Lato Hairline"/>
                <a:ea typeface="Lato Hairline"/>
                <a:cs typeface="Lato Hairline"/>
                <a:sym typeface="Lato Hairline"/>
              </a:rPr>
              <a:t>Educational campaign</a:t>
            </a:r>
            <a:r>
              <a:rPr b="0" i="0" lang="en-US" sz="1200" u="none" cap="none" strike="noStrike">
                <a:solidFill>
                  <a:schemeClr val="dk1"/>
                </a:solidFill>
                <a:latin typeface="Lato Hairline"/>
                <a:ea typeface="Lato Hairline"/>
                <a:cs typeface="Lato Hairline"/>
                <a:sym typeface="Lato Hairline"/>
              </a:rPr>
              <a:t> by Good Father </a:t>
            </a:r>
            <a:r>
              <a:rPr b="0" i="0" lang="en-US" sz="1200" u="none" cap="none" strike="noStrike">
                <a:solidFill>
                  <a:schemeClr val="dk1"/>
                </a:solidFill>
                <a:uFill>
                  <a:noFill/>
                </a:uFill>
                <a:latin typeface="Lato Hairline"/>
                <a:ea typeface="Lato Hairline"/>
                <a:cs typeface="Lato Hairline"/>
                <a:sym typeface="Lato Hairline"/>
                <a:hlinkClick r:id="rId3">
                  <a:extLst>
                    <a:ext uri="{A12FA001-AC4F-418D-AE19-62706E023703}">
                      <ahyp:hlinkClr val="tx"/>
                    </a:ext>
                  </a:extLst>
                </a:hlinkClick>
              </a:rPr>
              <a:t>Noun Project</a:t>
            </a:r>
            <a:r>
              <a:rPr b="0" i="0" lang="en-US" sz="1200" u="none" cap="none" strike="noStrike">
                <a:solidFill>
                  <a:schemeClr val="dk1"/>
                </a:solidFill>
                <a:latin typeface="Lato Hairline"/>
                <a:ea typeface="Lato Hairline"/>
                <a:cs typeface="Lato Hairline"/>
                <a:sym typeface="Lato Hairline"/>
              </a:rPr>
              <a:t> CC-BY 3.0</a:t>
            </a:r>
            <a:endParaRPr b="0" i="0" sz="1200" u="none" cap="none" strike="noStrike">
              <a:solidFill>
                <a:schemeClr val="dk1"/>
              </a:solidFill>
              <a:latin typeface="Lato Hairline"/>
              <a:ea typeface="Lato Hairline"/>
              <a:cs typeface="Lato Hairline"/>
              <a:sym typeface="Lato Hairline"/>
            </a:endParaRPr>
          </a:p>
        </p:txBody>
      </p:sp>
      <p:sp>
        <p:nvSpPr>
          <p:cNvPr id="958" name="Google Shape;958;g33798d99b92_0_516"/>
          <p:cNvSpPr txBox="1"/>
          <p:nvPr/>
        </p:nvSpPr>
        <p:spPr>
          <a:xfrm>
            <a:off x="612100" y="1889075"/>
            <a:ext cx="10051800" cy="44202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50000"/>
              </a:lnSpc>
              <a:spcBef>
                <a:spcPts val="110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Helps ECRs build visibility</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confusing without proper education </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Aligns with funder/institutional mandates</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burdensome without proper support</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Better utilisation of public funding </a:t>
            </a:r>
            <a:r>
              <a:rPr b="0" baseline="30000" i="0" lang="en-US" sz="2300" u="sng" cap="none" strike="noStrike">
                <a:solidFill>
                  <a:schemeClr val="hlink"/>
                </a:solidFill>
                <a:latin typeface="Lato Light"/>
                <a:ea typeface="Lato Light"/>
                <a:cs typeface="Lato Light"/>
                <a:sym typeface="Lato Light"/>
                <a:hlinkClick r:id="rId4"/>
              </a:rPr>
              <a:t>1</a:t>
            </a:r>
            <a:endParaRPr b="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burden falls on researcher</a:t>
            </a:r>
            <a:endParaRPr b="0" i="0" sz="1900" u="none" cap="none" strike="noStrike">
              <a:solidFill>
                <a:srgbClr val="181717"/>
              </a:solidFill>
              <a:latin typeface="Lato Light"/>
              <a:ea typeface="Lato Light"/>
              <a:cs typeface="Lato Light"/>
              <a:sym typeface="Lato Light"/>
            </a:endParaRPr>
          </a:p>
          <a:p>
            <a:pPr indent="-368300" lvl="0" marL="457200" marR="0" rtl="0" algn="l">
              <a:lnSpc>
                <a:spcPct val="150000"/>
              </a:lnSpc>
              <a:spcBef>
                <a:spcPts val="0"/>
              </a:spcBef>
              <a:spcAft>
                <a:spcPts val="0"/>
              </a:spcAft>
              <a:buClr>
                <a:schemeClr val="dk1"/>
              </a:buClr>
              <a:buSzPts val="2200"/>
              <a:buFont typeface="Lato Light"/>
              <a:buChar char="➔"/>
            </a:pPr>
            <a:r>
              <a:rPr b="0" i="0" lang="en-US" sz="2300" u="none" cap="none" strike="noStrike">
                <a:solidFill>
                  <a:srgbClr val="181717"/>
                </a:solidFill>
                <a:latin typeface="Lato Light"/>
                <a:ea typeface="Lato Light"/>
                <a:cs typeface="Lato Light"/>
                <a:sym typeface="Lato Light"/>
              </a:rPr>
              <a:t>Increased public awareness and interest </a:t>
            </a:r>
            <a:r>
              <a:rPr b="0" baseline="30000" i="0" lang="en-US" sz="2300" u="sng" cap="none" strike="noStrike">
                <a:solidFill>
                  <a:schemeClr val="hlink"/>
                </a:solidFill>
                <a:latin typeface="Lato Light"/>
                <a:ea typeface="Lato Light"/>
                <a:cs typeface="Lato Light"/>
                <a:sym typeface="Lato Light"/>
                <a:hlinkClick r:id="rId5"/>
              </a:rPr>
              <a:t>2</a:t>
            </a:r>
            <a:endParaRPr b="0" baseline="30000" i="0" sz="2300" u="none" cap="none" strike="noStrike">
              <a:solidFill>
                <a:srgbClr val="181717"/>
              </a:solidFill>
              <a:latin typeface="Lato Light"/>
              <a:ea typeface="Lato Light"/>
              <a:cs typeface="Lato Light"/>
              <a:sym typeface="Lato Light"/>
            </a:endParaRPr>
          </a:p>
          <a:p>
            <a:pPr indent="457200" lvl="0" marL="457200" marR="0" rtl="0" algn="l">
              <a:lnSpc>
                <a:spcPct val="150000"/>
              </a:lnSpc>
              <a:spcBef>
                <a:spcPts val="0"/>
              </a:spcBef>
              <a:spcAft>
                <a:spcPts val="0"/>
              </a:spcAft>
              <a:buClr>
                <a:srgbClr val="000000"/>
              </a:buClr>
              <a:buSzPts val="1900"/>
              <a:buFont typeface="Arial"/>
              <a:buNone/>
            </a:pPr>
            <a:r>
              <a:rPr b="0" i="0" lang="en-US" sz="1900" u="none" cap="none" strike="noStrike">
                <a:solidFill>
                  <a:srgbClr val="181717"/>
                </a:solidFill>
                <a:latin typeface="Lato Light"/>
                <a:ea typeface="Lato Light"/>
                <a:cs typeface="Lato Light"/>
                <a:sym typeface="Lato Light"/>
              </a:rPr>
              <a:t>BUT: non-experts can misuse/misinterpret open data</a:t>
            </a:r>
            <a:endParaRPr b="0" i="0" sz="1900" u="none" cap="none" strike="noStrike">
              <a:solidFill>
                <a:srgbClr val="181717"/>
              </a:solidFill>
              <a:latin typeface="Lato Light"/>
              <a:ea typeface="Lato Light"/>
              <a:cs typeface="Lato Light"/>
              <a:sym typeface="Lato Light"/>
            </a:endParaRPr>
          </a:p>
          <a:p>
            <a:pPr indent="0" lvl="0" marL="457200" marR="0" rtl="0" algn="l">
              <a:lnSpc>
                <a:spcPct val="150000"/>
              </a:lnSpc>
              <a:spcBef>
                <a:spcPts val="1100"/>
              </a:spcBef>
              <a:spcAft>
                <a:spcPts val="0"/>
              </a:spcAft>
              <a:buClr>
                <a:srgbClr val="000000"/>
              </a:buClr>
              <a:buSzPts val="1400"/>
              <a:buFont typeface="Arial"/>
              <a:buNone/>
            </a:pPr>
            <a:r>
              <a:t/>
            </a:r>
            <a:endParaRPr b="0" i="0" sz="1400" u="none" cap="none" strike="noStrike">
              <a:solidFill>
                <a:srgbClr val="000000"/>
              </a:solidFill>
              <a:latin typeface="Lato Light"/>
              <a:ea typeface="Lato Light"/>
              <a:cs typeface="Lato Light"/>
              <a:sym typeface="Lato Light"/>
            </a:endParaRPr>
          </a:p>
        </p:txBody>
      </p:sp>
      <p:pic>
        <p:nvPicPr>
          <p:cNvPr id="959" name="Google Shape;959;g33798d99b92_0_516"/>
          <p:cNvPicPr preferRelativeResize="0"/>
          <p:nvPr/>
        </p:nvPicPr>
        <p:blipFill rotWithShape="1">
          <a:blip r:embed="rId6">
            <a:alphaModFix/>
          </a:blip>
          <a:srcRect b="15626" l="0" r="0" t="0"/>
          <a:stretch/>
        </p:blipFill>
        <p:spPr>
          <a:xfrm>
            <a:off x="7965250" y="2348712"/>
            <a:ext cx="3659826" cy="3087824"/>
          </a:xfrm>
          <a:prstGeom prst="rect">
            <a:avLst/>
          </a:prstGeom>
          <a:noFill/>
          <a:ln>
            <a:noFill/>
          </a:ln>
        </p:spPr>
      </p:pic>
      <p:sp>
        <p:nvSpPr>
          <p:cNvPr id="960" name="Google Shape;960;g33798d99b92_0_51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383ddfd3c8_0_19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967" name="Google Shape;967;g3383ddfd3c8_0_19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968" name="Google Shape;968;g3383ddfd3c8_0_196"/>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3383ddfd3c8_0_196"/>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0" name="Google Shape;970;g3383ddfd3c8_0_196"/>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1" name="Google Shape;971;g3383ddfd3c8_0_196"/>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2" name="Google Shape;972;g3383ddfd3c8_0_196"/>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3" name="Google Shape;973;g3383ddfd3c8_0_196"/>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974" name="Google Shape;974;g3383ddfd3c8_0_196"/>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975" name="Google Shape;975;g3383ddfd3c8_0_196"/>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976" name="Google Shape;976;g3383ddfd3c8_0_196"/>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977" name="Google Shape;977;g3383ddfd3c8_0_196"/>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978" name="Google Shape;978;g3383ddfd3c8_0_196"/>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979" name="Google Shape;979;g3383ddfd3c8_0_196"/>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980" name="Google Shape;980;g3383ddfd3c8_0_196"/>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1" name="Google Shape;981;g3383ddfd3c8_0_196"/>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2" name="Google Shape;982;g3383ddfd3c8_0_196"/>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g3383ddfd3c8_0_196"/>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4" name="Google Shape;984;g3383ddfd3c8_0_196"/>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g3383ddfd3c8_0_196"/>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6" name="Google Shape;986;g3383ddfd3c8_0_196"/>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987" name="Google Shape;987;g3383ddfd3c8_0_196"/>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988" name="Google Shape;988;g3383ddfd3c8_0_196"/>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989" name="Google Shape;989;g3383ddfd3c8_0_196"/>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990" name="Google Shape;990;g3383ddfd3c8_0_196"/>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991" name="Google Shape;991;g3383ddfd3c8_0_196"/>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992" name="Google Shape;992;g3383ddfd3c8_0_196"/>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a:t>
            </a:r>
            <a:r>
              <a:rPr lang="en-US" sz="3100">
                <a:solidFill>
                  <a:schemeClr val="dk1"/>
                </a:solidFill>
                <a:latin typeface="Lato Light"/>
                <a:ea typeface="Lato Light"/>
                <a:cs typeface="Lato Light"/>
                <a:sym typeface="Lato Light"/>
              </a:rPr>
              <a:t>research</a:t>
            </a:r>
            <a:r>
              <a:rPr lang="en-US" sz="3100">
                <a:solidFill>
                  <a:schemeClr val="dk1"/>
                </a:solidFill>
                <a:latin typeface="Lato Light"/>
                <a:ea typeface="Lato Light"/>
                <a:cs typeface="Lato Light"/>
                <a:sym typeface="Lato Light"/>
              </a:rPr>
              <a:t> project flow</a:t>
            </a:r>
            <a:endParaRPr b="0" i="0" sz="3100" u="none" cap="none" strike="noStrike">
              <a:solidFill>
                <a:schemeClr val="dk1"/>
              </a:solidFill>
              <a:latin typeface="Lato Light"/>
              <a:ea typeface="Lato Light"/>
              <a:cs typeface="Lato Light"/>
              <a:sym typeface="Lato Light"/>
            </a:endParaRPr>
          </a:p>
        </p:txBody>
      </p:sp>
      <p:sp>
        <p:nvSpPr>
          <p:cNvPr id="993" name="Google Shape;993;g3383ddfd3c8_0_19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g39a8b25a857_0_2"/>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00" name="Google Shape;1000;g39a8b25a857_0_2"/>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01" name="Google Shape;1001;g39a8b25a857_0_2"/>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39a8b25a857_0_2"/>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3" name="Google Shape;1003;g39a8b25a857_0_2"/>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4" name="Google Shape;1004;g39a8b25a857_0_2"/>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5" name="Google Shape;1005;g39a8b25a857_0_2"/>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06" name="Google Shape;1006;g39a8b25a857_0_2"/>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07" name="Google Shape;1007;g39a8b25a857_0_2"/>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08" name="Google Shape;1008;g39a8b25a857_0_2"/>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09" name="Google Shape;1009;g39a8b25a857_0_2"/>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10" name="Google Shape;1010;g39a8b25a857_0_2"/>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11" name="Google Shape;1011;g39a8b25a857_0_2"/>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12" name="Google Shape;1012;g39a8b25a857_0_2"/>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13" name="Google Shape;1013;g39a8b25a857_0_2"/>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4" name="Google Shape;1014;g39a8b25a857_0_2"/>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5" name="Google Shape;1015;g39a8b25a857_0_2"/>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6" name="Google Shape;1016;g39a8b25a857_0_2"/>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7" name="Google Shape;1017;g39a8b25a857_0_2"/>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8" name="Google Shape;1018;g39a8b25a857_0_2"/>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9" name="Google Shape;1019;g39a8b25a857_0_2"/>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20" name="Google Shape;1020;g39a8b25a857_0_2"/>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21" name="Google Shape;1021;g39a8b25a857_0_2"/>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22" name="Google Shape;1022;g39a8b25a857_0_2"/>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23" name="Google Shape;1023;g39a8b25a857_0_2"/>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24" name="Google Shape;1024;g39a8b25a857_0_2"/>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25" name="Google Shape;1025;g39a8b25a857_0_2"/>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26" name="Google Shape;1026;g39a8b25a857_0_2"/>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27" name="Google Shape;1027;g39a8b25a857_0_2"/>
          <p:cNvSpPr txBox="1"/>
          <p:nvPr/>
        </p:nvSpPr>
        <p:spPr>
          <a:xfrm>
            <a:off x="226775" y="5283250"/>
            <a:ext cx="117570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500">
                <a:solidFill>
                  <a:schemeClr val="dk1"/>
                </a:solidFill>
                <a:latin typeface="Lato Light"/>
                <a:ea typeface="Lato Light"/>
                <a:cs typeface="Lato Light"/>
                <a:sym typeface="Lato Light"/>
              </a:rPr>
              <a:t>Where in your project do you already do something that could be called Open Science?</a:t>
            </a:r>
            <a:endParaRPr sz="2500">
              <a:solidFill>
                <a:schemeClr val="dk1"/>
              </a:solidFill>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9a8b25a857_0_36"/>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34" name="Google Shape;1034;g39a8b25a857_0_36"/>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35" name="Google Shape;1035;g39a8b25a857_0_36"/>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g39a8b25a857_0_36"/>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7" name="Google Shape;1037;g39a8b25a857_0_36"/>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8" name="Google Shape;1038;g39a8b25a857_0_36"/>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39" name="Google Shape;1039;g39a8b25a857_0_36"/>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40" name="Google Shape;1040;g39a8b25a857_0_36"/>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41" name="Google Shape;1041;g39a8b25a857_0_36"/>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42" name="Google Shape;1042;g39a8b25a857_0_36"/>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43" name="Google Shape;1043;g39a8b25a857_0_36"/>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44" name="Google Shape;1044;g39a8b25a857_0_36"/>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45" name="Google Shape;1045;g39a8b25a857_0_36"/>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46" name="Google Shape;1046;g39a8b25a857_0_36"/>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47" name="Google Shape;1047;g39a8b25a857_0_36"/>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8" name="Google Shape;1048;g39a8b25a857_0_36"/>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9" name="Google Shape;1049;g39a8b25a857_0_36"/>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0" name="Google Shape;1050;g39a8b25a857_0_36"/>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1" name="Google Shape;1051;g39a8b25a857_0_36"/>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g39a8b25a857_0_36"/>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3" name="Google Shape;1053;g39a8b25a857_0_36"/>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54" name="Google Shape;1054;g39a8b25a857_0_36"/>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55" name="Google Shape;1055;g39a8b25a857_0_36"/>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56" name="Google Shape;1056;g39a8b25a857_0_36"/>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57" name="Google Shape;1057;g39a8b25a857_0_36"/>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58" name="Google Shape;1058;g39a8b25a857_0_36"/>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59" name="Google Shape;1059;g39a8b25a857_0_36"/>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60" name="Google Shape;1060;g39a8b25a857_0_36"/>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61" name="Google Shape;1061;g39a8b25a857_0_36"/>
          <p:cNvSpPr txBox="1"/>
          <p:nvPr/>
        </p:nvSpPr>
        <p:spPr>
          <a:xfrm>
            <a:off x="226775" y="5326518"/>
            <a:ext cx="117570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2500">
                <a:solidFill>
                  <a:schemeClr val="dk1"/>
                </a:solidFill>
                <a:latin typeface="Lato Light"/>
                <a:ea typeface="Lato Light"/>
                <a:cs typeface="Lato Light"/>
                <a:sym typeface="Lato Light"/>
              </a:rPr>
              <a:t>Where do you  see the biggest opportunity to be more open?</a:t>
            </a:r>
            <a:endParaRPr sz="2500">
              <a:solidFill>
                <a:schemeClr val="dk1"/>
              </a:solidFill>
              <a:latin typeface="Lato Light"/>
              <a:ea typeface="Lato Light"/>
              <a:cs typeface="Lato Light"/>
              <a:sym typeface="Lato Light"/>
            </a:endParaRPr>
          </a:p>
          <a:p>
            <a:pPr indent="0" lvl="0" marL="0" rtl="0" algn="l">
              <a:lnSpc>
                <a:spcPct val="115000"/>
              </a:lnSpc>
              <a:spcBef>
                <a:spcPts val="0"/>
              </a:spcBef>
              <a:spcAft>
                <a:spcPts val="0"/>
              </a:spcAft>
              <a:buNone/>
            </a:pPr>
            <a:r>
              <a:t/>
            </a:r>
            <a:endParaRPr sz="2500">
              <a:solidFill>
                <a:schemeClr val="dk1"/>
              </a:solidFill>
              <a:latin typeface="Lato Light"/>
              <a:ea typeface="Lato Light"/>
              <a:cs typeface="Lato Light"/>
              <a:sym typeface="Lato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9a8b25a857_0_69"/>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068" name="Google Shape;1068;g39a8b25a857_0_69"/>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
        <p:nvSpPr>
          <p:cNvPr id="1069" name="Google Shape;1069;g39a8b25a857_0_69"/>
          <p:cNvSpPr txBox="1"/>
          <p:nvPr/>
        </p:nvSpPr>
        <p:spPr>
          <a:xfrm>
            <a:off x="188675" y="42985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39a8b25a857_0_69"/>
          <p:cNvSpPr/>
          <p:nvPr/>
        </p:nvSpPr>
        <p:spPr>
          <a:xfrm>
            <a:off x="1804800"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1" name="Google Shape;1071;g39a8b25a857_0_69"/>
          <p:cNvSpPr/>
          <p:nvPr/>
        </p:nvSpPr>
        <p:spPr>
          <a:xfrm>
            <a:off x="3686713"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2" name="Google Shape;1072;g39a8b25a857_0_69"/>
          <p:cNvSpPr/>
          <p:nvPr/>
        </p:nvSpPr>
        <p:spPr>
          <a:xfrm>
            <a:off x="5567908"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3" name="Google Shape;1073;g39a8b25a857_0_69"/>
          <p:cNvSpPr/>
          <p:nvPr/>
        </p:nvSpPr>
        <p:spPr>
          <a:xfrm>
            <a:off x="9340589" y="3286238"/>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4" name="Google Shape;1074;g39a8b25a857_0_69"/>
          <p:cNvSpPr/>
          <p:nvPr/>
        </p:nvSpPr>
        <p:spPr>
          <a:xfrm>
            <a:off x="7452791" y="3286239"/>
            <a:ext cx="740700" cy="427800"/>
          </a:xfrm>
          <a:prstGeom prst="homePlate">
            <a:avLst>
              <a:gd fmla="val 50000" name="adj"/>
            </a:avLst>
          </a:prstGeom>
          <a:solidFill>
            <a:srgbClr val="F2F2F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Playbook with solid fill" id="1075" name="Google Shape;1075;g39a8b25a857_0_69"/>
          <p:cNvPicPr preferRelativeResize="0"/>
          <p:nvPr/>
        </p:nvPicPr>
        <p:blipFill rotWithShape="1">
          <a:blip r:embed="rId3">
            <a:alphaModFix/>
          </a:blip>
          <a:srcRect b="0" l="0" r="0" t="0"/>
          <a:stretch/>
        </p:blipFill>
        <p:spPr>
          <a:xfrm>
            <a:off x="856121" y="3151428"/>
            <a:ext cx="658283" cy="658283"/>
          </a:xfrm>
          <a:prstGeom prst="rect">
            <a:avLst/>
          </a:prstGeom>
          <a:noFill/>
          <a:ln>
            <a:noFill/>
          </a:ln>
        </p:spPr>
      </p:pic>
      <p:pic>
        <p:nvPicPr>
          <p:cNvPr descr="Arrow circle with solid fill" id="1076" name="Google Shape;1076;g39a8b25a857_0_69"/>
          <p:cNvPicPr preferRelativeResize="0"/>
          <p:nvPr/>
        </p:nvPicPr>
        <p:blipFill rotWithShape="1">
          <a:blip r:embed="rId4">
            <a:alphaModFix/>
          </a:blip>
          <a:srcRect b="0" l="0" r="0" t="0"/>
          <a:stretch/>
        </p:blipFill>
        <p:spPr>
          <a:xfrm>
            <a:off x="6477239" y="3121211"/>
            <a:ext cx="750154" cy="750154"/>
          </a:xfrm>
          <a:prstGeom prst="rect">
            <a:avLst/>
          </a:prstGeom>
          <a:noFill/>
          <a:ln>
            <a:noFill/>
          </a:ln>
        </p:spPr>
      </p:pic>
      <p:pic>
        <p:nvPicPr>
          <p:cNvPr descr="Marketing with solid fill" id="1077" name="Google Shape;1077;g39a8b25a857_0_69"/>
          <p:cNvPicPr preferRelativeResize="0"/>
          <p:nvPr/>
        </p:nvPicPr>
        <p:blipFill rotWithShape="1">
          <a:blip r:embed="rId5">
            <a:alphaModFix/>
          </a:blip>
          <a:srcRect b="0" l="0" r="0" t="0"/>
          <a:stretch/>
        </p:blipFill>
        <p:spPr>
          <a:xfrm>
            <a:off x="10409421" y="3184608"/>
            <a:ext cx="597828" cy="597828"/>
          </a:xfrm>
          <a:prstGeom prst="rect">
            <a:avLst/>
          </a:prstGeom>
          <a:noFill/>
          <a:ln>
            <a:noFill/>
          </a:ln>
        </p:spPr>
      </p:pic>
      <p:pic>
        <p:nvPicPr>
          <p:cNvPr descr="Connections with solid fill" id="1078" name="Google Shape;1078;g39a8b25a857_0_69"/>
          <p:cNvPicPr preferRelativeResize="0"/>
          <p:nvPr/>
        </p:nvPicPr>
        <p:blipFill rotWithShape="1">
          <a:blip r:embed="rId6">
            <a:alphaModFix/>
          </a:blip>
          <a:srcRect b="0" l="0" r="0" t="0"/>
          <a:stretch/>
        </p:blipFill>
        <p:spPr>
          <a:xfrm>
            <a:off x="4634319" y="3184608"/>
            <a:ext cx="673100" cy="673100"/>
          </a:xfrm>
          <a:prstGeom prst="rect">
            <a:avLst/>
          </a:prstGeom>
          <a:noFill/>
          <a:ln>
            <a:noFill/>
          </a:ln>
        </p:spPr>
      </p:pic>
      <p:pic>
        <p:nvPicPr>
          <p:cNvPr descr="Upward trend with solid fill" id="1079" name="Google Shape;1079;g39a8b25a857_0_69"/>
          <p:cNvPicPr preferRelativeResize="0"/>
          <p:nvPr/>
        </p:nvPicPr>
        <p:blipFill rotWithShape="1">
          <a:blip r:embed="rId7">
            <a:alphaModFix/>
          </a:blip>
          <a:srcRect b="0" l="0" r="0" t="0"/>
          <a:stretch/>
        </p:blipFill>
        <p:spPr>
          <a:xfrm>
            <a:off x="8423147" y="3203724"/>
            <a:ext cx="585127" cy="585128"/>
          </a:xfrm>
          <a:prstGeom prst="rect">
            <a:avLst/>
          </a:prstGeom>
          <a:noFill/>
          <a:ln>
            <a:noFill/>
          </a:ln>
        </p:spPr>
      </p:pic>
      <p:pic>
        <p:nvPicPr>
          <p:cNvPr descr="Research with solid fill" id="1080" name="Google Shape;1080;g39a8b25a857_0_69"/>
          <p:cNvPicPr preferRelativeResize="0"/>
          <p:nvPr/>
        </p:nvPicPr>
        <p:blipFill rotWithShape="1">
          <a:blip r:embed="rId8">
            <a:alphaModFix/>
          </a:blip>
          <a:srcRect b="0" l="0" r="0" t="0"/>
          <a:stretch/>
        </p:blipFill>
        <p:spPr>
          <a:xfrm>
            <a:off x="2799893" y="3184608"/>
            <a:ext cx="593108" cy="593108"/>
          </a:xfrm>
          <a:prstGeom prst="rect">
            <a:avLst/>
          </a:prstGeom>
          <a:noFill/>
          <a:ln>
            <a:noFill/>
          </a:ln>
        </p:spPr>
      </p:pic>
      <p:sp>
        <p:nvSpPr>
          <p:cNvPr id="1081" name="Google Shape;1081;g39a8b25a857_0_69"/>
          <p:cNvSpPr/>
          <p:nvPr/>
        </p:nvSpPr>
        <p:spPr>
          <a:xfrm rot="2700000">
            <a:off x="535273" y="2815261"/>
            <a:ext cx="1324977" cy="1324977"/>
          </a:xfrm>
          <a:prstGeom prst="blockArc">
            <a:avLst>
              <a:gd fmla="val 10793747" name="adj1"/>
              <a:gd fmla="val 5525146" name="adj2"/>
              <a:gd fmla="val 11784" name="adj3"/>
            </a:avLst>
          </a:prstGeom>
          <a:solidFill>
            <a:srgbClr val="A6A6A6"/>
          </a:solidFill>
          <a:ln cap="flat" cmpd="sng" w="12700">
            <a:solidFill>
              <a:srgbClr val="A6A6A6"/>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2" name="Google Shape;1082;g39a8b25a857_0_69"/>
          <p:cNvSpPr/>
          <p:nvPr/>
        </p:nvSpPr>
        <p:spPr>
          <a:xfrm rot="2733578">
            <a:off x="2417357" y="2815225"/>
            <a:ext cx="1324828" cy="1324828"/>
          </a:xfrm>
          <a:prstGeom prst="blockArc">
            <a:avLst>
              <a:gd fmla="val 10793747" name="adj1"/>
              <a:gd fmla="val 5525146" name="adj2"/>
              <a:gd fmla="val 11784" name="adj3"/>
            </a:avLst>
          </a:prstGeom>
          <a:solidFill>
            <a:srgbClr val="045C64"/>
          </a:solidFill>
          <a:ln cap="flat" cmpd="sng" w="12700">
            <a:solidFill>
              <a:srgbClr val="045C64"/>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3" name="Google Shape;1083;g39a8b25a857_0_69"/>
          <p:cNvSpPr/>
          <p:nvPr/>
        </p:nvSpPr>
        <p:spPr>
          <a:xfrm rot="2733578">
            <a:off x="4298552" y="2815225"/>
            <a:ext cx="1324828" cy="1324828"/>
          </a:xfrm>
          <a:prstGeom prst="blockArc">
            <a:avLst>
              <a:gd fmla="val 10793747" name="adj1"/>
              <a:gd fmla="val 5525146" name="adj2"/>
              <a:gd fmla="val 11784" name="adj3"/>
            </a:avLst>
          </a:prstGeom>
          <a:solidFill>
            <a:srgbClr val="491F53"/>
          </a:solidFill>
          <a:ln cap="flat" cmpd="sng" w="12700">
            <a:solidFill>
              <a:srgbClr val="491F53"/>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4" name="Google Shape;1084;g39a8b25a857_0_69"/>
          <p:cNvSpPr/>
          <p:nvPr/>
        </p:nvSpPr>
        <p:spPr>
          <a:xfrm rot="2733578">
            <a:off x="8071233" y="2815225"/>
            <a:ext cx="1324828" cy="1324828"/>
          </a:xfrm>
          <a:prstGeom prst="blockArc">
            <a:avLst>
              <a:gd fmla="val 10793747" name="adj1"/>
              <a:gd fmla="val 5525146" name="adj2"/>
              <a:gd fmla="val 11784" name="adj3"/>
            </a:avLst>
          </a:prstGeom>
          <a:solidFill>
            <a:srgbClr val="4C979F"/>
          </a:solidFill>
          <a:ln cap="flat" cmpd="sng" w="12700">
            <a:solidFill>
              <a:srgbClr val="4C979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5" name="Google Shape;1085;g39a8b25a857_0_69"/>
          <p:cNvSpPr/>
          <p:nvPr/>
        </p:nvSpPr>
        <p:spPr>
          <a:xfrm rot="2733578">
            <a:off x="6183435" y="2815226"/>
            <a:ext cx="1324828" cy="1324828"/>
          </a:xfrm>
          <a:prstGeom prst="blockArc">
            <a:avLst>
              <a:gd fmla="val 10793747" name="adj1"/>
              <a:gd fmla="val 5525146" name="adj2"/>
              <a:gd fmla="val 11784" name="adj3"/>
            </a:avLst>
          </a:prstGeom>
          <a:solidFill>
            <a:srgbClr val="A7C947"/>
          </a:solidFill>
          <a:ln cap="flat" cmpd="sng" w="12700">
            <a:solidFill>
              <a:srgbClr val="A7C947"/>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6" name="Google Shape;1086;g39a8b25a857_0_69"/>
          <p:cNvSpPr/>
          <p:nvPr/>
        </p:nvSpPr>
        <p:spPr>
          <a:xfrm rot="2733578">
            <a:off x="9944821" y="2815226"/>
            <a:ext cx="1324828" cy="1324828"/>
          </a:xfrm>
          <a:prstGeom prst="blockArc">
            <a:avLst>
              <a:gd fmla="val 10793747" name="adj1"/>
              <a:gd fmla="val 5525146" name="adj2"/>
              <a:gd fmla="val 11784" name="adj3"/>
            </a:avLst>
          </a:prstGeom>
          <a:solidFill>
            <a:srgbClr val="3F3F3F"/>
          </a:solidFill>
          <a:ln cap="flat" cmpd="sng" w="12700">
            <a:solidFill>
              <a:srgbClr val="3F3F3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7" name="Google Shape;1087;g39a8b25a857_0_69"/>
          <p:cNvSpPr txBox="1"/>
          <p:nvPr/>
        </p:nvSpPr>
        <p:spPr>
          <a:xfrm>
            <a:off x="435125"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Plan &amp;</a:t>
            </a:r>
            <a:endParaRPr b="1" i="0" sz="1700" u="none" cap="none" strike="noStrike">
              <a:solidFill>
                <a:srgbClr val="888888"/>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888888"/>
                </a:solidFill>
                <a:latin typeface="Lato"/>
                <a:ea typeface="Lato"/>
                <a:cs typeface="Lato"/>
                <a:sym typeface="Lato"/>
              </a:rPr>
              <a:t>Design</a:t>
            </a:r>
            <a:endParaRPr b="1" i="0" sz="1700" u="none" cap="none" strike="noStrike">
              <a:solidFill>
                <a:srgbClr val="888888"/>
              </a:solidFill>
              <a:latin typeface="Lato"/>
              <a:ea typeface="Lato"/>
              <a:cs typeface="Lato"/>
              <a:sym typeface="Lato"/>
            </a:endParaRPr>
          </a:p>
        </p:txBody>
      </p:sp>
      <p:sp>
        <p:nvSpPr>
          <p:cNvPr id="1088" name="Google Shape;1088;g39a8b25a857_0_69"/>
          <p:cNvSpPr txBox="1"/>
          <p:nvPr/>
        </p:nvSpPr>
        <p:spPr>
          <a:xfrm>
            <a:off x="23902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Collect &amp;</a:t>
            </a:r>
            <a:endParaRPr b="1" i="0" sz="1700" u="none" cap="none" strike="noStrike">
              <a:solidFill>
                <a:srgbClr val="045C64"/>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045C64"/>
                </a:solidFill>
                <a:latin typeface="Lato"/>
                <a:ea typeface="Lato"/>
                <a:cs typeface="Lato"/>
                <a:sym typeface="Lato"/>
              </a:rPr>
              <a:t>Analyse</a:t>
            </a:r>
            <a:endParaRPr b="1" i="0" sz="1700" u="none" cap="none" strike="noStrike">
              <a:solidFill>
                <a:srgbClr val="045C64"/>
              </a:solidFill>
              <a:latin typeface="Lato"/>
              <a:ea typeface="Lato"/>
              <a:cs typeface="Lato"/>
              <a:sym typeface="Lato"/>
            </a:endParaRPr>
          </a:p>
        </p:txBody>
      </p:sp>
      <p:sp>
        <p:nvSpPr>
          <p:cNvPr id="1089" name="Google Shape;1089;g39a8b25a857_0_69"/>
          <p:cNvSpPr txBox="1"/>
          <p:nvPr/>
        </p:nvSpPr>
        <p:spPr>
          <a:xfrm>
            <a:off x="4234801"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Publish &amp;</a:t>
            </a:r>
            <a:endParaRPr b="1" i="0" sz="1700" u="none" cap="none" strike="noStrike">
              <a:solidFill>
                <a:srgbClr val="491F53"/>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91F53"/>
                </a:solidFill>
                <a:latin typeface="Lato"/>
                <a:ea typeface="Lato"/>
                <a:cs typeface="Lato"/>
                <a:sym typeface="Lato"/>
              </a:rPr>
              <a:t>Spread</a:t>
            </a:r>
            <a:endParaRPr b="1" i="0" sz="1700" u="none" cap="none" strike="noStrike">
              <a:solidFill>
                <a:srgbClr val="491F53"/>
              </a:solidFill>
              <a:latin typeface="Lato"/>
              <a:ea typeface="Lato"/>
              <a:cs typeface="Lato"/>
              <a:sym typeface="Lato"/>
            </a:endParaRPr>
          </a:p>
        </p:txBody>
      </p:sp>
      <p:sp>
        <p:nvSpPr>
          <p:cNvPr id="1090" name="Google Shape;1090;g39a8b25a857_0_69"/>
          <p:cNvSpPr txBox="1"/>
          <p:nvPr/>
        </p:nvSpPr>
        <p:spPr>
          <a:xfrm>
            <a:off x="6169150" y="4414475"/>
            <a:ext cx="1336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Access &amp;</a:t>
            </a:r>
            <a:endParaRPr b="1" i="0" sz="1700" u="none" cap="none" strike="noStrike">
              <a:solidFill>
                <a:srgbClr val="A7C947"/>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A7C947"/>
                </a:solidFill>
                <a:latin typeface="Lato"/>
                <a:ea typeface="Lato"/>
                <a:cs typeface="Lato"/>
                <a:sym typeface="Lato"/>
              </a:rPr>
              <a:t>Reuse</a:t>
            </a:r>
            <a:endParaRPr b="1" i="0" sz="1700" u="none" cap="none" strike="noStrike">
              <a:solidFill>
                <a:srgbClr val="A7C947"/>
              </a:solidFill>
              <a:latin typeface="Lato"/>
              <a:ea typeface="Lato"/>
              <a:cs typeface="Lato"/>
              <a:sym typeface="Lato"/>
            </a:endParaRPr>
          </a:p>
        </p:txBody>
      </p:sp>
      <p:sp>
        <p:nvSpPr>
          <p:cNvPr id="1091" name="Google Shape;1091;g39a8b25a857_0_69"/>
          <p:cNvSpPr txBox="1"/>
          <p:nvPr/>
        </p:nvSpPr>
        <p:spPr>
          <a:xfrm>
            <a:off x="8036249" y="4414475"/>
            <a:ext cx="1369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Evaluate &amp;</a:t>
            </a:r>
            <a:endParaRPr b="1" i="0" sz="1700" u="none" cap="none" strike="noStrike">
              <a:solidFill>
                <a:srgbClr val="4C979F"/>
              </a:solidFill>
              <a:latin typeface="Lato"/>
              <a:ea typeface="Lato"/>
              <a:cs typeface="Lato"/>
              <a:sym typeface="Lato"/>
            </a:endParaRPr>
          </a:p>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4C979F"/>
                </a:solidFill>
                <a:latin typeface="Lato"/>
                <a:ea typeface="Lato"/>
                <a:cs typeface="Lato"/>
                <a:sym typeface="Lato"/>
              </a:rPr>
              <a:t>Build</a:t>
            </a:r>
            <a:endParaRPr b="1" i="0" sz="1700" u="none" cap="none" strike="noStrike">
              <a:solidFill>
                <a:srgbClr val="4C979F"/>
              </a:solidFill>
              <a:latin typeface="Lato"/>
              <a:ea typeface="Lato"/>
              <a:cs typeface="Lato"/>
              <a:sym typeface="Lato"/>
            </a:endParaRPr>
          </a:p>
        </p:txBody>
      </p:sp>
      <p:sp>
        <p:nvSpPr>
          <p:cNvPr id="1092" name="Google Shape;1092;g39a8b25a857_0_69"/>
          <p:cNvSpPr txBox="1"/>
          <p:nvPr/>
        </p:nvSpPr>
        <p:spPr>
          <a:xfrm>
            <a:off x="9879100" y="4411150"/>
            <a:ext cx="1573800" cy="615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3F3F3F"/>
                </a:solidFill>
                <a:latin typeface="Lato"/>
                <a:ea typeface="Lato"/>
                <a:cs typeface="Lato"/>
                <a:sym typeface="Lato"/>
              </a:rPr>
              <a:t>Communicate &amp; Involve</a:t>
            </a:r>
            <a:endParaRPr b="1" i="0" sz="1700" u="none" cap="none" strike="noStrike">
              <a:solidFill>
                <a:srgbClr val="3F3F3F"/>
              </a:solidFill>
              <a:latin typeface="Lato"/>
              <a:ea typeface="Lato"/>
              <a:cs typeface="Lato"/>
              <a:sym typeface="Lato"/>
            </a:endParaRPr>
          </a:p>
        </p:txBody>
      </p:sp>
      <p:sp>
        <p:nvSpPr>
          <p:cNvPr id="1093" name="Google Shape;1093;g39a8b25a857_0_69"/>
          <p:cNvSpPr txBox="1"/>
          <p:nvPr/>
        </p:nvSpPr>
        <p:spPr>
          <a:xfrm>
            <a:off x="-25" y="1736750"/>
            <a:ext cx="12192000" cy="661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100"/>
              <a:buFont typeface="Arial"/>
              <a:buNone/>
            </a:pPr>
            <a:r>
              <a:rPr lang="en-US" sz="3100">
                <a:solidFill>
                  <a:schemeClr val="dk1"/>
                </a:solidFill>
                <a:latin typeface="Lato Light"/>
                <a:ea typeface="Lato Light"/>
                <a:cs typeface="Lato Light"/>
                <a:sym typeface="Lato Light"/>
              </a:rPr>
              <a:t>Typical research project flow</a:t>
            </a:r>
            <a:endParaRPr b="0" i="0" sz="3100" u="none" cap="none" strike="noStrike">
              <a:solidFill>
                <a:schemeClr val="dk1"/>
              </a:solidFill>
              <a:latin typeface="Lato Light"/>
              <a:ea typeface="Lato Light"/>
              <a:cs typeface="Lato Light"/>
              <a:sym typeface="Lato Light"/>
            </a:endParaRPr>
          </a:p>
        </p:txBody>
      </p:sp>
      <p:sp>
        <p:nvSpPr>
          <p:cNvPr id="1094" name="Google Shape;1094;g39a8b25a857_0_69"/>
          <p:cNvSpPr txBox="1"/>
          <p:nvPr>
            <p:ph type="title"/>
          </p:nvPr>
        </p:nvSpPr>
        <p:spPr>
          <a:xfrm>
            <a:off x="838200" y="288926"/>
            <a:ext cx="9538200" cy="830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4600">
                <a:latin typeface="Lora"/>
                <a:ea typeface="Lora"/>
                <a:cs typeface="Lora"/>
                <a:sym typeface="Lora"/>
              </a:rPr>
              <a:t>Open Science, what’s in it for you? </a:t>
            </a:r>
            <a:endParaRPr sz="4600">
              <a:latin typeface="Lora"/>
              <a:ea typeface="Lora"/>
              <a:cs typeface="Lora"/>
              <a:sym typeface="Lora"/>
            </a:endParaRPr>
          </a:p>
        </p:txBody>
      </p:sp>
      <p:sp>
        <p:nvSpPr>
          <p:cNvPr id="1095" name="Google Shape;1095;g39a8b25a857_0_69"/>
          <p:cNvSpPr txBox="1"/>
          <p:nvPr/>
        </p:nvSpPr>
        <p:spPr>
          <a:xfrm>
            <a:off x="226775" y="5326518"/>
            <a:ext cx="117570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US" sz="2500">
                <a:solidFill>
                  <a:schemeClr val="dk1"/>
                </a:solidFill>
                <a:latin typeface="Lato Light"/>
                <a:ea typeface="Lato Light"/>
                <a:cs typeface="Lato Light"/>
                <a:sym typeface="Lato Light"/>
              </a:rPr>
              <a:t>Where do you  see the biggest barrier?</a:t>
            </a:r>
            <a:endParaRPr sz="2500">
              <a:solidFill>
                <a:schemeClr val="dk1"/>
              </a:solidFill>
              <a:latin typeface="Lato Light"/>
              <a:ea typeface="Lato Light"/>
              <a:cs typeface="Lato Light"/>
              <a:sym typeface="Lato Light"/>
            </a:endParaRPr>
          </a:p>
          <a:p>
            <a:pPr indent="0" lvl="0" marL="0" rtl="0" algn="l">
              <a:lnSpc>
                <a:spcPct val="115000"/>
              </a:lnSpc>
              <a:spcBef>
                <a:spcPts val="0"/>
              </a:spcBef>
              <a:spcAft>
                <a:spcPts val="0"/>
              </a:spcAft>
              <a:buNone/>
            </a:pPr>
            <a:r>
              <a:t/>
            </a:r>
            <a:endParaRPr sz="2500">
              <a:solidFill>
                <a:schemeClr val="dk1"/>
              </a:solidFill>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pic>
        <p:nvPicPr>
          <p:cNvPr id="1101" name="Google Shape;1101;g3dabb4e0c24_0_34"/>
          <p:cNvPicPr preferRelativeResize="0"/>
          <p:nvPr/>
        </p:nvPicPr>
        <p:blipFill>
          <a:blip r:embed="rId3">
            <a:alphaModFix/>
          </a:blip>
          <a:stretch>
            <a:fillRect/>
          </a:stretch>
        </p:blipFill>
        <p:spPr>
          <a:xfrm>
            <a:off x="2659481" y="66744"/>
            <a:ext cx="6724500" cy="6724524"/>
          </a:xfrm>
          <a:prstGeom prst="rect">
            <a:avLst/>
          </a:prstGeom>
          <a:noFill/>
          <a:ln>
            <a:noFill/>
          </a:ln>
        </p:spPr>
      </p:pic>
      <p:sp>
        <p:nvSpPr>
          <p:cNvPr id="1102" name="Google Shape;1102;g3dabb4e0c24_0_34"/>
          <p:cNvSpPr txBox="1"/>
          <p:nvPr>
            <p:ph type="title"/>
          </p:nvPr>
        </p:nvSpPr>
        <p:spPr>
          <a:xfrm>
            <a:off x="150" y="2492125"/>
            <a:ext cx="12192000" cy="2629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620"/>
              <a:buNone/>
            </a:pPr>
            <a:r>
              <a:rPr lang="en-US" sz="5760">
                <a:latin typeface="Lato Light"/>
                <a:ea typeface="Lato Light"/>
                <a:cs typeface="Lato Light"/>
                <a:sym typeface="Lato Light"/>
              </a:rPr>
              <a:t>Leg stretcher</a:t>
            </a:r>
            <a:endParaRPr sz="5760">
              <a:latin typeface="Lato Light"/>
              <a:ea typeface="Lato Light"/>
              <a:cs typeface="Lato Light"/>
              <a:sym typeface="Lato Light"/>
            </a:endParaRPr>
          </a:p>
          <a:p>
            <a:pPr indent="0" lvl="0" marL="0" rtl="0" algn="ctr">
              <a:lnSpc>
                <a:spcPct val="90000"/>
              </a:lnSpc>
              <a:spcBef>
                <a:spcPts val="0"/>
              </a:spcBef>
              <a:spcAft>
                <a:spcPts val="0"/>
              </a:spcAft>
              <a:buSzPts val="1620"/>
              <a:buNone/>
            </a:pPr>
            <a:r>
              <a:t/>
            </a:r>
            <a:endParaRPr sz="5760">
              <a:latin typeface="Lato Light"/>
              <a:ea typeface="Lato Light"/>
              <a:cs typeface="Lato Light"/>
              <a:sym typeface="Lato Light"/>
            </a:endParaRPr>
          </a:p>
          <a:p>
            <a:pPr indent="0" lvl="0" marL="0" rtl="0" algn="ctr">
              <a:lnSpc>
                <a:spcPct val="90000"/>
              </a:lnSpc>
              <a:spcBef>
                <a:spcPts val="0"/>
              </a:spcBef>
              <a:spcAft>
                <a:spcPts val="0"/>
              </a:spcAft>
              <a:buSzPts val="1620"/>
              <a:buNone/>
            </a:pPr>
            <a:r>
              <a:rPr lang="en-US" sz="5760">
                <a:latin typeface="Lato Light"/>
                <a:ea typeface="Lato Light"/>
                <a:cs typeface="Lato Light"/>
                <a:sym typeface="Lato Light"/>
              </a:rPr>
              <a:t>5 min</a:t>
            </a:r>
            <a:endParaRPr sz="5760">
              <a:latin typeface="Lato Light"/>
              <a:ea typeface="Lato Light"/>
              <a:cs typeface="Lato Light"/>
              <a:sym typeface="Lato Light"/>
            </a:endParaRPr>
          </a:p>
        </p:txBody>
      </p:sp>
      <p:sp>
        <p:nvSpPr>
          <p:cNvPr id="1103" name="Google Shape;1103;g3dabb4e0c24_0_34"/>
          <p:cNvSpPr/>
          <p:nvPr/>
        </p:nvSpPr>
        <p:spPr>
          <a:xfrm>
            <a:off x="785675" y="1183150"/>
            <a:ext cx="10639200" cy="83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1104" name="Google Shape;1104;g3dabb4e0c24_0_34"/>
          <p:cNvCxnSpPr/>
          <p:nvPr/>
        </p:nvCxnSpPr>
        <p:spPr>
          <a:xfrm flipH="1" rot="10800000">
            <a:off x="889350" y="1217638"/>
            <a:ext cx="9435900" cy="141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2025-02-06T10:40:11Z</dcterms:created>
  <dc:creator>Ineke Luijten</dc:creator>
</cp:coreProperties>
</file>